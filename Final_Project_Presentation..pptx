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drawings/drawing1.xml" ContentType="application/vnd.openxmlformats-officedocument.drawingml.chartshapes+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9.xml" ContentType="application/vnd.openxmlformats-officedocument.drawingml.chart+xml"/>
  <Override PartName="/ppt/notesSlides/notesSlide15.xml" ContentType="application/vnd.openxmlformats-officedocument.presentationml.notesSlide+xml"/>
  <Override PartName="/ppt/charts/chart10.xml" ContentType="application/vnd.openxmlformats-officedocument.drawingml.chart+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8"/>
  </p:notesMasterIdLst>
  <p:sldIdLst>
    <p:sldId id="256" r:id="rId2"/>
    <p:sldId id="257" r:id="rId3"/>
    <p:sldId id="275" r:id="rId4"/>
    <p:sldId id="258" r:id="rId5"/>
    <p:sldId id="259" r:id="rId6"/>
    <p:sldId id="260" r:id="rId7"/>
    <p:sldId id="261" r:id="rId8"/>
    <p:sldId id="273" r:id="rId9"/>
    <p:sldId id="262" r:id="rId10"/>
    <p:sldId id="264" r:id="rId11"/>
    <p:sldId id="265" r:id="rId12"/>
    <p:sldId id="266" r:id="rId13"/>
    <p:sldId id="274" r:id="rId14"/>
    <p:sldId id="267" r:id="rId15"/>
    <p:sldId id="268" r:id="rId16"/>
    <p:sldId id="270"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80" autoAdjust="0"/>
    <p:restoredTop sz="89063" autoAdjust="0"/>
  </p:normalViewPr>
  <p:slideViewPr>
    <p:cSldViewPr snapToGrid="0" snapToObjects="1">
      <p:cViewPr>
        <p:scale>
          <a:sx n="99" d="100"/>
          <a:sy n="99" d="100"/>
        </p:scale>
        <p:origin x="52" y="1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1.xml"/><Relationship Id="rId1" Type="http://schemas.microsoft.com/office/2011/relationships/chartStyle" Target="style1.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2019 Classification</c:v>
                </c:pt>
              </c:strCache>
            </c:strRef>
          </c:tx>
          <c:spPr>
            <a:solidFill>
              <a:srgbClr val="94A3B8"/>
            </a:solidFill>
            <a:effectLst/>
          </c:spPr>
          <c:invertIfNegative val="0"/>
          <c:dLbls>
            <c:numFmt formatCode="#,##0" sourceLinked="0"/>
            <c:spPr>
              <a:noFill/>
              <a:ln>
                <a:noFill/>
              </a:ln>
              <a:effectLst/>
            </c:spPr>
            <c:txPr>
              <a:bodyPr/>
              <a:lstStyle/>
              <a:p>
                <a:pPr>
                  <a:defRPr sz="9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Enterprise</c:v>
                </c:pt>
                <c:pt idx="1">
                  <c:v>Large</c:v>
                </c:pt>
                <c:pt idx="2">
                  <c:v>Medium</c:v>
                </c:pt>
                <c:pt idx="3">
                  <c:v>Small</c:v>
                </c:pt>
                <c:pt idx="4">
                  <c:v>Micro/Other</c:v>
                </c:pt>
              </c:strCache>
            </c:strRef>
          </c:cat>
          <c:val>
            <c:numRef>
              <c:f>Sheet1!$B$2:$B$6</c:f>
              <c:numCache>
                <c:formatCode>General</c:formatCode>
                <c:ptCount val="5"/>
                <c:pt idx="0">
                  <c:v>12</c:v>
                </c:pt>
                <c:pt idx="1">
                  <c:v>15</c:v>
                </c:pt>
                <c:pt idx="2">
                  <c:v>174</c:v>
                </c:pt>
                <c:pt idx="3">
                  <c:v>860</c:v>
                </c:pt>
                <c:pt idx="4">
                  <c:v>0</c:v>
                </c:pt>
              </c:numCache>
            </c:numRef>
          </c:val>
          <c:extLst>
            <c:ext xmlns:c16="http://schemas.microsoft.com/office/drawing/2014/chart" uri="{C3380CC4-5D6E-409C-BE32-E72D297353CC}">
              <c16:uniqueId val="{00000000-0F56-481C-A0D7-595E6765EAE7}"/>
            </c:ext>
          </c:extLst>
        </c:ser>
        <c:ser>
          <c:idx val="1"/>
          <c:order val="1"/>
          <c:tx>
            <c:strRef>
              <c:f>Sheet1!$C$1</c:f>
              <c:strCache>
                <c:ptCount val="1"/>
                <c:pt idx="0">
                  <c:v>2020 Classification</c:v>
                </c:pt>
              </c:strCache>
            </c:strRef>
          </c:tx>
          <c:spPr>
            <a:solidFill>
              <a:srgbClr val="0891B2"/>
            </a:solidFill>
            <a:effectLst/>
          </c:spPr>
          <c:invertIfNegative val="0"/>
          <c:dLbls>
            <c:numFmt formatCode="#,##0" sourceLinked="0"/>
            <c:spPr>
              <a:noFill/>
              <a:ln>
                <a:noFill/>
              </a:ln>
              <a:effectLst/>
            </c:spPr>
            <c:txPr>
              <a:bodyPr/>
              <a:lstStyle/>
              <a:p>
                <a:pPr>
                  <a:defRPr sz="9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Enterprise</c:v>
                </c:pt>
                <c:pt idx="1">
                  <c:v>Large</c:v>
                </c:pt>
                <c:pt idx="2">
                  <c:v>Medium</c:v>
                </c:pt>
                <c:pt idx="3">
                  <c:v>Small</c:v>
                </c:pt>
                <c:pt idx="4">
                  <c:v>Micro/Other</c:v>
                </c:pt>
              </c:strCache>
            </c:strRef>
          </c:cat>
          <c:val>
            <c:numRef>
              <c:f>Sheet1!$C$2:$C$6</c:f>
              <c:numCache>
                <c:formatCode>General</c:formatCode>
                <c:ptCount val="5"/>
                <c:pt idx="0">
                  <c:v>18</c:v>
                </c:pt>
                <c:pt idx="1">
                  <c:v>22</c:v>
                </c:pt>
                <c:pt idx="2">
                  <c:v>198</c:v>
                </c:pt>
                <c:pt idx="3">
                  <c:v>791</c:v>
                </c:pt>
                <c:pt idx="4">
                  <c:v>32</c:v>
                </c:pt>
              </c:numCache>
            </c:numRef>
          </c:val>
          <c:extLst>
            <c:ext xmlns:c16="http://schemas.microsoft.com/office/drawing/2014/chart" uri="{C3380CC4-5D6E-409C-BE32-E72D297353CC}">
              <c16:uniqueId val="{00000001-0F56-481C-A0D7-595E6765EAE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a:pPr>
                <a:r>
                  <a:rPr lang="en-CA" dirty="0"/>
                  <a:t>Number</a:t>
                </a:r>
                <a:r>
                  <a:rPr lang="en-CA" baseline="0" dirty="0"/>
                  <a:t> of Customers</a:t>
                </a:r>
                <a:endParaRPr lang="en-CA" dirty="0"/>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dTable>
        <c:showHorzBorder val="1"/>
        <c:showVertBorder val="1"/>
        <c:showOutline val="1"/>
        <c:showKeys val="1"/>
      </c:dTable>
      <c:spPr>
        <a:noFill/>
        <a:ln>
          <a:noFill/>
        </a:ln>
        <a:effectLst/>
      </c:spPr>
    </c:plotArea>
    <c:legend>
      <c:legendPos val="t"/>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Annual Volume</c:v>
                </c:pt>
              </c:strCache>
            </c:strRef>
          </c:tx>
          <c:spPr>
            <a:solidFill>
              <a:srgbClr val="64748B"/>
            </a:solidFill>
            <a:effectLst/>
          </c:spPr>
          <c:invertIfNegative val="0"/>
          <c:dPt>
            <c:idx val="0"/>
            <c:invertIfNegative val="0"/>
            <c:bubble3D val="0"/>
            <c:extLst>
              <c:ext xmlns:c16="http://schemas.microsoft.com/office/drawing/2014/chart" uri="{C3380CC4-5D6E-409C-BE32-E72D297353CC}">
                <c16:uniqueId val="{00000001-B1AE-4FE7-A870-0EAA8160774F}"/>
              </c:ext>
            </c:extLst>
          </c:dPt>
          <c:dPt>
            <c:idx val="1"/>
            <c:invertIfNegative val="0"/>
            <c:bubble3D val="0"/>
            <c:extLst>
              <c:ext xmlns:c16="http://schemas.microsoft.com/office/drawing/2014/chart" uri="{C3380CC4-5D6E-409C-BE32-E72D297353CC}">
                <c16:uniqueId val="{00000003-B1AE-4FE7-A870-0EAA8160774F}"/>
              </c:ext>
            </c:extLst>
          </c:dPt>
          <c:dPt>
            <c:idx val="2"/>
            <c:invertIfNegative val="0"/>
            <c:bubble3D val="0"/>
            <c:spPr>
              <a:solidFill>
                <a:srgbClr val="0891B2"/>
              </a:solidFill>
              <a:effectLst/>
            </c:spPr>
            <c:extLst>
              <c:ext xmlns:c16="http://schemas.microsoft.com/office/drawing/2014/chart" uri="{C3380CC4-5D6E-409C-BE32-E72D297353CC}">
                <c16:uniqueId val="{00000005-B1AE-4FE7-A870-0EAA8160774F}"/>
              </c:ext>
            </c:extLst>
          </c:dPt>
          <c:dPt>
            <c:idx val="3"/>
            <c:invertIfNegative val="0"/>
            <c:bubble3D val="0"/>
            <c:spPr>
              <a:solidFill>
                <a:srgbClr val="94A3B8"/>
              </a:solidFill>
              <a:effectLst/>
            </c:spPr>
            <c:extLst>
              <c:ext xmlns:c16="http://schemas.microsoft.com/office/drawing/2014/chart" uri="{C3380CC4-5D6E-409C-BE32-E72D297353CC}">
                <c16:uniqueId val="{00000007-B1AE-4FE7-A870-0EAA8160774F}"/>
              </c:ext>
            </c:extLst>
          </c:dPt>
          <c:dLbls>
            <c:numFmt formatCode="#,##0" sourceLinked="0"/>
            <c:spPr>
              <a:noFill/>
              <a:ln>
                <a:noFill/>
              </a:ln>
              <a:effectLst/>
            </c:spPr>
            <c:txPr>
              <a:bodyPr/>
              <a:lstStyle/>
              <a:p>
                <a:pPr>
                  <a:defRPr sz="9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2018</c:v>
                </c:pt>
                <c:pt idx="1">
                  <c:v>2019</c:v>
                </c:pt>
                <c:pt idx="2">
                  <c:v>2020</c:v>
                </c:pt>
              </c:strCache>
            </c:strRef>
          </c:cat>
          <c:val>
            <c:numRef>
              <c:f>Sheet1!$B$2:$B$4</c:f>
              <c:numCache>
                <c:formatCode>General</c:formatCode>
                <c:ptCount val="3"/>
                <c:pt idx="0">
                  <c:v>49099478</c:v>
                </c:pt>
                <c:pt idx="1">
                  <c:v>52823114</c:v>
                </c:pt>
                <c:pt idx="2">
                  <c:v>73475690</c:v>
                </c:pt>
              </c:numCache>
            </c:numRef>
          </c:val>
          <c:extLst>
            <c:ext xmlns:c16="http://schemas.microsoft.com/office/drawing/2014/chart" uri="{C3380CC4-5D6E-409C-BE32-E72D297353CC}">
              <c16:uniqueId val="{00000008-B1AE-4FE7-A870-0EAA8160774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a:pPr>
                <a:r>
                  <a:rPr lang="en-CA" dirty="0"/>
                  <a:t>Volumes (M)</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2019</c:v>
                </c:pt>
              </c:strCache>
            </c:strRef>
          </c:tx>
          <c:spPr>
            <a:ln w="25400" cap="flat">
              <a:solidFill>
                <a:srgbClr val="64748B"/>
              </a:solidFill>
              <a:prstDash val="solid"/>
              <a:round/>
            </a:ln>
            <a:effectLst/>
          </c:spPr>
          <c:marker>
            <c:symbol val="none"/>
          </c:marker>
          <c:cat>
            <c:strRef>
              <c:f>Sheet1!$A$2:$A$54</c:f>
              <c:strCache>
                <c:ptCount val="53"/>
                <c:pt idx="0">
                  <c:v>W1</c:v>
                </c:pt>
                <c:pt idx="1">
                  <c:v>W2</c:v>
                </c:pt>
                <c:pt idx="2">
                  <c:v>W3</c:v>
                </c:pt>
                <c:pt idx="3">
                  <c:v>W4</c:v>
                </c:pt>
                <c:pt idx="4">
                  <c:v>W5</c:v>
                </c:pt>
                <c:pt idx="5">
                  <c:v>W6</c:v>
                </c:pt>
                <c:pt idx="6">
                  <c:v>W7</c:v>
                </c:pt>
                <c:pt idx="7">
                  <c:v>W8</c:v>
                </c:pt>
                <c:pt idx="8">
                  <c:v>W9</c:v>
                </c:pt>
                <c:pt idx="9">
                  <c:v>W10</c:v>
                </c:pt>
                <c:pt idx="10">
                  <c:v>W11</c:v>
                </c:pt>
                <c:pt idx="11">
                  <c:v>W12</c:v>
                </c:pt>
                <c:pt idx="12">
                  <c:v>W13</c:v>
                </c:pt>
                <c:pt idx="13">
                  <c:v>W14</c:v>
                </c:pt>
                <c:pt idx="14">
                  <c:v>W15</c:v>
                </c:pt>
                <c:pt idx="15">
                  <c:v>W16</c:v>
                </c:pt>
                <c:pt idx="16">
                  <c:v>W17</c:v>
                </c:pt>
                <c:pt idx="17">
                  <c:v>W18</c:v>
                </c:pt>
                <c:pt idx="18">
                  <c:v>W19</c:v>
                </c:pt>
                <c:pt idx="19">
                  <c:v>W20</c:v>
                </c:pt>
                <c:pt idx="20">
                  <c:v>W21</c:v>
                </c:pt>
                <c:pt idx="21">
                  <c:v>W22</c:v>
                </c:pt>
                <c:pt idx="22">
                  <c:v>W23</c:v>
                </c:pt>
                <c:pt idx="23">
                  <c:v>W24</c:v>
                </c:pt>
                <c:pt idx="24">
                  <c:v>W25</c:v>
                </c:pt>
                <c:pt idx="25">
                  <c:v>W26</c:v>
                </c:pt>
                <c:pt idx="26">
                  <c:v>W27</c:v>
                </c:pt>
                <c:pt idx="27">
                  <c:v>W28</c:v>
                </c:pt>
                <c:pt idx="28">
                  <c:v>W29</c:v>
                </c:pt>
                <c:pt idx="29">
                  <c:v>W30</c:v>
                </c:pt>
                <c:pt idx="30">
                  <c:v>W31</c:v>
                </c:pt>
                <c:pt idx="31">
                  <c:v>W32</c:v>
                </c:pt>
                <c:pt idx="32">
                  <c:v>W33</c:v>
                </c:pt>
                <c:pt idx="33">
                  <c:v>W34</c:v>
                </c:pt>
                <c:pt idx="34">
                  <c:v>W35</c:v>
                </c:pt>
                <c:pt idx="35">
                  <c:v>W36</c:v>
                </c:pt>
                <c:pt idx="36">
                  <c:v>W37</c:v>
                </c:pt>
                <c:pt idx="37">
                  <c:v>W38</c:v>
                </c:pt>
                <c:pt idx="38">
                  <c:v>W39</c:v>
                </c:pt>
                <c:pt idx="39">
                  <c:v>W40</c:v>
                </c:pt>
                <c:pt idx="40">
                  <c:v>W41</c:v>
                </c:pt>
                <c:pt idx="41">
                  <c:v>W42</c:v>
                </c:pt>
                <c:pt idx="42">
                  <c:v>W43</c:v>
                </c:pt>
                <c:pt idx="43">
                  <c:v>W44</c:v>
                </c:pt>
                <c:pt idx="44">
                  <c:v>W45</c:v>
                </c:pt>
                <c:pt idx="45">
                  <c:v>W46</c:v>
                </c:pt>
                <c:pt idx="46">
                  <c:v>W47</c:v>
                </c:pt>
                <c:pt idx="47">
                  <c:v>W48</c:v>
                </c:pt>
                <c:pt idx="48">
                  <c:v>W49</c:v>
                </c:pt>
                <c:pt idx="49">
                  <c:v>W50</c:v>
                </c:pt>
                <c:pt idx="50">
                  <c:v>W51</c:v>
                </c:pt>
                <c:pt idx="51">
                  <c:v>W52</c:v>
                </c:pt>
                <c:pt idx="52">
                  <c:v>W53</c:v>
                </c:pt>
              </c:strCache>
            </c:strRef>
          </c:cat>
          <c:val>
            <c:numRef>
              <c:f>Sheet1!$B$2:$B$54</c:f>
              <c:numCache>
                <c:formatCode>General</c:formatCode>
                <c:ptCount val="53"/>
                <c:pt idx="0">
                  <c:v>814361</c:v>
                </c:pt>
                <c:pt idx="1">
                  <c:v>1048800</c:v>
                </c:pt>
                <c:pt idx="2">
                  <c:v>1073634</c:v>
                </c:pt>
                <c:pt idx="3">
                  <c:v>937502</c:v>
                </c:pt>
                <c:pt idx="4">
                  <c:v>870849</c:v>
                </c:pt>
                <c:pt idx="5">
                  <c:v>788670</c:v>
                </c:pt>
                <c:pt idx="6">
                  <c:v>938386</c:v>
                </c:pt>
                <c:pt idx="7">
                  <c:v>764078</c:v>
                </c:pt>
                <c:pt idx="8">
                  <c:v>803745</c:v>
                </c:pt>
                <c:pt idx="9">
                  <c:v>792805</c:v>
                </c:pt>
                <c:pt idx="10">
                  <c:v>879574</c:v>
                </c:pt>
                <c:pt idx="11">
                  <c:v>864583</c:v>
                </c:pt>
                <c:pt idx="12">
                  <c:v>853762</c:v>
                </c:pt>
                <c:pt idx="13">
                  <c:v>817979</c:v>
                </c:pt>
                <c:pt idx="14">
                  <c:v>874088</c:v>
                </c:pt>
                <c:pt idx="15">
                  <c:v>879169</c:v>
                </c:pt>
                <c:pt idx="16">
                  <c:v>912863</c:v>
                </c:pt>
                <c:pt idx="17">
                  <c:v>1059240</c:v>
                </c:pt>
                <c:pt idx="18">
                  <c:v>1102598</c:v>
                </c:pt>
                <c:pt idx="19">
                  <c:v>951212</c:v>
                </c:pt>
                <c:pt idx="20">
                  <c:v>874423</c:v>
                </c:pt>
                <c:pt idx="21">
                  <c:v>881149</c:v>
                </c:pt>
                <c:pt idx="22">
                  <c:v>883913</c:v>
                </c:pt>
                <c:pt idx="23">
                  <c:v>958393</c:v>
                </c:pt>
                <c:pt idx="24">
                  <c:v>913925</c:v>
                </c:pt>
                <c:pt idx="25">
                  <c:v>860909</c:v>
                </c:pt>
                <c:pt idx="26">
                  <c:v>813454</c:v>
                </c:pt>
                <c:pt idx="27">
                  <c:v>980602</c:v>
                </c:pt>
                <c:pt idx="28">
                  <c:v>935925</c:v>
                </c:pt>
                <c:pt idx="29">
                  <c:v>883204</c:v>
                </c:pt>
                <c:pt idx="30">
                  <c:v>886248</c:v>
                </c:pt>
                <c:pt idx="31">
                  <c:v>815116</c:v>
                </c:pt>
                <c:pt idx="32">
                  <c:v>847028</c:v>
                </c:pt>
                <c:pt idx="33">
                  <c:v>977478</c:v>
                </c:pt>
                <c:pt idx="34">
                  <c:v>965679</c:v>
                </c:pt>
                <c:pt idx="35">
                  <c:v>856524</c:v>
                </c:pt>
                <c:pt idx="36">
                  <c:v>917470</c:v>
                </c:pt>
                <c:pt idx="37">
                  <c:v>962901</c:v>
                </c:pt>
                <c:pt idx="38">
                  <c:v>957015</c:v>
                </c:pt>
                <c:pt idx="39">
                  <c:v>889764</c:v>
                </c:pt>
                <c:pt idx="40">
                  <c:v>926572</c:v>
                </c:pt>
                <c:pt idx="41">
                  <c:v>1012358</c:v>
                </c:pt>
                <c:pt idx="42">
                  <c:v>1026545</c:v>
                </c:pt>
                <c:pt idx="43">
                  <c:v>1037382</c:v>
                </c:pt>
                <c:pt idx="44">
                  <c:v>1238944</c:v>
                </c:pt>
                <c:pt idx="45">
                  <c:v>1296707</c:v>
                </c:pt>
                <c:pt idx="46">
                  <c:v>1331492</c:v>
                </c:pt>
                <c:pt idx="47">
                  <c:v>1790660</c:v>
                </c:pt>
                <c:pt idx="48">
                  <c:v>2506405</c:v>
                </c:pt>
                <c:pt idx="49">
                  <c:v>1736772</c:v>
                </c:pt>
                <c:pt idx="50">
                  <c:v>1321183</c:v>
                </c:pt>
                <c:pt idx="51">
                  <c:v>916585</c:v>
                </c:pt>
                <c:pt idx="52">
                  <c:v>592491</c:v>
                </c:pt>
              </c:numCache>
            </c:numRef>
          </c:val>
          <c:smooth val="0"/>
          <c:extLst>
            <c:ext xmlns:c16="http://schemas.microsoft.com/office/drawing/2014/chart" uri="{C3380CC4-5D6E-409C-BE32-E72D297353CC}">
              <c16:uniqueId val="{00000000-38A1-4BF2-9593-14515144A806}"/>
            </c:ext>
          </c:extLst>
        </c:ser>
        <c:ser>
          <c:idx val="1"/>
          <c:order val="1"/>
          <c:tx>
            <c:strRef>
              <c:f>Sheet1!$C$1</c:f>
              <c:strCache>
                <c:ptCount val="1"/>
                <c:pt idx="0">
                  <c:v>2020 (COVID)</c:v>
                </c:pt>
              </c:strCache>
            </c:strRef>
          </c:tx>
          <c:spPr>
            <a:ln w="25400" cap="flat">
              <a:solidFill>
                <a:srgbClr val="0891B2"/>
              </a:solidFill>
              <a:prstDash val="solid"/>
              <a:round/>
            </a:ln>
            <a:effectLst/>
          </c:spPr>
          <c:marker>
            <c:symbol val="none"/>
          </c:marker>
          <c:cat>
            <c:strRef>
              <c:f>Sheet1!$A$2:$A$54</c:f>
              <c:strCache>
                <c:ptCount val="53"/>
                <c:pt idx="0">
                  <c:v>W1</c:v>
                </c:pt>
                <c:pt idx="1">
                  <c:v>W2</c:v>
                </c:pt>
                <c:pt idx="2">
                  <c:v>W3</c:v>
                </c:pt>
                <c:pt idx="3">
                  <c:v>W4</c:v>
                </c:pt>
                <c:pt idx="4">
                  <c:v>W5</c:v>
                </c:pt>
                <c:pt idx="5">
                  <c:v>W6</c:v>
                </c:pt>
                <c:pt idx="6">
                  <c:v>W7</c:v>
                </c:pt>
                <c:pt idx="7">
                  <c:v>W8</c:v>
                </c:pt>
                <c:pt idx="8">
                  <c:v>W9</c:v>
                </c:pt>
                <c:pt idx="9">
                  <c:v>W10</c:v>
                </c:pt>
                <c:pt idx="10">
                  <c:v>W11</c:v>
                </c:pt>
                <c:pt idx="11">
                  <c:v>W12</c:v>
                </c:pt>
                <c:pt idx="12">
                  <c:v>W13</c:v>
                </c:pt>
                <c:pt idx="13">
                  <c:v>W14</c:v>
                </c:pt>
                <c:pt idx="14">
                  <c:v>W15</c:v>
                </c:pt>
                <c:pt idx="15">
                  <c:v>W16</c:v>
                </c:pt>
                <c:pt idx="16">
                  <c:v>W17</c:v>
                </c:pt>
                <c:pt idx="17">
                  <c:v>W18</c:v>
                </c:pt>
                <c:pt idx="18">
                  <c:v>W19</c:v>
                </c:pt>
                <c:pt idx="19">
                  <c:v>W20</c:v>
                </c:pt>
                <c:pt idx="20">
                  <c:v>W21</c:v>
                </c:pt>
                <c:pt idx="21">
                  <c:v>W22</c:v>
                </c:pt>
                <c:pt idx="22">
                  <c:v>W23</c:v>
                </c:pt>
                <c:pt idx="23">
                  <c:v>W24</c:v>
                </c:pt>
                <c:pt idx="24">
                  <c:v>W25</c:v>
                </c:pt>
                <c:pt idx="25">
                  <c:v>W26</c:v>
                </c:pt>
                <c:pt idx="26">
                  <c:v>W27</c:v>
                </c:pt>
                <c:pt idx="27">
                  <c:v>W28</c:v>
                </c:pt>
                <c:pt idx="28">
                  <c:v>W29</c:v>
                </c:pt>
                <c:pt idx="29">
                  <c:v>W30</c:v>
                </c:pt>
                <c:pt idx="30">
                  <c:v>W31</c:v>
                </c:pt>
                <c:pt idx="31">
                  <c:v>W32</c:v>
                </c:pt>
                <c:pt idx="32">
                  <c:v>W33</c:v>
                </c:pt>
                <c:pt idx="33">
                  <c:v>W34</c:v>
                </c:pt>
                <c:pt idx="34">
                  <c:v>W35</c:v>
                </c:pt>
                <c:pt idx="35">
                  <c:v>W36</c:v>
                </c:pt>
                <c:pt idx="36">
                  <c:v>W37</c:v>
                </c:pt>
                <c:pt idx="37">
                  <c:v>W38</c:v>
                </c:pt>
                <c:pt idx="38">
                  <c:v>W39</c:v>
                </c:pt>
                <c:pt idx="39">
                  <c:v>W40</c:v>
                </c:pt>
                <c:pt idx="40">
                  <c:v>W41</c:v>
                </c:pt>
                <c:pt idx="41">
                  <c:v>W42</c:v>
                </c:pt>
                <c:pt idx="42">
                  <c:v>W43</c:v>
                </c:pt>
                <c:pt idx="43">
                  <c:v>W44</c:v>
                </c:pt>
                <c:pt idx="44">
                  <c:v>W45</c:v>
                </c:pt>
                <c:pt idx="45">
                  <c:v>W46</c:v>
                </c:pt>
                <c:pt idx="46">
                  <c:v>W47</c:v>
                </c:pt>
                <c:pt idx="47">
                  <c:v>W48</c:v>
                </c:pt>
                <c:pt idx="48">
                  <c:v>W49</c:v>
                </c:pt>
                <c:pt idx="49">
                  <c:v>W50</c:v>
                </c:pt>
                <c:pt idx="50">
                  <c:v>W51</c:v>
                </c:pt>
                <c:pt idx="51">
                  <c:v>W52</c:v>
                </c:pt>
                <c:pt idx="52">
                  <c:v>W53</c:v>
                </c:pt>
              </c:strCache>
            </c:strRef>
          </c:cat>
          <c:val>
            <c:numRef>
              <c:f>Sheet1!$C$2:$C$54</c:f>
              <c:numCache>
                <c:formatCode>General</c:formatCode>
                <c:ptCount val="53"/>
                <c:pt idx="0">
                  <c:v>554951</c:v>
                </c:pt>
                <c:pt idx="1">
                  <c:v>1078417</c:v>
                </c:pt>
                <c:pt idx="2">
                  <c:v>1008084</c:v>
                </c:pt>
                <c:pt idx="3">
                  <c:v>934713</c:v>
                </c:pt>
                <c:pt idx="4">
                  <c:v>938521</c:v>
                </c:pt>
                <c:pt idx="5">
                  <c:v>873763</c:v>
                </c:pt>
                <c:pt idx="6">
                  <c:v>786626</c:v>
                </c:pt>
                <c:pt idx="7">
                  <c:v>882633</c:v>
                </c:pt>
                <c:pt idx="8">
                  <c:v>903362</c:v>
                </c:pt>
                <c:pt idx="9">
                  <c:v>891398</c:v>
                </c:pt>
                <c:pt idx="10">
                  <c:v>887335</c:v>
                </c:pt>
                <c:pt idx="11">
                  <c:v>967436</c:v>
                </c:pt>
                <c:pt idx="12">
                  <c:v>1084829</c:v>
                </c:pt>
                <c:pt idx="13">
                  <c:v>1346802</c:v>
                </c:pt>
                <c:pt idx="14">
                  <c:v>1480147</c:v>
                </c:pt>
                <c:pt idx="15">
                  <c:v>2003866</c:v>
                </c:pt>
                <c:pt idx="16">
                  <c:v>1914740</c:v>
                </c:pt>
                <c:pt idx="17">
                  <c:v>1964582</c:v>
                </c:pt>
                <c:pt idx="18">
                  <c:v>2016316</c:v>
                </c:pt>
                <c:pt idx="19">
                  <c:v>2048931</c:v>
                </c:pt>
                <c:pt idx="20">
                  <c:v>1842820</c:v>
                </c:pt>
                <c:pt idx="21">
                  <c:v>1749399</c:v>
                </c:pt>
                <c:pt idx="22">
                  <c:v>1672111</c:v>
                </c:pt>
                <c:pt idx="23">
                  <c:v>1598331</c:v>
                </c:pt>
                <c:pt idx="24">
                  <c:v>1454647</c:v>
                </c:pt>
                <c:pt idx="25">
                  <c:v>1426303</c:v>
                </c:pt>
                <c:pt idx="26">
                  <c:v>1306604</c:v>
                </c:pt>
                <c:pt idx="27">
                  <c:v>1371776</c:v>
                </c:pt>
                <c:pt idx="28">
                  <c:v>1269835</c:v>
                </c:pt>
                <c:pt idx="29">
                  <c:v>1319267</c:v>
                </c:pt>
                <c:pt idx="30">
                  <c:v>1205036</c:v>
                </c:pt>
                <c:pt idx="31">
                  <c:v>1250590</c:v>
                </c:pt>
                <c:pt idx="32">
                  <c:v>1228359</c:v>
                </c:pt>
                <c:pt idx="33">
                  <c:v>1286856</c:v>
                </c:pt>
                <c:pt idx="34">
                  <c:v>1240796</c:v>
                </c:pt>
                <c:pt idx="35">
                  <c:v>1273737</c:v>
                </c:pt>
                <c:pt idx="36">
                  <c:v>1135972</c:v>
                </c:pt>
                <c:pt idx="37">
                  <c:v>1285061</c:v>
                </c:pt>
                <c:pt idx="38">
                  <c:v>1214387</c:v>
                </c:pt>
                <c:pt idx="39">
                  <c:v>1108258</c:v>
                </c:pt>
                <c:pt idx="40">
                  <c:v>1275676</c:v>
                </c:pt>
                <c:pt idx="41">
                  <c:v>1240437</c:v>
                </c:pt>
                <c:pt idx="42">
                  <c:v>1379348</c:v>
                </c:pt>
                <c:pt idx="43">
                  <c:v>1370162</c:v>
                </c:pt>
                <c:pt idx="44">
                  <c:v>1451789</c:v>
                </c:pt>
                <c:pt idx="45">
                  <c:v>1600614</c:v>
                </c:pt>
                <c:pt idx="46">
                  <c:v>1792533</c:v>
                </c:pt>
                <c:pt idx="47">
                  <c:v>2302321</c:v>
                </c:pt>
                <c:pt idx="48">
                  <c:v>2952342</c:v>
                </c:pt>
                <c:pt idx="49">
                  <c:v>2104379</c:v>
                </c:pt>
                <c:pt idx="50">
                  <c:v>1714827</c:v>
                </c:pt>
                <c:pt idx="51">
                  <c:v>1063727</c:v>
                </c:pt>
                <c:pt idx="52">
                  <c:v>1419938</c:v>
                </c:pt>
              </c:numCache>
            </c:numRef>
          </c:val>
          <c:smooth val="0"/>
          <c:extLst>
            <c:ext xmlns:c16="http://schemas.microsoft.com/office/drawing/2014/chart" uri="{C3380CC4-5D6E-409C-BE32-E72D297353CC}">
              <c16:uniqueId val="{00000001-38A1-4BF2-9593-14515144A806}"/>
            </c:ext>
          </c:extLst>
        </c:ser>
        <c:dLbls>
          <c:dLblPos val="t"/>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a:pPr>
                <a:r>
                  <a:rPr lang="en-CA" dirty="0"/>
                  <a:t>Volumes (M)</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2019 Peak</c:v>
                </c:pt>
              </c:strCache>
            </c:strRef>
          </c:tx>
          <c:spPr>
            <a:solidFill>
              <a:srgbClr val="64748B"/>
            </a:solidFill>
            <a:effectLst/>
          </c:spPr>
          <c:invertIfNegative val="0"/>
          <c:cat>
            <c:strRef>
              <c:f>Sheet1!$A$2:$A$10</c:f>
              <c:strCache>
                <c:ptCount val="9"/>
                <c:pt idx="0">
                  <c:v>W45</c:v>
                </c:pt>
                <c:pt idx="1">
                  <c:v>W46</c:v>
                </c:pt>
                <c:pt idx="2">
                  <c:v>W47</c:v>
                </c:pt>
                <c:pt idx="3">
                  <c:v>W48</c:v>
                </c:pt>
                <c:pt idx="4">
                  <c:v>W49</c:v>
                </c:pt>
                <c:pt idx="5">
                  <c:v>W50</c:v>
                </c:pt>
                <c:pt idx="6">
                  <c:v>W51</c:v>
                </c:pt>
                <c:pt idx="7">
                  <c:v>W52</c:v>
                </c:pt>
                <c:pt idx="8">
                  <c:v>W53</c:v>
                </c:pt>
              </c:strCache>
            </c:strRef>
          </c:cat>
          <c:val>
            <c:numRef>
              <c:f>Sheet1!$B$2:$B$10</c:f>
              <c:numCache>
                <c:formatCode>General</c:formatCode>
                <c:ptCount val="9"/>
                <c:pt idx="0">
                  <c:v>1238944</c:v>
                </c:pt>
                <c:pt idx="1">
                  <c:v>1296707</c:v>
                </c:pt>
                <c:pt idx="2">
                  <c:v>1331492</c:v>
                </c:pt>
                <c:pt idx="3">
                  <c:v>1790660</c:v>
                </c:pt>
                <c:pt idx="4">
                  <c:v>2506405</c:v>
                </c:pt>
                <c:pt idx="5">
                  <c:v>1736772</c:v>
                </c:pt>
                <c:pt idx="6">
                  <c:v>1321183</c:v>
                </c:pt>
                <c:pt idx="7">
                  <c:v>916585</c:v>
                </c:pt>
                <c:pt idx="8">
                  <c:v>592491</c:v>
                </c:pt>
              </c:numCache>
            </c:numRef>
          </c:val>
          <c:extLst>
            <c:ext xmlns:c16="http://schemas.microsoft.com/office/drawing/2014/chart" uri="{C3380CC4-5D6E-409C-BE32-E72D297353CC}">
              <c16:uniqueId val="{00000000-28B1-4D5F-B052-543A454CA0C0}"/>
            </c:ext>
          </c:extLst>
        </c:ser>
        <c:ser>
          <c:idx val="1"/>
          <c:order val="1"/>
          <c:tx>
            <c:strRef>
              <c:f>Sheet1!$C$1</c:f>
              <c:strCache>
                <c:ptCount val="1"/>
                <c:pt idx="0">
                  <c:v>2020 Peak</c:v>
                </c:pt>
              </c:strCache>
            </c:strRef>
          </c:tx>
          <c:spPr>
            <a:solidFill>
              <a:srgbClr val="0891B2"/>
            </a:solidFill>
            <a:effectLst/>
          </c:spPr>
          <c:invertIfNegative val="0"/>
          <c:cat>
            <c:strRef>
              <c:f>Sheet1!$A$2:$A$10</c:f>
              <c:strCache>
                <c:ptCount val="9"/>
                <c:pt idx="0">
                  <c:v>W45</c:v>
                </c:pt>
                <c:pt idx="1">
                  <c:v>W46</c:v>
                </c:pt>
                <c:pt idx="2">
                  <c:v>W47</c:v>
                </c:pt>
                <c:pt idx="3">
                  <c:v>W48</c:v>
                </c:pt>
                <c:pt idx="4">
                  <c:v>W49</c:v>
                </c:pt>
                <c:pt idx="5">
                  <c:v>W50</c:v>
                </c:pt>
                <c:pt idx="6">
                  <c:v>W51</c:v>
                </c:pt>
                <c:pt idx="7">
                  <c:v>W52</c:v>
                </c:pt>
                <c:pt idx="8">
                  <c:v>W53</c:v>
                </c:pt>
              </c:strCache>
            </c:strRef>
          </c:cat>
          <c:val>
            <c:numRef>
              <c:f>Sheet1!$C$2:$C$10</c:f>
              <c:numCache>
                <c:formatCode>General</c:formatCode>
                <c:ptCount val="9"/>
                <c:pt idx="0">
                  <c:v>1451789</c:v>
                </c:pt>
                <c:pt idx="1">
                  <c:v>1600614</c:v>
                </c:pt>
                <c:pt idx="2">
                  <c:v>1792533</c:v>
                </c:pt>
                <c:pt idx="3">
                  <c:v>2302321</c:v>
                </c:pt>
                <c:pt idx="4">
                  <c:v>2952342</c:v>
                </c:pt>
                <c:pt idx="5">
                  <c:v>2104379</c:v>
                </c:pt>
                <c:pt idx="6">
                  <c:v>1714827</c:v>
                </c:pt>
                <c:pt idx="7">
                  <c:v>1063727</c:v>
                </c:pt>
                <c:pt idx="8">
                  <c:v>1419938</c:v>
                </c:pt>
              </c:numCache>
            </c:numRef>
          </c:val>
          <c:extLst>
            <c:ext xmlns:c16="http://schemas.microsoft.com/office/drawing/2014/chart" uri="{C3380CC4-5D6E-409C-BE32-E72D297353CC}">
              <c16:uniqueId val="{00000001-28B1-4D5F-B052-543A454CA0C0}"/>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2019</c:v>
                </c:pt>
              </c:strCache>
            </c:strRef>
          </c:tx>
          <c:spPr>
            <a:solidFill>
              <a:srgbClr val="94A3B8"/>
            </a:solidFill>
            <a:effectLst/>
          </c:spPr>
          <c:invertIfNegative val="0"/>
          <c:dLbls>
            <c:dLbl>
              <c:idx val="0"/>
              <c:layout>
                <c:manualLayout>
                  <c:x val="-1.1973180076628353E-2"/>
                  <c:y val="3.968253968253968E-3"/>
                </c:manualLayout>
              </c:layout>
              <c:tx>
                <c:rich>
                  <a:bodyPr/>
                  <a:lstStyle/>
                  <a:p>
                    <a:r>
                      <a:rPr lang="en-US"/>
                      <a:t>38.9M</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4C9B-4117-98B4-0BD568E2B936}"/>
                </c:ext>
              </c:extLst>
            </c:dLbl>
            <c:dLbl>
              <c:idx val="1"/>
              <c:tx>
                <c:rich>
                  <a:bodyPr/>
                  <a:lstStyle/>
                  <a:p>
                    <a:r>
                      <a:rPr lang="en-US"/>
                      <a:t>4.1M</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4C9B-4117-98B4-0BD568E2B936}"/>
                </c:ext>
              </c:extLst>
            </c:dLbl>
            <c:dLbl>
              <c:idx val="2"/>
              <c:tx>
                <c:rich>
                  <a:bodyPr/>
                  <a:lstStyle/>
                  <a:p>
                    <a:r>
                      <a:rPr lang="en-US"/>
                      <a:t>7.0M</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4C9B-4117-98B4-0BD568E2B936}"/>
                </c:ext>
              </c:extLst>
            </c:dLbl>
            <c:dLbl>
              <c:idx val="3"/>
              <c:tx>
                <c:rich>
                  <a:bodyPr/>
                  <a:lstStyle/>
                  <a:p>
                    <a:r>
                      <a:rPr lang="en-US"/>
                      <a:t>2.6M</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4C9B-4117-98B4-0BD568E2B936}"/>
                </c:ext>
              </c:extLst>
            </c:dLbl>
            <c:numFmt formatCode="#,##0_);\(#,##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Enterprise</c:v>
                </c:pt>
                <c:pt idx="1">
                  <c:v>Large</c:v>
                </c:pt>
                <c:pt idx="2">
                  <c:v>Medium</c:v>
                </c:pt>
                <c:pt idx="3">
                  <c:v>Small</c:v>
                </c:pt>
              </c:strCache>
            </c:strRef>
          </c:cat>
          <c:val>
            <c:numRef>
              <c:f>Sheet1!$B$2:$B$5</c:f>
              <c:numCache>
                <c:formatCode>General</c:formatCode>
                <c:ptCount val="4"/>
                <c:pt idx="0">
                  <c:v>38910324</c:v>
                </c:pt>
                <c:pt idx="1">
                  <c:v>4191621</c:v>
                </c:pt>
                <c:pt idx="2">
                  <c:v>7027575</c:v>
                </c:pt>
                <c:pt idx="3">
                  <c:v>2693594</c:v>
                </c:pt>
              </c:numCache>
            </c:numRef>
          </c:val>
          <c:extLst>
            <c:ext xmlns:c16="http://schemas.microsoft.com/office/drawing/2014/chart" uri="{C3380CC4-5D6E-409C-BE32-E72D297353CC}">
              <c16:uniqueId val="{00000000-1C13-4315-8905-5C21C5F6FF78}"/>
            </c:ext>
          </c:extLst>
        </c:ser>
        <c:ser>
          <c:idx val="1"/>
          <c:order val="1"/>
          <c:tx>
            <c:strRef>
              <c:f>Sheet1!$C$1</c:f>
              <c:strCache>
                <c:ptCount val="1"/>
                <c:pt idx="0">
                  <c:v>2020</c:v>
                </c:pt>
              </c:strCache>
            </c:strRef>
          </c:tx>
          <c:spPr>
            <a:solidFill>
              <a:srgbClr val="0891B2"/>
            </a:solidFill>
            <a:effectLst/>
          </c:spPr>
          <c:invertIfNegative val="0"/>
          <c:dLbls>
            <c:dLbl>
              <c:idx val="0"/>
              <c:tx>
                <c:rich>
                  <a:bodyPr wrap="square" lIns="38100" tIns="19050" rIns="38100" bIns="19050" anchor="ctr">
                    <a:spAutoFit/>
                  </a:bodyPr>
                  <a:lstStyle/>
                  <a:p>
                    <a:pPr>
                      <a:defRPr/>
                    </a:pPr>
                    <a:r>
                      <a:rPr lang="en-US"/>
                      <a:t>53.7M</a:t>
                    </a:r>
                    <a:endParaRPr lang="en-US" dirty="0"/>
                  </a:p>
                </c:rich>
              </c:tx>
              <c:numFmt formatCode="#,##0_);\(#,##0\)" sourceLinked="0"/>
              <c:spPr>
                <a:noFill/>
                <a:ln>
                  <a:noFill/>
                </a:ln>
                <a:effectLst/>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4C9B-4117-98B4-0BD568E2B936}"/>
                </c:ext>
              </c:extLst>
            </c:dLbl>
            <c:dLbl>
              <c:idx val="1"/>
              <c:tx>
                <c:rich>
                  <a:bodyPr/>
                  <a:lstStyle/>
                  <a:p>
                    <a:r>
                      <a:rPr lang="en-US"/>
                      <a:t>5.6M</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4C9B-4117-98B4-0BD568E2B936}"/>
                </c:ext>
              </c:extLst>
            </c:dLbl>
            <c:dLbl>
              <c:idx val="2"/>
              <c:tx>
                <c:rich>
                  <a:bodyPr/>
                  <a:lstStyle/>
                  <a:p>
                    <a:r>
                      <a:rPr lang="en-US"/>
                      <a:t>9.9M</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4C9B-4117-98B4-0BD568E2B936}"/>
                </c:ext>
              </c:extLst>
            </c:dLbl>
            <c:dLbl>
              <c:idx val="3"/>
              <c:tx>
                <c:rich>
                  <a:bodyPr/>
                  <a:lstStyle/>
                  <a:p>
                    <a:r>
                      <a:rPr lang="en-US"/>
                      <a:t>4.0M</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4C9B-4117-98B4-0BD568E2B936}"/>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Enterprise</c:v>
                </c:pt>
                <c:pt idx="1">
                  <c:v>Large</c:v>
                </c:pt>
                <c:pt idx="2">
                  <c:v>Medium</c:v>
                </c:pt>
                <c:pt idx="3">
                  <c:v>Small</c:v>
                </c:pt>
              </c:strCache>
            </c:strRef>
          </c:cat>
          <c:val>
            <c:numRef>
              <c:f>Sheet1!$C$2:$C$5</c:f>
              <c:numCache>
                <c:formatCode>General</c:formatCode>
                <c:ptCount val="4"/>
                <c:pt idx="0">
                  <c:v>53794064</c:v>
                </c:pt>
                <c:pt idx="1">
                  <c:v>5625310</c:v>
                </c:pt>
                <c:pt idx="2">
                  <c:v>9965816</c:v>
                </c:pt>
                <c:pt idx="3">
                  <c:v>4090500</c:v>
                </c:pt>
              </c:numCache>
            </c:numRef>
          </c:val>
          <c:extLst>
            <c:ext xmlns:c16="http://schemas.microsoft.com/office/drawing/2014/chart" uri="{C3380CC4-5D6E-409C-BE32-E72D297353CC}">
              <c16:uniqueId val="{00000001-1C13-4315-8905-5C21C5F6FF7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a:pPr>
                <a:r>
                  <a:rPr lang="en-CA" dirty="0"/>
                  <a:t>Volumes (M)</a:t>
                </a:r>
                <a:r>
                  <a:rPr lang="en-CA" baseline="0" dirty="0"/>
                  <a:t> </a:t>
                </a:r>
                <a:endParaRPr lang="en-CA" dirty="0"/>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0" i="0" u="none" strike="noStrike" kern="1200" baseline="0">
                <a:solidFill>
                  <a:srgbClr val="000000"/>
                </a:solidFill>
                <a:latin typeface="Arial"/>
                <a:ea typeface="+mn-ea"/>
                <a:cs typeface="+mn-cs"/>
              </a:defRPr>
            </a:pPr>
            <a:r>
              <a:rPr lang="en-CA" sz="1100" b="0" i="0" u="none" strike="noStrike">
                <a:solidFill>
                  <a:srgbClr val="000000"/>
                </a:solidFill>
                <a:latin typeface="Arial"/>
              </a:rPr>
              <a:t>2020 Volume Share</a:t>
            </a:r>
          </a:p>
        </c:rich>
      </c:tx>
      <c:overlay val="0"/>
      <c:spPr>
        <a:noFill/>
        <a:ln>
          <a:noFill/>
        </a:ln>
        <a:effectLst/>
      </c:spPr>
      <c:txPr>
        <a:bodyPr rot="0" spcFirstLastPara="1" vertOverflow="ellipsis" vert="horz" wrap="square" anchor="ctr" anchorCtr="1"/>
        <a:lstStyle/>
        <a:p>
          <a:pPr>
            <a:defRPr sz="1100" b="0" i="0" u="none" strike="noStrike" kern="1200" baseline="0">
              <a:solidFill>
                <a:srgbClr val="000000"/>
              </a:solidFill>
              <a:latin typeface="Arial"/>
              <a:ea typeface="+mn-ea"/>
              <a:cs typeface="+mn-cs"/>
            </a:defRPr>
          </a:pPr>
          <a:endParaRPr lang="en-US"/>
        </a:p>
      </c:txPr>
    </c:title>
    <c:autoTitleDeleted val="0"/>
    <c:plotArea>
      <c:layout/>
      <c:pieChart>
        <c:varyColors val="1"/>
        <c:ser>
          <c:idx val="0"/>
          <c:order val="0"/>
          <c:tx>
            <c:strRef>
              <c:f>Sheet1!$B$1</c:f>
              <c:strCache>
                <c:ptCount val="1"/>
                <c:pt idx="0">
                  <c:v>2020 Volume Share</c:v>
                </c:pt>
              </c:strCache>
            </c:strRef>
          </c:tx>
          <c:spPr>
            <a:effectLst/>
          </c:spPr>
          <c:dPt>
            <c:idx val="0"/>
            <c:bubble3D val="0"/>
            <c:spPr>
              <a:solidFill>
                <a:schemeClr val="accent1"/>
              </a:solidFill>
              <a:ln>
                <a:noFill/>
              </a:ln>
              <a:effectLst/>
            </c:spPr>
            <c:extLst>
              <c:ext xmlns:c16="http://schemas.microsoft.com/office/drawing/2014/chart" uri="{C3380CC4-5D6E-409C-BE32-E72D297353CC}">
                <c16:uniqueId val="{00000001-70D9-4E3D-A661-F31ED98F52A0}"/>
              </c:ext>
            </c:extLst>
          </c:dPt>
          <c:dPt>
            <c:idx val="1"/>
            <c:bubble3D val="0"/>
            <c:spPr>
              <a:solidFill>
                <a:schemeClr val="accent2"/>
              </a:solidFill>
              <a:ln>
                <a:noFill/>
              </a:ln>
              <a:effectLst/>
            </c:spPr>
            <c:extLst>
              <c:ext xmlns:c16="http://schemas.microsoft.com/office/drawing/2014/chart" uri="{C3380CC4-5D6E-409C-BE32-E72D297353CC}">
                <c16:uniqueId val="{00000003-70D9-4E3D-A661-F31ED98F52A0}"/>
              </c:ext>
            </c:extLst>
          </c:dPt>
          <c:dPt>
            <c:idx val="2"/>
            <c:bubble3D val="0"/>
            <c:spPr>
              <a:solidFill>
                <a:schemeClr val="accent3"/>
              </a:solidFill>
              <a:ln>
                <a:noFill/>
              </a:ln>
              <a:effectLst/>
            </c:spPr>
            <c:extLst>
              <c:ext xmlns:c16="http://schemas.microsoft.com/office/drawing/2014/chart" uri="{C3380CC4-5D6E-409C-BE32-E72D297353CC}">
                <c16:uniqueId val="{00000005-70D9-4E3D-A661-F31ED98F52A0}"/>
              </c:ext>
            </c:extLst>
          </c:dPt>
          <c:dPt>
            <c:idx val="3"/>
            <c:bubble3D val="0"/>
            <c:spPr>
              <a:solidFill>
                <a:schemeClr val="accent4"/>
              </a:solidFill>
              <a:ln>
                <a:noFill/>
              </a:ln>
              <a:effectLst/>
            </c:spPr>
            <c:extLst>
              <c:ext xmlns:c16="http://schemas.microsoft.com/office/drawing/2014/chart" uri="{C3380CC4-5D6E-409C-BE32-E72D297353CC}">
                <c16:uniqueId val="{00000007-70D9-4E3D-A661-F31ED98F52A0}"/>
              </c:ext>
            </c:extLst>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bestFit"/>
            <c:showLegendKey val="0"/>
            <c:showVal val="0"/>
            <c:showCatName val="0"/>
            <c:showSerName val="0"/>
            <c:showPercent val="1"/>
            <c:showBubbleSize val="0"/>
            <c:showLeaderLines val="0"/>
            <c:extLst>
              <c:ext xmlns:c15="http://schemas.microsoft.com/office/drawing/2012/chart" uri="{CE6537A1-D6FC-4f65-9D91-7224C49458BB}"/>
            </c:extLst>
          </c:dLbls>
          <c:cat>
            <c:strRef>
              <c:f>Sheet1!$A$2:$A$5</c:f>
              <c:strCache>
                <c:ptCount val="4"/>
                <c:pt idx="0">
                  <c:v>Enterprise (73.2%)</c:v>
                </c:pt>
                <c:pt idx="1">
                  <c:v>Medium (13.6%)</c:v>
                </c:pt>
                <c:pt idx="2">
                  <c:v>Large (7.7%)</c:v>
                </c:pt>
                <c:pt idx="3">
                  <c:v>Small (5.6%)</c:v>
                </c:pt>
              </c:strCache>
            </c:strRef>
          </c:cat>
          <c:val>
            <c:numRef>
              <c:f>Sheet1!$B$2:$B$5</c:f>
              <c:numCache>
                <c:formatCode>General</c:formatCode>
                <c:ptCount val="4"/>
                <c:pt idx="0">
                  <c:v>53794064</c:v>
                </c:pt>
                <c:pt idx="1">
                  <c:v>9965816</c:v>
                </c:pt>
                <c:pt idx="2">
                  <c:v>5625310</c:v>
                </c:pt>
                <c:pt idx="3">
                  <c:v>4090500</c:v>
                </c:pt>
              </c:numCache>
            </c:numRef>
          </c:val>
          <c:extLst>
            <c:ext xmlns:c16="http://schemas.microsoft.com/office/drawing/2014/chart" uri="{C3380CC4-5D6E-409C-BE32-E72D297353CC}">
              <c16:uniqueId val="{00000008-70D9-4E3D-A661-F31ED98F52A0}"/>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span"/>
    <c:showDLblsOverMax val="1"/>
  </c:chart>
  <c:spPr>
    <a:solidFill>
      <a:srgbClr val="FFFFFF"/>
    </a:solidFill>
    <a:ln w="6350" cap="flat" cmpd="sng" algn="ctr">
      <a:noFill/>
      <a:prstDash val="solid"/>
      <a:miter lim="800000"/>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High Growth</c:v>
                </c:pt>
              </c:strCache>
            </c:strRef>
          </c:tx>
          <c:spPr>
            <a:solidFill>
              <a:srgbClr val="10B981"/>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Sheet1!$B$2:$B$5</c:f>
              <c:numCache>
                <c:formatCode>General</c:formatCode>
                <c:ptCount val="4"/>
                <c:pt idx="0">
                  <c:v>66.7</c:v>
                </c:pt>
                <c:pt idx="1">
                  <c:v>66.7</c:v>
                </c:pt>
                <c:pt idx="2">
                  <c:v>50.6</c:v>
                </c:pt>
                <c:pt idx="3">
                  <c:v>56</c:v>
                </c:pt>
              </c:numCache>
            </c:numRef>
          </c:val>
          <c:extLst>
            <c:ext xmlns:c16="http://schemas.microsoft.com/office/drawing/2014/chart" uri="{C3380CC4-5D6E-409C-BE32-E72D297353CC}">
              <c16:uniqueId val="{00000000-DE01-461C-BF5E-44C944B18AC0}"/>
            </c:ext>
          </c:extLst>
        </c:ser>
        <c:ser>
          <c:idx val="1"/>
          <c:order val="1"/>
          <c:tx>
            <c:strRef>
              <c:f>Sheet1!$C$1</c:f>
              <c:strCache>
                <c:ptCount val="1"/>
                <c:pt idx="0">
                  <c:v>Stable</c:v>
                </c:pt>
              </c:strCache>
            </c:strRef>
          </c:tx>
          <c:spPr>
            <a:solidFill>
              <a:srgbClr val="0891B2"/>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Sheet1!$C$2:$C$5</c:f>
              <c:numCache>
                <c:formatCode>General</c:formatCode>
                <c:ptCount val="4"/>
                <c:pt idx="0">
                  <c:v>8.3000000000000007</c:v>
                </c:pt>
                <c:pt idx="1">
                  <c:v>20</c:v>
                </c:pt>
                <c:pt idx="2">
                  <c:v>10.9</c:v>
                </c:pt>
                <c:pt idx="3">
                  <c:v>6.3</c:v>
                </c:pt>
              </c:numCache>
            </c:numRef>
          </c:val>
          <c:extLst>
            <c:ext xmlns:c16="http://schemas.microsoft.com/office/drawing/2014/chart" uri="{C3380CC4-5D6E-409C-BE32-E72D297353CC}">
              <c16:uniqueId val="{00000001-DE01-461C-BF5E-44C944B18AC0}"/>
            </c:ext>
          </c:extLst>
        </c:ser>
        <c:ser>
          <c:idx val="2"/>
          <c:order val="2"/>
          <c:tx>
            <c:strRef>
              <c:f>Sheet1!$D$1</c:f>
              <c:strCache>
                <c:ptCount val="1"/>
                <c:pt idx="0">
                  <c:v>Declining</c:v>
                </c:pt>
              </c:strCache>
            </c:strRef>
          </c:tx>
          <c:spPr>
            <a:solidFill>
              <a:srgbClr val="EF4444"/>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Sheet1!$D$2:$D$5</c:f>
              <c:numCache>
                <c:formatCode>General</c:formatCode>
                <c:ptCount val="4"/>
                <c:pt idx="0">
                  <c:v>25</c:v>
                </c:pt>
                <c:pt idx="1">
                  <c:v>13.3</c:v>
                </c:pt>
                <c:pt idx="2">
                  <c:v>37.9</c:v>
                </c:pt>
                <c:pt idx="3">
                  <c:v>34.799999999999997</c:v>
                </c:pt>
              </c:numCache>
            </c:numRef>
          </c:val>
          <c:extLst>
            <c:ext xmlns:c16="http://schemas.microsoft.com/office/drawing/2014/chart" uri="{C3380CC4-5D6E-409C-BE32-E72D297353CC}">
              <c16:uniqueId val="{00000002-DE01-461C-BF5E-44C944B18AC0}"/>
            </c:ext>
          </c:extLst>
        </c:ser>
        <c:ser>
          <c:idx val="3"/>
          <c:order val="3"/>
          <c:tx>
            <c:strRef>
              <c:f>Sheet1!$E$1</c:f>
              <c:strCache>
                <c:ptCount val="1"/>
                <c:pt idx="0">
                  <c:v>Lost</c:v>
                </c:pt>
              </c:strCache>
            </c:strRef>
          </c:tx>
          <c:spPr>
            <a:solidFill>
              <a:srgbClr val="64748B"/>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Sheet1!$E$2:$E$5</c:f>
              <c:numCache>
                <c:formatCode>General</c:formatCode>
                <c:ptCount val="4"/>
                <c:pt idx="0">
                  <c:v>0</c:v>
                </c:pt>
                <c:pt idx="1">
                  <c:v>0</c:v>
                </c:pt>
                <c:pt idx="2">
                  <c:v>0.6</c:v>
                </c:pt>
                <c:pt idx="3">
                  <c:v>2.9</c:v>
                </c:pt>
              </c:numCache>
            </c:numRef>
          </c:val>
          <c:extLst>
            <c:ext xmlns:c16="http://schemas.microsoft.com/office/drawing/2014/chart" uri="{C3380CC4-5D6E-409C-BE32-E72D297353CC}">
              <c16:uniqueId val="{00000003-DE01-461C-BF5E-44C944B18AC0}"/>
            </c:ext>
          </c:extLst>
        </c:ser>
        <c:dLbls>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a:pPr>
                <a:r>
                  <a:rPr lang="en-CA" dirty="0"/>
                  <a:t>Percentages</a:t>
                </a:r>
                <a:r>
                  <a:rPr lang="en-CA" baseline="0" dirty="0"/>
                  <a:t> (%)</a:t>
                </a:r>
                <a:endParaRPr lang="en-CA" dirty="0"/>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00000"/>
                </a:solidFill>
                <a:latin typeface="Arial"/>
              </a:defRPr>
            </a:pPr>
            <a:r>
              <a:rPr lang="en-CA" sz="1000" b="0" i="0" u="none" strike="noStrike">
                <a:solidFill>
                  <a:srgbClr val="000000"/>
                </a:solidFill>
                <a:latin typeface="Arial"/>
              </a:rPr>
              <a:t>Actual Counts</a:t>
            </a:r>
          </a:p>
        </c:rich>
      </c:tx>
      <c:overlay val="0"/>
    </c:title>
    <c:autoTitleDeleted val="0"/>
    <c:plotArea>
      <c:layout/>
      <c:barChart>
        <c:barDir val="col"/>
        <c:grouping val="clustered"/>
        <c:varyColors val="0"/>
        <c:ser>
          <c:idx val="0"/>
          <c:order val="0"/>
          <c:tx>
            <c:strRef>
              <c:f>Sheet1!$B$1</c:f>
              <c:strCache>
                <c:ptCount val="1"/>
                <c:pt idx="0">
                  <c:v>High Growth</c:v>
                </c:pt>
              </c:strCache>
            </c:strRef>
          </c:tx>
          <c:spPr>
            <a:solidFill>
              <a:srgbClr val="10B981"/>
            </a:solidFill>
            <a:effectLst/>
          </c:spPr>
          <c:invertIfNegative val="0"/>
          <c:dLbls>
            <c:numFmt formatCode="#,##0" sourceLinked="0"/>
            <c:spPr>
              <a:noFill/>
              <a:ln>
                <a:noFill/>
              </a:ln>
              <a:effectLst/>
            </c:spPr>
            <c:txPr>
              <a:bodyPr/>
              <a:lstStyle/>
              <a:p>
                <a:pPr>
                  <a:defRPr sz="7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Sheet1!$B$2:$B$5</c:f>
              <c:numCache>
                <c:formatCode>General</c:formatCode>
                <c:ptCount val="4"/>
                <c:pt idx="0">
                  <c:v>8</c:v>
                </c:pt>
                <c:pt idx="1">
                  <c:v>10</c:v>
                </c:pt>
                <c:pt idx="2">
                  <c:v>88</c:v>
                </c:pt>
                <c:pt idx="3">
                  <c:v>482</c:v>
                </c:pt>
              </c:numCache>
            </c:numRef>
          </c:val>
          <c:extLst>
            <c:ext xmlns:c16="http://schemas.microsoft.com/office/drawing/2014/chart" uri="{C3380CC4-5D6E-409C-BE32-E72D297353CC}">
              <c16:uniqueId val="{00000000-B587-4C86-B1BB-F767779236F4}"/>
            </c:ext>
          </c:extLst>
        </c:ser>
        <c:ser>
          <c:idx val="1"/>
          <c:order val="1"/>
          <c:tx>
            <c:strRef>
              <c:f>Sheet1!$C$1</c:f>
              <c:strCache>
                <c:ptCount val="1"/>
                <c:pt idx="0">
                  <c:v>Stable</c:v>
                </c:pt>
              </c:strCache>
            </c:strRef>
          </c:tx>
          <c:spPr>
            <a:solidFill>
              <a:srgbClr val="0891B2"/>
            </a:solidFill>
            <a:effectLst/>
          </c:spPr>
          <c:invertIfNegative val="0"/>
          <c:dLbls>
            <c:numFmt formatCode="#,##0" sourceLinked="0"/>
            <c:spPr>
              <a:noFill/>
              <a:ln>
                <a:noFill/>
              </a:ln>
              <a:effectLst/>
            </c:spPr>
            <c:txPr>
              <a:bodyPr/>
              <a:lstStyle/>
              <a:p>
                <a:pPr>
                  <a:defRPr sz="7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Sheet1!$C$2:$C$5</c:f>
              <c:numCache>
                <c:formatCode>General</c:formatCode>
                <c:ptCount val="4"/>
                <c:pt idx="0">
                  <c:v>1</c:v>
                </c:pt>
                <c:pt idx="1">
                  <c:v>3</c:v>
                </c:pt>
                <c:pt idx="2">
                  <c:v>19</c:v>
                </c:pt>
                <c:pt idx="3">
                  <c:v>54</c:v>
                </c:pt>
              </c:numCache>
            </c:numRef>
          </c:val>
          <c:extLst>
            <c:ext xmlns:c16="http://schemas.microsoft.com/office/drawing/2014/chart" uri="{C3380CC4-5D6E-409C-BE32-E72D297353CC}">
              <c16:uniqueId val="{00000001-B587-4C86-B1BB-F767779236F4}"/>
            </c:ext>
          </c:extLst>
        </c:ser>
        <c:ser>
          <c:idx val="2"/>
          <c:order val="2"/>
          <c:tx>
            <c:strRef>
              <c:f>Sheet1!$D$1</c:f>
              <c:strCache>
                <c:ptCount val="1"/>
                <c:pt idx="0">
                  <c:v>Declining</c:v>
                </c:pt>
              </c:strCache>
            </c:strRef>
          </c:tx>
          <c:spPr>
            <a:solidFill>
              <a:srgbClr val="EF4444"/>
            </a:solidFill>
            <a:effectLst/>
          </c:spPr>
          <c:invertIfNegative val="0"/>
          <c:dLbls>
            <c:numFmt formatCode="#,##0" sourceLinked="0"/>
            <c:spPr>
              <a:noFill/>
              <a:ln>
                <a:noFill/>
              </a:ln>
              <a:effectLst/>
            </c:spPr>
            <c:txPr>
              <a:bodyPr/>
              <a:lstStyle/>
              <a:p>
                <a:pPr>
                  <a:defRPr sz="7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Sheet1!$D$2:$D$5</c:f>
              <c:numCache>
                <c:formatCode>General</c:formatCode>
                <c:ptCount val="4"/>
                <c:pt idx="0">
                  <c:v>3</c:v>
                </c:pt>
                <c:pt idx="1">
                  <c:v>2</c:v>
                </c:pt>
                <c:pt idx="2">
                  <c:v>66</c:v>
                </c:pt>
                <c:pt idx="3">
                  <c:v>299</c:v>
                </c:pt>
              </c:numCache>
            </c:numRef>
          </c:val>
          <c:extLst>
            <c:ext xmlns:c16="http://schemas.microsoft.com/office/drawing/2014/chart" uri="{C3380CC4-5D6E-409C-BE32-E72D297353CC}">
              <c16:uniqueId val="{00000002-B587-4C86-B1BB-F767779236F4}"/>
            </c:ext>
          </c:extLst>
        </c:ser>
        <c:ser>
          <c:idx val="3"/>
          <c:order val="3"/>
          <c:tx>
            <c:strRef>
              <c:f>Sheet1!$E$1</c:f>
              <c:strCache>
                <c:ptCount val="1"/>
                <c:pt idx="0">
                  <c:v>Lost</c:v>
                </c:pt>
              </c:strCache>
            </c:strRef>
          </c:tx>
          <c:spPr>
            <a:solidFill>
              <a:srgbClr val="64748B"/>
            </a:solidFill>
            <a:effectLst/>
          </c:spPr>
          <c:invertIfNegative val="0"/>
          <c:dLbls>
            <c:numFmt formatCode="#,##0" sourceLinked="0"/>
            <c:spPr>
              <a:noFill/>
              <a:ln>
                <a:noFill/>
              </a:ln>
              <a:effectLst/>
            </c:spPr>
            <c:txPr>
              <a:bodyPr/>
              <a:lstStyle/>
              <a:p>
                <a:pPr>
                  <a:defRPr sz="7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Sheet1!$E$2:$E$5</c:f>
              <c:numCache>
                <c:formatCode>General</c:formatCode>
                <c:ptCount val="4"/>
                <c:pt idx="0">
                  <c:v>0</c:v>
                </c:pt>
                <c:pt idx="1">
                  <c:v>0</c:v>
                </c:pt>
                <c:pt idx="2">
                  <c:v>1</c:v>
                </c:pt>
                <c:pt idx="3">
                  <c:v>25</c:v>
                </c:pt>
              </c:numCache>
            </c:numRef>
          </c:val>
          <c:extLst>
            <c:ext xmlns:c16="http://schemas.microsoft.com/office/drawing/2014/chart" uri="{C3380CC4-5D6E-409C-BE32-E72D297353CC}">
              <c16:uniqueId val="{00000003-B587-4C86-B1BB-F767779236F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Retention Rate (%)</c:v>
                </c:pt>
              </c:strCache>
            </c:strRef>
          </c:tx>
          <c:spPr>
            <a:solidFill>
              <a:srgbClr val="0891B2"/>
            </a:solidFill>
            <a:effectLst/>
          </c:spPr>
          <c:invertIfNegative val="0"/>
          <c:dPt>
            <c:idx val="0"/>
            <c:invertIfNegative val="0"/>
            <c:bubble3D val="0"/>
            <c:extLst>
              <c:ext xmlns:c16="http://schemas.microsoft.com/office/drawing/2014/chart" uri="{C3380CC4-5D6E-409C-BE32-E72D297353CC}">
                <c16:uniqueId val="{00000001-8CDC-4339-B6F0-0952024061DC}"/>
              </c:ext>
            </c:extLst>
          </c:dPt>
          <c:dPt>
            <c:idx val="1"/>
            <c:invertIfNegative val="0"/>
            <c:bubble3D val="0"/>
            <c:extLst>
              <c:ext xmlns:c16="http://schemas.microsoft.com/office/drawing/2014/chart" uri="{C3380CC4-5D6E-409C-BE32-E72D297353CC}">
                <c16:uniqueId val="{00000003-8CDC-4339-B6F0-0952024061DC}"/>
              </c:ext>
            </c:extLst>
          </c:dPt>
          <c:dPt>
            <c:idx val="2"/>
            <c:invertIfNegative val="0"/>
            <c:bubble3D val="0"/>
            <c:extLst>
              <c:ext xmlns:c16="http://schemas.microsoft.com/office/drawing/2014/chart" uri="{C3380CC4-5D6E-409C-BE32-E72D297353CC}">
                <c16:uniqueId val="{00000005-8CDC-4339-B6F0-0952024061DC}"/>
              </c:ext>
            </c:extLst>
          </c:dPt>
          <c:dPt>
            <c:idx val="3"/>
            <c:invertIfNegative val="0"/>
            <c:bubble3D val="0"/>
            <c:spPr>
              <a:solidFill>
                <a:srgbClr val="22D3EE"/>
              </a:solidFill>
              <a:effectLst/>
            </c:spPr>
            <c:extLst>
              <c:ext xmlns:c16="http://schemas.microsoft.com/office/drawing/2014/chart" uri="{C3380CC4-5D6E-409C-BE32-E72D297353CC}">
                <c16:uniqueId val="{00000007-8CDC-4339-B6F0-0952024061DC}"/>
              </c:ext>
            </c:extLst>
          </c:dPt>
          <c:dLbls>
            <c:numFmt formatCode="#,##0" sourceLinked="0"/>
            <c:spPr>
              <a:noFill/>
              <a:ln>
                <a:noFill/>
              </a:ln>
              <a:effectLst/>
            </c:spPr>
            <c:txPr>
              <a:bodyPr/>
              <a:lstStyle/>
              <a:p>
                <a:pPr>
                  <a:defRPr sz="11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Sheet1!$B$2:$B$5</c:f>
              <c:numCache>
                <c:formatCode>General</c:formatCode>
                <c:ptCount val="4"/>
                <c:pt idx="0">
                  <c:v>100</c:v>
                </c:pt>
                <c:pt idx="1">
                  <c:v>100</c:v>
                </c:pt>
                <c:pt idx="2">
                  <c:v>99.4</c:v>
                </c:pt>
                <c:pt idx="3">
                  <c:v>97.1</c:v>
                </c:pt>
              </c:numCache>
            </c:numRef>
          </c:val>
          <c:extLst>
            <c:ext xmlns:c16="http://schemas.microsoft.com/office/drawing/2014/chart" uri="{C3380CC4-5D6E-409C-BE32-E72D297353CC}">
              <c16:uniqueId val="{00000008-8CDC-4339-B6F0-0952024061D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02"/>
          <c:min val="90"/>
        </c:scaling>
        <c:delete val="0"/>
        <c:axPos val="l"/>
        <c:majorGridlines>
          <c:spPr>
            <a:ln w="6350" cap="flat">
              <a:solidFill>
                <a:srgbClr val="E2E8F0"/>
              </a:solidFill>
              <a:prstDash val="solid"/>
              <a:round/>
            </a:ln>
          </c:spPr>
        </c:majorGridlines>
        <c:title>
          <c:tx>
            <c:rich>
              <a:bodyPr/>
              <a:lstStyle/>
              <a:p>
                <a:pPr>
                  <a:defRPr/>
                </a:pPr>
                <a:r>
                  <a:rPr lang="en-CA" dirty="0"/>
                  <a:t>Percentage</a:t>
                </a:r>
                <a:r>
                  <a:rPr lang="en-CA" baseline="0" dirty="0"/>
                  <a:t> (%)</a:t>
                </a:r>
                <a:endParaRPr lang="en-CA" dirty="0"/>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2019 (COVID period)</c:v>
                </c:pt>
              </c:strCache>
            </c:strRef>
          </c:tx>
          <c:spPr>
            <a:solidFill>
              <a:srgbClr val="94A3B8"/>
            </a:solidFill>
            <a:effectLst/>
          </c:spPr>
          <c:invertIfNegative val="0"/>
          <c:dLbls>
            <c:dLbl>
              <c:idx val="0"/>
              <c:tx>
                <c:rich>
                  <a:bodyPr/>
                  <a:lstStyle/>
                  <a:p>
                    <a:r>
                      <a:rPr lang="en-US"/>
                      <a:t>547M</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36B-44C7-B925-74A58ABF6DD4}"/>
                </c:ext>
              </c:extLst>
            </c:dLbl>
            <c:dLbl>
              <c:idx val="1"/>
              <c:tx>
                <c:rich>
                  <a:bodyPr/>
                  <a:lstStyle/>
                  <a:p>
                    <a:r>
                      <a:rPr lang="en-US"/>
                      <a:t>61M</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E36B-44C7-B925-74A58ABF6DD4}"/>
                </c:ext>
              </c:extLst>
            </c:dLbl>
            <c:dLbl>
              <c:idx val="2"/>
              <c:tx>
                <c:rich>
                  <a:bodyPr/>
                  <a:lstStyle/>
                  <a:p>
                    <a:r>
                      <a:rPr lang="en-US"/>
                      <a:t>112M</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E36B-44C7-B925-74A58ABF6DD4}"/>
                </c:ext>
              </c:extLst>
            </c:dLbl>
            <c:dLbl>
              <c:idx val="3"/>
              <c:tx>
                <c:rich>
                  <a:bodyPr/>
                  <a:lstStyle/>
                  <a:p>
                    <a:r>
                      <a:rPr lang="en-US"/>
                      <a:t>46M</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E36B-44C7-B925-74A58ABF6DD4}"/>
                </c:ext>
              </c:extLst>
            </c:dLbl>
            <c:numFmt formatCode="#,##0" sourceLinked="0"/>
            <c:spPr>
              <a:noFill/>
              <a:ln>
                <a:noFill/>
              </a:ln>
              <a:effectLst/>
            </c:spPr>
            <c:txPr>
              <a:bodyPr/>
              <a:lstStyle/>
              <a:p>
                <a:pPr>
                  <a:defRPr sz="8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Sheet1!$B$2:$B$5</c:f>
              <c:numCache>
                <c:formatCode>General</c:formatCode>
                <c:ptCount val="4"/>
                <c:pt idx="0">
                  <c:v>548.79999999999995</c:v>
                </c:pt>
                <c:pt idx="1">
                  <c:v>60.6</c:v>
                </c:pt>
                <c:pt idx="2">
                  <c:v>111.5</c:v>
                </c:pt>
                <c:pt idx="3">
                  <c:v>46.1</c:v>
                </c:pt>
              </c:numCache>
            </c:numRef>
          </c:val>
          <c:extLst>
            <c:ext xmlns:c16="http://schemas.microsoft.com/office/drawing/2014/chart" uri="{C3380CC4-5D6E-409C-BE32-E72D297353CC}">
              <c16:uniqueId val="{00000000-2BE2-4594-B380-8095372B59A7}"/>
            </c:ext>
          </c:extLst>
        </c:ser>
        <c:ser>
          <c:idx val="1"/>
          <c:order val="1"/>
          <c:tx>
            <c:strRef>
              <c:f>Sheet1!$C$1</c:f>
              <c:strCache>
                <c:ptCount val="1"/>
                <c:pt idx="0">
                  <c:v>2020 (COVID period)</c:v>
                </c:pt>
              </c:strCache>
            </c:strRef>
          </c:tx>
          <c:spPr>
            <a:solidFill>
              <a:srgbClr val="0891B2"/>
            </a:solidFill>
            <a:effectLst/>
          </c:spPr>
          <c:invertIfNegative val="0"/>
          <c:dLbls>
            <c:dLbl>
              <c:idx val="0"/>
              <c:tx>
                <c:rich>
                  <a:bodyPr/>
                  <a:lstStyle/>
                  <a:p>
                    <a:r>
                      <a:rPr lang="en-US"/>
                      <a:t>806M</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E36B-44C7-B925-74A58ABF6DD4}"/>
                </c:ext>
              </c:extLst>
            </c:dLbl>
            <c:dLbl>
              <c:idx val="1"/>
              <c:tx>
                <c:rich>
                  <a:bodyPr/>
                  <a:lstStyle/>
                  <a:p>
                    <a:r>
                      <a:rPr lang="en-US"/>
                      <a:t>89M</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36B-44C7-B925-74A58ABF6DD4}"/>
                </c:ext>
              </c:extLst>
            </c:dLbl>
            <c:dLbl>
              <c:idx val="2"/>
              <c:tx>
                <c:rich>
                  <a:bodyPr/>
                  <a:lstStyle/>
                  <a:p>
                    <a:r>
                      <a:rPr lang="en-US"/>
                      <a:t>166M</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E36B-44C7-B925-74A58ABF6DD4}"/>
                </c:ext>
              </c:extLst>
            </c:dLbl>
            <c:dLbl>
              <c:idx val="3"/>
              <c:tx>
                <c:rich>
                  <a:bodyPr/>
                  <a:lstStyle/>
                  <a:p>
                    <a:r>
                      <a:rPr lang="en-US"/>
                      <a:t>75M</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E36B-44C7-B925-74A58ABF6DD4}"/>
                </c:ext>
              </c:extLst>
            </c:dLbl>
            <c:numFmt formatCode="#,##0" sourceLinked="0"/>
            <c:spPr>
              <a:noFill/>
              <a:ln>
                <a:noFill/>
              </a:ln>
              <a:effectLst/>
            </c:spPr>
            <c:txPr>
              <a:bodyPr/>
              <a:lstStyle/>
              <a:p>
                <a:pPr>
                  <a:defRPr sz="8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Sheet1!$C$2:$C$5</c:f>
              <c:numCache>
                <c:formatCode>General</c:formatCode>
                <c:ptCount val="4"/>
                <c:pt idx="0">
                  <c:v>805.5</c:v>
                </c:pt>
                <c:pt idx="1">
                  <c:v>88.6</c:v>
                </c:pt>
                <c:pt idx="2">
                  <c:v>166.4</c:v>
                </c:pt>
                <c:pt idx="3">
                  <c:v>74.8</c:v>
                </c:pt>
              </c:numCache>
            </c:numRef>
          </c:val>
          <c:extLst>
            <c:ext xmlns:c16="http://schemas.microsoft.com/office/drawing/2014/chart" uri="{C3380CC4-5D6E-409C-BE32-E72D297353CC}">
              <c16:uniqueId val="{00000001-2BE2-4594-B380-8095372B59A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a:pPr>
                <a:r>
                  <a:rPr lang="en-CA" dirty="0"/>
                  <a:t>Millions</a:t>
                </a:r>
                <a:r>
                  <a:rPr lang="en-CA" baseline="0" dirty="0"/>
                  <a:t> ($)</a:t>
                </a:r>
                <a:endParaRPr lang="en-CA" dirty="0"/>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0.82823</cdr:x>
      <cdr:y>0</cdr:y>
    </cdr:from>
    <cdr:to>
      <cdr:x>0.83032</cdr:x>
      <cdr:y>0.86184</cdr:y>
    </cdr:to>
    <cdr:sp macro="" textlink="">
      <cdr:nvSpPr>
        <cdr:cNvPr id="2" name="Shape 5">
          <a:extLst xmlns:a="http://schemas.openxmlformats.org/drawingml/2006/main">
            <a:ext uri="{FF2B5EF4-FFF2-40B4-BE49-F238E27FC236}">
              <a16:creationId xmlns:a16="http://schemas.microsoft.com/office/drawing/2014/main" id="{CA227AA2-22E1-4F1F-7DBE-6C515016C467}"/>
            </a:ext>
          </a:extLst>
        </cdr:cNvPr>
        <cdr:cNvSpPr/>
      </cdr:nvSpPr>
      <cdr:spPr>
        <a:xfrm xmlns:a="http://schemas.openxmlformats.org/drawingml/2006/main">
          <a:off x="7118935" y="0"/>
          <a:ext cx="18000" cy="2994653"/>
        </a:xfrm>
        <a:prstGeom xmlns:a="http://schemas.openxmlformats.org/drawingml/2006/main" prst="rect">
          <a:avLst/>
        </a:prstGeom>
        <a:solidFill xmlns:a="http://schemas.openxmlformats.org/drawingml/2006/main">
          <a:srgbClr val="EF4444"/>
        </a:solidFill>
        <a:ln xmlns:a="http://schemas.openxmlformats.org/drawingml/2006/main" w="6350">
          <a:solidFill>
            <a:srgbClr val="EF4444"/>
          </a:solidFill>
          <a:prstDash val="sysDot"/>
        </a:ln>
      </cdr:spPr>
      <cdr:txBody>
        <a:bodyPr xmlns:a="http://schemas.openxmlformats.org/drawingml/2006/main"/>
        <a:lstStyle xmlns:a="http://schemas.openxmlformats.org/drawingml/2006/main">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endParaRPr lang="en-CA"/>
        </a:p>
      </cdr:txBody>
    </cdr:sp>
  </cdr:relSizeAnchor>
  <cdr:relSizeAnchor xmlns:cdr="http://schemas.openxmlformats.org/drawingml/2006/chartDrawing">
    <cdr:from>
      <cdr:x>0.75664</cdr:x>
      <cdr:y>0.02985</cdr:y>
    </cdr:from>
    <cdr:to>
      <cdr:x>0.90558</cdr:x>
      <cdr:y>0.09476</cdr:y>
    </cdr:to>
    <cdr:sp macro="" textlink="">
      <cdr:nvSpPr>
        <cdr:cNvPr id="3" name="Shape 6">
          <a:extLst xmlns:a="http://schemas.openxmlformats.org/drawingml/2006/main">
            <a:ext uri="{FF2B5EF4-FFF2-40B4-BE49-F238E27FC236}">
              <a16:creationId xmlns:a16="http://schemas.microsoft.com/office/drawing/2014/main" id="{619387EA-BBD4-3F4A-E493-C39EFD690740}"/>
            </a:ext>
          </a:extLst>
        </cdr:cNvPr>
        <cdr:cNvSpPr/>
      </cdr:nvSpPr>
      <cdr:spPr>
        <a:xfrm xmlns:a="http://schemas.openxmlformats.org/drawingml/2006/main">
          <a:off x="6503593" y="103720"/>
          <a:ext cx="1280193" cy="225541"/>
        </a:xfrm>
        <a:prstGeom xmlns:a="http://schemas.openxmlformats.org/drawingml/2006/main" prst="rect">
          <a:avLst/>
        </a:prstGeom>
        <a:solidFill xmlns:a="http://schemas.openxmlformats.org/drawingml/2006/main">
          <a:srgbClr val="EF4444"/>
        </a:solidFill>
        <a:ln xmlns:a="http://schemas.openxmlformats.org/drawingml/2006/main" w="12700">
          <a:solidFill>
            <a:srgbClr val="EF4444"/>
          </a:solidFill>
          <a:prstDash val="solid"/>
        </a:ln>
      </cdr:spPr>
      <cdr:txBody>
        <a:bodyPr xmlns:a="http://schemas.openxmlformats.org/drawingml/2006/main"/>
        <a:lstStyle xmlns:a="http://schemas.openxmlformats.org/drawingml/2006/main">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n-US" sz="800" b="1" dirty="0">
              <a:solidFill>
                <a:srgbClr val="FFFFFF"/>
              </a:solidFill>
              <a:latin typeface="Calibri" pitchFamily="34" charset="0"/>
              <a:ea typeface="Calibri" pitchFamily="34" charset="-122"/>
              <a:cs typeface="Calibri" pitchFamily="34" charset="-120"/>
            </a:rPr>
            <a:t>⚑ W45: Peak Season</a:t>
          </a:r>
          <a:endParaRPr lang="en-US" sz="800" dirty="0"/>
        </a:p>
        <a:p xmlns:a="http://schemas.openxmlformats.org/drawingml/2006/main">
          <a:endParaRPr lang="en-CA" sz="800" dirty="0"/>
        </a:p>
      </cdr:txBody>
    </cdr:sp>
  </cdr:relSizeAnchor>
  <cdr:relSizeAnchor xmlns:cdr="http://schemas.openxmlformats.org/drawingml/2006/chartDrawing">
    <cdr:from>
      <cdr:x>0.40949</cdr:x>
      <cdr:y>0</cdr:y>
    </cdr:from>
    <cdr:to>
      <cdr:x>0.41158</cdr:x>
      <cdr:y>0.87368</cdr:y>
    </cdr:to>
    <cdr:sp macro="" textlink="">
      <cdr:nvSpPr>
        <cdr:cNvPr id="4" name="Shape 5">
          <a:extLst xmlns:a="http://schemas.openxmlformats.org/drawingml/2006/main">
            <a:ext uri="{FF2B5EF4-FFF2-40B4-BE49-F238E27FC236}">
              <a16:creationId xmlns:a16="http://schemas.microsoft.com/office/drawing/2014/main" id="{640A5757-451D-9FBE-E55C-1E3ED7F8153E}"/>
            </a:ext>
          </a:extLst>
        </cdr:cNvPr>
        <cdr:cNvSpPr/>
      </cdr:nvSpPr>
      <cdr:spPr>
        <a:xfrm xmlns:a="http://schemas.openxmlformats.org/drawingml/2006/main">
          <a:off x="3519683" y="0"/>
          <a:ext cx="18000" cy="3035809"/>
        </a:xfrm>
        <a:prstGeom xmlns:a="http://schemas.openxmlformats.org/drawingml/2006/main" prst="rect">
          <a:avLst/>
        </a:prstGeom>
        <a:solidFill xmlns:a="http://schemas.openxmlformats.org/drawingml/2006/main">
          <a:srgbClr val="EF4444"/>
        </a:solidFill>
        <a:ln xmlns:a="http://schemas.openxmlformats.org/drawingml/2006/main" w="6350">
          <a:solidFill>
            <a:srgbClr val="EF4444"/>
          </a:solidFill>
          <a:prstDash val="sysDot"/>
        </a:ln>
      </cdr:spPr>
      <cdr:txBody>
        <a:bodyPr xmlns:a="http://schemas.openxmlformats.org/drawingml/2006/main"/>
        <a:lstStyle xmlns:a="http://schemas.openxmlformats.org/drawingml/2006/main">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endParaRPr lang="en-CA"/>
        </a:p>
      </cdr:txBody>
    </cdr:sp>
  </cdr:relSizeAnchor>
  <cdr:relSizeAnchor xmlns:cdr="http://schemas.openxmlformats.org/drawingml/2006/chartDrawing">
    <cdr:from>
      <cdr:x>0.35638</cdr:x>
      <cdr:y>0.09611</cdr:y>
    </cdr:from>
    <cdr:to>
      <cdr:x>0.50532</cdr:x>
      <cdr:y>0.15532</cdr:y>
    </cdr:to>
    <cdr:sp macro="" textlink="">
      <cdr:nvSpPr>
        <cdr:cNvPr id="6" name="Shape 6">
          <a:extLst xmlns:a="http://schemas.openxmlformats.org/drawingml/2006/main">
            <a:ext uri="{FF2B5EF4-FFF2-40B4-BE49-F238E27FC236}">
              <a16:creationId xmlns:a16="http://schemas.microsoft.com/office/drawing/2014/main" id="{EAC8B3B1-4A7D-370A-D4F2-6A904A3B8E54}"/>
            </a:ext>
          </a:extLst>
        </cdr:cNvPr>
        <cdr:cNvSpPr/>
      </cdr:nvSpPr>
      <cdr:spPr>
        <a:xfrm xmlns:a="http://schemas.openxmlformats.org/drawingml/2006/main">
          <a:off x="3063240" y="333967"/>
          <a:ext cx="1280160" cy="205740"/>
        </a:xfrm>
        <a:prstGeom xmlns:a="http://schemas.openxmlformats.org/drawingml/2006/main" prst="rect">
          <a:avLst/>
        </a:prstGeom>
        <a:solidFill xmlns:a="http://schemas.openxmlformats.org/drawingml/2006/main">
          <a:srgbClr val="EF4444"/>
        </a:solidFill>
        <a:ln xmlns:a="http://schemas.openxmlformats.org/drawingml/2006/main" w="12700">
          <a:solidFill>
            <a:srgbClr val="EF4444"/>
          </a:solidFill>
          <a:prstDash val="solid"/>
        </a:ln>
      </cdr:spPr>
      <cdr:txBody>
        <a:bodyPr xmlns:a="http://schemas.openxmlformats.org/drawingml/2006/main"/>
        <a:lstStyle xmlns:a="http://schemas.openxmlformats.org/drawingml/2006/main">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n-US" sz="800" b="1" dirty="0">
              <a:solidFill>
                <a:srgbClr val="FFFFFF"/>
              </a:solidFill>
              <a:latin typeface="Calibri" pitchFamily="34" charset="0"/>
              <a:ea typeface="Calibri" pitchFamily="34" charset="-122"/>
              <a:cs typeface="Calibri" pitchFamily="34" charset="-120"/>
            </a:rPr>
            <a:t>W20: Lockdowns Ease</a:t>
          </a:r>
          <a:endParaRPr lang="en-US" sz="800" dirty="0"/>
        </a:p>
      </cdr:txBody>
    </cdr:sp>
  </cdr:relSizeAnchor>
  <cdr:relSizeAnchor xmlns:cdr="http://schemas.openxmlformats.org/drawingml/2006/chartDrawing">
    <cdr:from>
      <cdr:x>0.28707</cdr:x>
      <cdr:y>0.19114</cdr:y>
    </cdr:from>
    <cdr:to>
      <cdr:x>0.40611</cdr:x>
      <cdr:y>0.39551</cdr:y>
    </cdr:to>
    <cdr:sp macro="" textlink="">
      <cdr:nvSpPr>
        <cdr:cNvPr id="7" name="Shape 12">
          <a:extLst xmlns:a="http://schemas.openxmlformats.org/drawingml/2006/main">
            <a:ext uri="{FF2B5EF4-FFF2-40B4-BE49-F238E27FC236}">
              <a16:creationId xmlns:a16="http://schemas.microsoft.com/office/drawing/2014/main" id="{DE0CF843-20D9-CA5E-6DEB-E43DE520F715}"/>
            </a:ext>
          </a:extLst>
        </cdr:cNvPr>
        <cdr:cNvSpPr/>
      </cdr:nvSpPr>
      <cdr:spPr>
        <a:xfrm xmlns:a="http://schemas.openxmlformats.org/drawingml/2006/main">
          <a:off x="2467439" y="664169"/>
          <a:ext cx="1023207" cy="710120"/>
        </a:xfrm>
        <a:prstGeom xmlns:a="http://schemas.openxmlformats.org/drawingml/2006/main" prst="rect">
          <a:avLst/>
        </a:prstGeom>
        <a:solidFill xmlns:a="http://schemas.openxmlformats.org/drawingml/2006/main">
          <a:schemeClr val="bg1"/>
        </a:solidFill>
        <a:ln xmlns:a="http://schemas.openxmlformats.org/drawingml/2006/main" w="19050">
          <a:solidFill>
            <a:srgbClr val="0891B2"/>
          </a:solidFill>
          <a:prstDash val="solid"/>
        </a:ln>
        <a:effectLst xmlns:a="http://schemas.openxmlformats.org/drawingml/2006/main">
          <a:outerShdw blurRad="63500" dist="25400" dir="8100000" algn="bl" rotWithShape="0">
            <a:srgbClr val="000000">
              <a:alpha val="20000"/>
            </a:srgbClr>
          </a:outerShdw>
        </a:effectLst>
      </cdr:spPr>
      <cdr:txBody>
        <a:bodyPr xmlns:a="http://schemas.openxmlformats.org/drawingml/2006/main"/>
        <a:lstStyle xmlns:a="http://schemas.openxmlformats.org/drawingml/2006/main">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n-US" sz="800" b="1" dirty="0">
              <a:latin typeface="Calibri" pitchFamily="34" charset="0"/>
              <a:ea typeface="Calibri" pitchFamily="34" charset="-122"/>
              <a:cs typeface="Calibri" pitchFamily="34" charset="-120"/>
            </a:rPr>
            <a:t>COVID Surge Period</a:t>
          </a:r>
          <a:endParaRPr lang="en-US" sz="800" dirty="0"/>
        </a:p>
        <a:p xmlns:a="http://schemas.openxmlformats.org/drawingml/2006/main">
          <a:pPr algn="ctr"/>
          <a:r>
            <a:rPr lang="en-US" sz="800" b="1" dirty="0">
              <a:latin typeface="Calibri" pitchFamily="34" charset="0"/>
              <a:ea typeface="Calibri" pitchFamily="34" charset="-122"/>
              <a:cs typeface="Calibri" pitchFamily="34" charset="-120"/>
            </a:rPr>
            <a:t>W12 → W20</a:t>
          </a:r>
          <a:endParaRPr lang="en-US" sz="800" b="1" dirty="0">
            <a:solidFill>
              <a:srgbClr val="E0F7FA"/>
            </a:solidFill>
            <a:highlight>
              <a:srgbClr val="000000"/>
            </a:highlight>
            <a:latin typeface="Calibri" pitchFamily="34" charset="0"/>
            <a:ea typeface="Calibri" pitchFamily="34" charset="-122"/>
            <a:cs typeface="Calibri" pitchFamily="34" charset="-120"/>
          </a:endParaRPr>
        </a:p>
        <a:p xmlns:a="http://schemas.openxmlformats.org/drawingml/2006/main">
          <a:pPr algn="ctr"/>
          <a:r>
            <a:rPr lang="en-US" sz="800" b="1" dirty="0">
              <a:solidFill>
                <a:srgbClr val="10B981"/>
              </a:solidFill>
              <a:latin typeface="Calibri" pitchFamily="34" charset="0"/>
              <a:ea typeface="Calibri" pitchFamily="34" charset="-122"/>
              <a:cs typeface="Calibri" pitchFamily="34" charset="-120"/>
            </a:rPr>
            <a:t>+78.3% vs 2019</a:t>
          </a:r>
          <a:endParaRPr lang="en-US" sz="800" dirty="0"/>
        </a:p>
        <a:p xmlns:a="http://schemas.openxmlformats.org/drawingml/2006/main">
          <a:pPr algn="ctr"/>
          <a:r>
            <a:rPr lang="en-US" sz="800" b="1" dirty="0">
              <a:solidFill>
                <a:srgbClr val="10B981"/>
              </a:solidFill>
              <a:latin typeface="Calibri" pitchFamily="34" charset="0"/>
              <a:ea typeface="Calibri" pitchFamily="34" charset="-122"/>
              <a:cs typeface="Calibri" pitchFamily="34" charset="-120"/>
            </a:rPr>
            <a:t>(+115% peak at W20)</a:t>
          </a:r>
          <a:endParaRPr lang="en-US" sz="800" dirty="0"/>
        </a:p>
        <a:p xmlns:a="http://schemas.openxmlformats.org/drawingml/2006/main">
          <a:pPr algn="ctr"/>
          <a:endParaRPr lang="en-US" sz="800" b="1" dirty="0">
            <a:solidFill>
              <a:srgbClr val="E0F7FA"/>
            </a:solidFill>
            <a:highlight>
              <a:srgbClr val="000000"/>
            </a:highlight>
            <a:latin typeface="Calibri" pitchFamily="34" charset="0"/>
            <a:ea typeface="Calibri" pitchFamily="34" charset="-122"/>
            <a:cs typeface="Calibri" pitchFamily="34" charset="-120"/>
          </a:endParaRPr>
        </a:p>
        <a:p xmlns:a="http://schemas.openxmlformats.org/drawingml/2006/main">
          <a:pPr algn="ctr"/>
          <a:endParaRPr lang="en-US" sz="800" dirty="0">
            <a:highlight>
              <a:srgbClr val="000000"/>
            </a:highlight>
          </a:endParaRPr>
        </a:p>
        <a:p xmlns:a="http://schemas.openxmlformats.org/drawingml/2006/main">
          <a:endParaRPr lang="en-CA" dirty="0"/>
        </a:p>
      </cdr:txBody>
    </cdr:sp>
  </cdr:relSizeAnchor>
  <cdr:relSizeAnchor xmlns:cdr="http://schemas.openxmlformats.org/drawingml/2006/chartDrawing">
    <cdr:from>
      <cdr:x>0.69884</cdr:x>
      <cdr:y>0.13621</cdr:y>
    </cdr:from>
    <cdr:to>
      <cdr:x>0.81788</cdr:x>
      <cdr:y>0.34058</cdr:y>
    </cdr:to>
    <cdr:sp macro="" textlink="">
      <cdr:nvSpPr>
        <cdr:cNvPr id="8" name="Shape 12">
          <a:extLst xmlns:a="http://schemas.openxmlformats.org/drawingml/2006/main">
            <a:ext uri="{FF2B5EF4-FFF2-40B4-BE49-F238E27FC236}">
              <a16:creationId xmlns:a16="http://schemas.microsoft.com/office/drawing/2014/main" id="{EDF947F1-D601-8311-7E12-24712B17A706}"/>
            </a:ext>
          </a:extLst>
        </cdr:cNvPr>
        <cdr:cNvSpPr/>
      </cdr:nvSpPr>
      <cdr:spPr>
        <a:xfrm xmlns:a="http://schemas.openxmlformats.org/drawingml/2006/main">
          <a:off x="6006790" y="473298"/>
          <a:ext cx="1023207" cy="710120"/>
        </a:xfrm>
        <a:prstGeom xmlns:a="http://schemas.openxmlformats.org/drawingml/2006/main" prst="rect">
          <a:avLst/>
        </a:prstGeom>
        <a:solidFill xmlns:a="http://schemas.openxmlformats.org/drawingml/2006/main">
          <a:schemeClr val="bg1"/>
        </a:solidFill>
        <a:ln xmlns:a="http://schemas.openxmlformats.org/drawingml/2006/main" w="19050">
          <a:solidFill>
            <a:srgbClr val="0891B2"/>
          </a:solidFill>
          <a:prstDash val="solid"/>
        </a:ln>
        <a:effectLst xmlns:a="http://schemas.openxmlformats.org/drawingml/2006/main">
          <a:outerShdw blurRad="63500" dist="25400" dir="8100000" algn="bl" rotWithShape="0">
            <a:srgbClr val="000000">
              <a:alpha val="20000"/>
            </a:srgbClr>
          </a:outerShdw>
        </a:effectLst>
      </cdr:spPr>
      <cdr:txBody>
        <a:bodyPr xmlns:a="http://schemas.openxmlformats.org/drawingml/2006/main"/>
        <a:lstStyle xmlns:a="http://schemas.openxmlformats.org/drawingml/2006/main">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n-US" sz="800" b="1" dirty="0">
              <a:latin typeface="Calibri" pitchFamily="34" charset="0"/>
              <a:ea typeface="Calibri" pitchFamily="34" charset="-122"/>
              <a:cs typeface="Calibri" pitchFamily="34" charset="-120"/>
            </a:rPr>
            <a:t>Peak Season</a:t>
          </a:r>
          <a:endParaRPr lang="en-US" sz="800" dirty="0"/>
        </a:p>
        <a:p xmlns:a="http://schemas.openxmlformats.org/drawingml/2006/main">
          <a:pPr algn="ctr"/>
          <a:r>
            <a:rPr lang="en-US" sz="800" b="1" dirty="0">
              <a:latin typeface="Calibri" pitchFamily="34" charset="0"/>
              <a:ea typeface="Calibri" pitchFamily="34" charset="-122"/>
              <a:cs typeface="Calibri" pitchFamily="34" charset="-120"/>
            </a:rPr>
            <a:t>W45 → W53</a:t>
          </a:r>
          <a:endParaRPr lang="en-US" sz="800" dirty="0"/>
        </a:p>
        <a:p xmlns:a="http://schemas.openxmlformats.org/drawingml/2006/main">
          <a:pPr algn="ctr"/>
          <a:r>
            <a:rPr lang="en-US" sz="800" b="1" dirty="0">
              <a:solidFill>
                <a:srgbClr val="10B981"/>
              </a:solidFill>
              <a:latin typeface="Calibri" pitchFamily="34" charset="0"/>
              <a:ea typeface="Calibri" pitchFamily="34" charset="-122"/>
              <a:cs typeface="Calibri" pitchFamily="34" charset="-120"/>
            </a:rPr>
            <a:t>+26.5% vs 2019</a:t>
          </a:r>
          <a:endParaRPr lang="en-US" sz="800" dirty="0"/>
        </a:p>
        <a:p xmlns:a="http://schemas.openxmlformats.org/drawingml/2006/main">
          <a:pPr algn="ctr"/>
          <a:r>
            <a:rPr lang="en-US" sz="800" b="1" dirty="0">
              <a:solidFill>
                <a:srgbClr val="10B981"/>
              </a:solidFill>
              <a:latin typeface="Calibri" pitchFamily="34" charset="0"/>
              <a:ea typeface="Calibri" pitchFamily="34" charset="-122"/>
              <a:cs typeface="Calibri" pitchFamily="34" charset="-120"/>
            </a:rPr>
            <a:t>(+17.8% peak at W49)</a:t>
          </a:r>
          <a:endParaRPr lang="en-US" sz="800" dirty="0"/>
        </a:p>
        <a:p xmlns:a="http://schemas.openxmlformats.org/drawingml/2006/main">
          <a:pPr algn="ctr"/>
          <a:endParaRPr lang="en-US" sz="800" b="1" dirty="0">
            <a:solidFill>
              <a:srgbClr val="E0F7FA"/>
            </a:solidFill>
            <a:highlight>
              <a:srgbClr val="000000"/>
            </a:highlight>
            <a:latin typeface="Calibri" pitchFamily="34" charset="0"/>
            <a:ea typeface="Calibri" pitchFamily="34" charset="-122"/>
            <a:cs typeface="Calibri" pitchFamily="34" charset="-120"/>
          </a:endParaRPr>
        </a:p>
        <a:p xmlns:a="http://schemas.openxmlformats.org/drawingml/2006/main">
          <a:pPr algn="ctr"/>
          <a:endParaRPr lang="en-US" sz="800" dirty="0">
            <a:highlight>
              <a:srgbClr val="000000"/>
            </a:highlight>
          </a:endParaRPr>
        </a:p>
        <a:p xmlns:a="http://schemas.openxmlformats.org/drawingml/2006/main">
          <a:endParaRPr lang="en-CA"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4103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C0301-0116-B455-039D-93894B5FF9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73904-A4A9-B741-47EF-87E23FD3AE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4F93F-0A27-D290-D6AD-3E8C0061BF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4BB1C9-F919-D966-E6B7-5DCF59D6D28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906690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729D3C-CDB3-BC29-EDF1-A2FBB90701E8}"/>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B341FEA3-1EEB-4E14-8599-85E687E17450}" type="slidenum">
              <a:rPr lang="en-CA" smtClean="0"/>
              <a:pPr/>
              <a:t>‹#›</a:t>
            </a:fld>
            <a:endParaRPr lang="en-CA" dirty="0"/>
          </a:p>
        </p:txBody>
      </p:sp>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8.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5943600" y="-1371600"/>
            <a:ext cx="4572000" cy="4572000"/>
          </a:xfrm>
          <a:prstGeom prst="ellipse">
            <a:avLst/>
          </a:prstGeom>
          <a:solidFill>
            <a:srgbClr val="0891B2">
              <a:alpha val="12000"/>
            </a:srgbClr>
          </a:solidFill>
          <a:ln w="12700">
            <a:solidFill>
              <a:srgbClr val="0891B2">
                <a:alpha val="30000"/>
              </a:srgbClr>
            </a:solidFill>
            <a:prstDash val="solid"/>
          </a:ln>
        </p:spPr>
        <p:txBody>
          <a:bodyPr/>
          <a:lstStyle/>
          <a:p>
            <a:endParaRPr lang="en-CA"/>
          </a:p>
        </p:txBody>
      </p:sp>
      <p:sp>
        <p:nvSpPr>
          <p:cNvPr id="4" name="Shape 2"/>
          <p:cNvSpPr/>
          <p:nvPr/>
        </p:nvSpPr>
        <p:spPr>
          <a:xfrm>
            <a:off x="6583680" y="-731520"/>
            <a:ext cx="3200400" cy="3200400"/>
          </a:xfrm>
          <a:prstGeom prst="ellipse">
            <a:avLst/>
          </a:prstGeom>
          <a:solidFill>
            <a:srgbClr val="06B6D4">
              <a:alpha val="15000"/>
            </a:srgbClr>
          </a:solidFill>
          <a:ln w="12700">
            <a:solidFill>
              <a:srgbClr val="06B6D4">
                <a:alpha val="30000"/>
              </a:srgbClr>
            </a:solidFill>
            <a:prstDash val="solid"/>
          </a:ln>
        </p:spPr>
        <p:txBody>
          <a:bodyPr/>
          <a:lstStyle/>
          <a:p>
            <a:endParaRPr lang="en-CA"/>
          </a:p>
        </p:txBody>
      </p:sp>
      <p:sp>
        <p:nvSpPr>
          <p:cNvPr id="5" name="Text 3"/>
          <p:cNvSpPr/>
          <p:nvPr/>
        </p:nvSpPr>
        <p:spPr>
          <a:xfrm>
            <a:off x="640080" y="1188720"/>
            <a:ext cx="7315200" cy="640080"/>
          </a:xfrm>
          <a:prstGeom prst="rect">
            <a:avLst/>
          </a:prstGeom>
          <a:noFill/>
          <a:ln/>
        </p:spPr>
        <p:txBody>
          <a:bodyPr wrap="square" lIns="0" tIns="0" rIns="0" bIns="0" rtlCol="0" anchor="ctr"/>
          <a:lstStyle/>
          <a:p>
            <a:pPr marL="0" indent="0" algn="l">
              <a:buNone/>
            </a:pPr>
            <a:r>
              <a:rPr lang="en-US" sz="2800" dirty="0">
                <a:solidFill>
                  <a:srgbClr val="06B6D4"/>
                </a:solidFill>
                <a:latin typeface="Calibri" pitchFamily="34" charset="0"/>
                <a:ea typeface="Calibri" pitchFamily="34" charset="-122"/>
                <a:cs typeface="Calibri" pitchFamily="34" charset="-120"/>
              </a:rPr>
              <a:t>Impact of COVID-19 on</a:t>
            </a:r>
            <a:endParaRPr lang="en-US" sz="2800" dirty="0"/>
          </a:p>
        </p:txBody>
      </p:sp>
      <p:sp>
        <p:nvSpPr>
          <p:cNvPr id="6" name="Text 4"/>
          <p:cNvSpPr/>
          <p:nvPr/>
        </p:nvSpPr>
        <p:spPr>
          <a:xfrm>
            <a:off x="640080" y="1783080"/>
            <a:ext cx="822960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ABC Company's Parcel Business</a:t>
            </a:r>
            <a:endParaRPr lang="en-US" sz="4000" dirty="0"/>
          </a:p>
        </p:txBody>
      </p:sp>
      <p:sp>
        <p:nvSpPr>
          <p:cNvPr id="7" name="Shape 5"/>
          <p:cNvSpPr/>
          <p:nvPr/>
        </p:nvSpPr>
        <p:spPr>
          <a:xfrm>
            <a:off x="640080" y="2834640"/>
            <a:ext cx="2286000" cy="36576"/>
          </a:xfrm>
          <a:prstGeom prst="rect">
            <a:avLst/>
          </a:prstGeom>
          <a:solidFill>
            <a:srgbClr val="0891B2"/>
          </a:solidFill>
          <a:ln w="12700">
            <a:solidFill>
              <a:srgbClr val="0891B2"/>
            </a:solidFill>
            <a:prstDash val="solid"/>
          </a:ln>
        </p:spPr>
        <p:txBody>
          <a:bodyPr/>
          <a:lstStyle/>
          <a:p>
            <a:endParaRPr lang="en-CA"/>
          </a:p>
        </p:txBody>
      </p:sp>
      <p:sp>
        <p:nvSpPr>
          <p:cNvPr id="8" name="Text 6"/>
          <p:cNvSpPr/>
          <p:nvPr/>
        </p:nvSpPr>
        <p:spPr>
          <a:xfrm>
            <a:off x="640080" y="3017520"/>
            <a:ext cx="7315200" cy="365760"/>
          </a:xfrm>
          <a:prstGeom prst="rect">
            <a:avLst/>
          </a:prstGeom>
          <a:noFill/>
          <a:ln/>
        </p:spPr>
        <p:txBody>
          <a:bodyPr wrap="square" lIns="0" tIns="0" rIns="0" bIns="0" rtlCol="0" anchor="ctr"/>
          <a:lstStyle/>
          <a:p>
            <a:pPr marL="0" indent="0" algn="l">
              <a:buNone/>
            </a:pPr>
            <a:r>
              <a:rPr lang="en-US" sz="1300" dirty="0">
                <a:solidFill>
                  <a:srgbClr val="E2E8F0"/>
                </a:solidFill>
                <a:latin typeface="Calibri" pitchFamily="34" charset="0"/>
                <a:ea typeface="Calibri" pitchFamily="34" charset="-122"/>
                <a:cs typeface="Calibri" pitchFamily="34" charset="-120"/>
              </a:rPr>
              <a:t>Executive Presentation  |  </a:t>
            </a:r>
            <a:r>
              <a:rPr lang="en-US" sz="1300" b="1" dirty="0">
                <a:solidFill>
                  <a:srgbClr val="06B6D4"/>
                </a:solidFill>
                <a:latin typeface="Calibri" pitchFamily="34" charset="0"/>
                <a:ea typeface="Calibri" pitchFamily="34" charset="-122"/>
                <a:cs typeface="Calibri" pitchFamily="34" charset="-120"/>
              </a:rPr>
              <a:t>Programming for Data Science Final Project</a:t>
            </a:r>
            <a:endParaRPr lang="en-US" sz="1300" dirty="0"/>
          </a:p>
        </p:txBody>
      </p:sp>
      <p:sp>
        <p:nvSpPr>
          <p:cNvPr id="9" name="Text 7"/>
          <p:cNvSpPr/>
          <p:nvPr/>
        </p:nvSpPr>
        <p:spPr>
          <a:xfrm>
            <a:off x="640080" y="4480560"/>
            <a:ext cx="8229600" cy="365760"/>
          </a:xfrm>
          <a:prstGeom prst="rect">
            <a:avLst/>
          </a:prstGeom>
          <a:noFill/>
          <a:ln/>
        </p:spPr>
        <p:txBody>
          <a:bodyPr wrap="square" lIns="0" tIns="0" rIns="0" bIns="0" rtlCol="0" anchor="ctr"/>
          <a:lstStyle/>
          <a:p>
            <a:r>
              <a:rPr lang="en-US" sz="1100">
                <a:solidFill>
                  <a:srgbClr val="64748B"/>
                </a:solidFill>
                <a:latin typeface="Calibri"/>
                <a:ea typeface="Calibri"/>
                <a:cs typeface="Calibri"/>
              </a:rPr>
              <a:t>James </a:t>
            </a:r>
            <a:r>
              <a:rPr lang="en-US" sz="1100" err="1">
                <a:solidFill>
                  <a:srgbClr val="64748B"/>
                </a:solidFill>
                <a:latin typeface="Calibri"/>
                <a:ea typeface="Calibri"/>
                <a:cs typeface="Calibri"/>
              </a:rPr>
              <a:t>Tampanga</a:t>
            </a:r>
            <a:r>
              <a:rPr lang="en-US" sz="1100">
                <a:solidFill>
                  <a:srgbClr val="64748B"/>
                </a:solidFill>
                <a:latin typeface="Calibri"/>
                <a:ea typeface="Calibri"/>
                <a:cs typeface="Calibri"/>
              </a:rPr>
              <a:t> &amp; Wilfred </a:t>
            </a:r>
            <a:r>
              <a:rPr lang="en-US" sz="1100" err="1">
                <a:solidFill>
                  <a:srgbClr val="64748B"/>
                </a:solidFill>
                <a:latin typeface="Calibri"/>
                <a:ea typeface="Calibri"/>
                <a:cs typeface="Calibri"/>
              </a:rPr>
              <a:t>Nnamuchi</a:t>
            </a:r>
            <a:r>
              <a:rPr lang="en-US" sz="1100">
                <a:solidFill>
                  <a:srgbClr val="64748B"/>
                </a:solidFill>
                <a:latin typeface="Calibri"/>
                <a:ea typeface="Calibri"/>
                <a:cs typeface="Calibri"/>
              </a:rPr>
              <a:t> S.  |  Saskatchewan Polytechnic  |  2026</a:t>
            </a:r>
            <a:endParaRPr lang="en-US" sz="1100">
              <a:latin typeface="Calibri"/>
              <a:ea typeface="Calibri"/>
              <a:cs typeface="Calibri"/>
            </a:endParaRPr>
          </a:p>
        </p:txBody>
      </p:sp>
      <p:sp>
        <p:nvSpPr>
          <p:cNvPr id="10" name="Shape 8"/>
          <p:cNvSpPr/>
          <p:nvPr/>
        </p:nvSpPr>
        <p:spPr>
          <a:xfrm>
            <a:off x="0" y="5097780"/>
            <a:ext cx="9144000" cy="45720"/>
          </a:xfrm>
          <a:prstGeom prst="rect">
            <a:avLst/>
          </a:prstGeom>
          <a:solidFill>
            <a:srgbClr val="0891B2"/>
          </a:solidFill>
          <a:ln w="12700">
            <a:solidFill>
              <a:srgbClr val="0891B2"/>
            </a:solidFill>
            <a:prstDash val="solid"/>
          </a:ln>
        </p:spPr>
        <p:txBody>
          <a:bodyPr/>
          <a:lstStyle/>
          <a:p>
            <a:endParaRPr lang="en-CA"/>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137160"/>
            <a:ext cx="8229600" cy="502920"/>
          </a:xfrm>
          <a:prstGeom prst="rect">
            <a:avLst/>
          </a:prstGeom>
          <a:noFill/>
          <a:ln/>
        </p:spPr>
        <p:txBody>
          <a:bodyPr wrap="square" lIns="0" tIns="0" rIns="0" bIns="0" rtlCol="0" anchor="ctr"/>
          <a:lstStyle/>
          <a:p>
            <a:pPr marL="0" indent="0">
              <a:buNone/>
            </a:pPr>
            <a:r>
              <a:rPr lang="en-US" sz="2800" b="1" dirty="0">
                <a:solidFill>
                  <a:srgbClr val="0D2137"/>
                </a:solidFill>
                <a:latin typeface="Calibri" pitchFamily="34" charset="0"/>
                <a:ea typeface="Calibri" pitchFamily="34" charset="-122"/>
                <a:cs typeface="Calibri" pitchFamily="34" charset="-120"/>
              </a:rPr>
              <a:t>Study Objectives</a:t>
            </a:r>
            <a:endParaRPr lang="en-US" sz="2800" dirty="0"/>
          </a:p>
        </p:txBody>
      </p:sp>
      <p:sp>
        <p:nvSpPr>
          <p:cNvPr id="7" name="Shape 5"/>
          <p:cNvSpPr/>
          <p:nvPr/>
        </p:nvSpPr>
        <p:spPr>
          <a:xfrm>
            <a:off x="274320" y="914400"/>
            <a:ext cx="420624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CA"/>
          </a:p>
        </p:txBody>
      </p:sp>
      <p:sp>
        <p:nvSpPr>
          <p:cNvPr id="8" name="Shape 6"/>
          <p:cNvSpPr/>
          <p:nvPr/>
        </p:nvSpPr>
        <p:spPr>
          <a:xfrm>
            <a:off x="274320" y="914400"/>
            <a:ext cx="64008" cy="1691640"/>
          </a:xfrm>
          <a:prstGeom prst="rect">
            <a:avLst/>
          </a:prstGeom>
          <a:solidFill>
            <a:srgbClr val="0891B2"/>
          </a:solidFill>
          <a:ln w="12700">
            <a:solidFill>
              <a:srgbClr val="0891B2"/>
            </a:solidFill>
            <a:prstDash val="solid"/>
          </a:ln>
        </p:spPr>
        <p:txBody>
          <a:bodyPr/>
          <a:lstStyle/>
          <a:p>
            <a:endParaRPr lang="en-CA"/>
          </a:p>
        </p:txBody>
      </p:sp>
      <p:sp>
        <p:nvSpPr>
          <p:cNvPr id="9" name="Text 7"/>
          <p:cNvSpPr/>
          <p:nvPr/>
        </p:nvSpPr>
        <p:spPr>
          <a:xfrm>
            <a:off x="457200" y="1051560"/>
            <a:ext cx="3840480" cy="365760"/>
          </a:xfrm>
          <a:prstGeom prst="rect">
            <a:avLst/>
          </a:prstGeom>
          <a:noFill/>
          <a:ln/>
        </p:spPr>
        <p:txBody>
          <a:bodyPr wrap="square" lIns="0" tIns="0" rIns="0" bIns="0" rtlCol="0" anchor="ctr"/>
          <a:lstStyle/>
          <a:p>
            <a:pPr marL="0" indent="0">
              <a:buNone/>
            </a:pPr>
            <a:r>
              <a:rPr lang="en-US" sz="1300" b="1" dirty="0">
                <a:solidFill>
                  <a:srgbClr val="0D2137"/>
                </a:solidFill>
                <a:latin typeface="Calibri" pitchFamily="34" charset="0"/>
                <a:ea typeface="Calibri" pitchFamily="34" charset="-122"/>
                <a:cs typeface="Calibri" pitchFamily="34" charset="-120"/>
              </a:rPr>
              <a:t>📦  Main Question</a:t>
            </a:r>
            <a:endParaRPr lang="en-US" sz="1300" dirty="0"/>
          </a:p>
        </p:txBody>
      </p:sp>
      <p:sp>
        <p:nvSpPr>
          <p:cNvPr id="10" name="Text 8"/>
          <p:cNvSpPr/>
          <p:nvPr/>
        </p:nvSpPr>
        <p:spPr>
          <a:xfrm>
            <a:off x="457200" y="1463040"/>
            <a:ext cx="3840480" cy="10058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How did COVID-19 impact ABC Company's parcel delivery volumes and revenue?</a:t>
            </a:r>
            <a:endParaRPr lang="en-US" sz="1100" dirty="0"/>
          </a:p>
        </p:txBody>
      </p:sp>
      <p:sp>
        <p:nvSpPr>
          <p:cNvPr id="11" name="Shape 9"/>
          <p:cNvSpPr/>
          <p:nvPr/>
        </p:nvSpPr>
        <p:spPr>
          <a:xfrm>
            <a:off x="4709160" y="914400"/>
            <a:ext cx="420624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CA"/>
          </a:p>
        </p:txBody>
      </p:sp>
      <p:sp>
        <p:nvSpPr>
          <p:cNvPr id="12" name="Shape 10"/>
          <p:cNvSpPr/>
          <p:nvPr/>
        </p:nvSpPr>
        <p:spPr>
          <a:xfrm>
            <a:off x="4709160" y="914400"/>
            <a:ext cx="64008" cy="1691640"/>
          </a:xfrm>
          <a:prstGeom prst="rect">
            <a:avLst/>
          </a:prstGeom>
          <a:solidFill>
            <a:srgbClr val="0891B2"/>
          </a:solidFill>
          <a:ln w="12700">
            <a:solidFill>
              <a:srgbClr val="0891B2"/>
            </a:solidFill>
            <a:prstDash val="solid"/>
          </a:ln>
        </p:spPr>
        <p:txBody>
          <a:bodyPr/>
          <a:lstStyle/>
          <a:p>
            <a:endParaRPr lang="en-CA"/>
          </a:p>
        </p:txBody>
      </p:sp>
      <p:sp>
        <p:nvSpPr>
          <p:cNvPr id="13" name="Text 11"/>
          <p:cNvSpPr/>
          <p:nvPr/>
        </p:nvSpPr>
        <p:spPr>
          <a:xfrm>
            <a:off x="4892040" y="1051560"/>
            <a:ext cx="3840480" cy="365760"/>
          </a:xfrm>
          <a:prstGeom prst="rect">
            <a:avLst/>
          </a:prstGeom>
          <a:noFill/>
          <a:ln/>
        </p:spPr>
        <p:txBody>
          <a:bodyPr wrap="square" lIns="0" tIns="0" rIns="0" bIns="0" rtlCol="0" anchor="ctr"/>
          <a:lstStyle/>
          <a:p>
            <a:pPr marL="0" indent="0">
              <a:buNone/>
            </a:pPr>
            <a:r>
              <a:rPr lang="en-US" sz="1300" b="1" dirty="0">
                <a:solidFill>
                  <a:srgbClr val="0D2137"/>
                </a:solidFill>
                <a:latin typeface="Calibri" pitchFamily="34" charset="0"/>
                <a:ea typeface="Calibri" pitchFamily="34" charset="-122"/>
                <a:cs typeface="Calibri" pitchFamily="34" charset="-120"/>
              </a:rPr>
              <a:t>📅  COVID Timeline</a:t>
            </a:r>
            <a:endParaRPr lang="en-US" sz="1300" dirty="0"/>
          </a:p>
        </p:txBody>
      </p:sp>
      <p:sp>
        <p:nvSpPr>
          <p:cNvPr id="14" name="Text 12"/>
          <p:cNvSpPr/>
          <p:nvPr/>
        </p:nvSpPr>
        <p:spPr>
          <a:xfrm>
            <a:off x="4892040" y="1463040"/>
            <a:ext cx="3840480" cy="10058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When were volumes first impacted? What Canadian events drove the changes?</a:t>
            </a:r>
            <a:endParaRPr lang="en-US" sz="1100" dirty="0"/>
          </a:p>
        </p:txBody>
      </p:sp>
      <p:sp>
        <p:nvSpPr>
          <p:cNvPr id="15" name="Shape 13"/>
          <p:cNvSpPr/>
          <p:nvPr/>
        </p:nvSpPr>
        <p:spPr>
          <a:xfrm>
            <a:off x="274320" y="2834640"/>
            <a:ext cx="420624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CA"/>
          </a:p>
        </p:txBody>
      </p:sp>
      <p:sp>
        <p:nvSpPr>
          <p:cNvPr id="16" name="Shape 14"/>
          <p:cNvSpPr/>
          <p:nvPr/>
        </p:nvSpPr>
        <p:spPr>
          <a:xfrm>
            <a:off x="274320" y="2834640"/>
            <a:ext cx="64008" cy="1691640"/>
          </a:xfrm>
          <a:prstGeom prst="rect">
            <a:avLst/>
          </a:prstGeom>
          <a:solidFill>
            <a:srgbClr val="0891B2"/>
          </a:solidFill>
          <a:ln w="12700">
            <a:solidFill>
              <a:srgbClr val="0891B2"/>
            </a:solidFill>
            <a:prstDash val="solid"/>
          </a:ln>
        </p:spPr>
        <p:txBody>
          <a:bodyPr/>
          <a:lstStyle/>
          <a:p>
            <a:endParaRPr lang="en-CA"/>
          </a:p>
        </p:txBody>
      </p:sp>
      <p:sp>
        <p:nvSpPr>
          <p:cNvPr id="17" name="Text 15"/>
          <p:cNvSpPr/>
          <p:nvPr/>
        </p:nvSpPr>
        <p:spPr>
          <a:xfrm>
            <a:off x="457200" y="2971800"/>
            <a:ext cx="3840480" cy="365760"/>
          </a:xfrm>
          <a:prstGeom prst="rect">
            <a:avLst/>
          </a:prstGeom>
          <a:noFill/>
          <a:ln/>
        </p:spPr>
        <p:txBody>
          <a:bodyPr wrap="square" lIns="0" tIns="0" rIns="0" bIns="0" rtlCol="0" anchor="ctr"/>
          <a:lstStyle/>
          <a:p>
            <a:pPr marL="0" indent="0">
              <a:buNone/>
            </a:pPr>
            <a:r>
              <a:rPr lang="en-US" sz="1300" b="1" dirty="0">
                <a:solidFill>
                  <a:srgbClr val="0D2137"/>
                </a:solidFill>
                <a:latin typeface="Calibri" pitchFamily="34" charset="0"/>
                <a:ea typeface="Calibri" pitchFamily="34" charset="-122"/>
                <a:cs typeface="Calibri" pitchFamily="34" charset="-120"/>
              </a:rPr>
              <a:t>📈  Peak Season</a:t>
            </a:r>
            <a:endParaRPr lang="en-US" sz="1300" dirty="0"/>
          </a:p>
        </p:txBody>
      </p:sp>
      <p:sp>
        <p:nvSpPr>
          <p:cNvPr id="18" name="Text 16"/>
          <p:cNvSpPr/>
          <p:nvPr/>
        </p:nvSpPr>
        <p:spPr>
          <a:xfrm>
            <a:off x="457200" y="3383280"/>
            <a:ext cx="3840480" cy="10058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How did the unprecedented 2020 peak season compare to 2019?</a:t>
            </a:r>
            <a:endParaRPr lang="en-US" sz="1100" dirty="0"/>
          </a:p>
        </p:txBody>
      </p:sp>
      <p:sp>
        <p:nvSpPr>
          <p:cNvPr id="19" name="Shape 17"/>
          <p:cNvSpPr/>
          <p:nvPr/>
        </p:nvSpPr>
        <p:spPr>
          <a:xfrm>
            <a:off x="4709160" y="2834640"/>
            <a:ext cx="420624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CA"/>
          </a:p>
        </p:txBody>
      </p:sp>
      <p:sp>
        <p:nvSpPr>
          <p:cNvPr id="20" name="Shape 18"/>
          <p:cNvSpPr/>
          <p:nvPr/>
        </p:nvSpPr>
        <p:spPr>
          <a:xfrm>
            <a:off x="4709160" y="2834640"/>
            <a:ext cx="64008" cy="1691640"/>
          </a:xfrm>
          <a:prstGeom prst="rect">
            <a:avLst/>
          </a:prstGeom>
          <a:solidFill>
            <a:srgbClr val="0891B2"/>
          </a:solidFill>
          <a:ln w="12700">
            <a:solidFill>
              <a:srgbClr val="0891B2"/>
            </a:solidFill>
            <a:prstDash val="solid"/>
          </a:ln>
        </p:spPr>
        <p:txBody>
          <a:bodyPr/>
          <a:lstStyle/>
          <a:p>
            <a:endParaRPr lang="en-CA"/>
          </a:p>
        </p:txBody>
      </p:sp>
      <p:sp>
        <p:nvSpPr>
          <p:cNvPr id="21" name="Text 19"/>
          <p:cNvSpPr/>
          <p:nvPr/>
        </p:nvSpPr>
        <p:spPr>
          <a:xfrm>
            <a:off x="4892040" y="2971800"/>
            <a:ext cx="3840480" cy="365760"/>
          </a:xfrm>
          <a:prstGeom prst="rect">
            <a:avLst/>
          </a:prstGeom>
          <a:noFill/>
          <a:ln/>
        </p:spPr>
        <p:txBody>
          <a:bodyPr wrap="square" lIns="0" tIns="0" rIns="0" bIns="0" rtlCol="0" anchor="ctr"/>
          <a:lstStyle/>
          <a:p>
            <a:pPr marL="0" indent="0">
              <a:buNone/>
            </a:pPr>
            <a:r>
              <a:rPr lang="en-US" sz="1300" b="1" dirty="0">
                <a:solidFill>
                  <a:srgbClr val="0D2137"/>
                </a:solidFill>
                <a:latin typeface="Calibri" pitchFamily="34" charset="0"/>
                <a:ea typeface="Calibri" pitchFamily="34" charset="-122"/>
                <a:cs typeface="Calibri" pitchFamily="34" charset="-120"/>
              </a:rPr>
              <a:t>🏢  Customer Segments</a:t>
            </a:r>
            <a:endParaRPr lang="en-US" sz="1300" dirty="0"/>
          </a:p>
        </p:txBody>
      </p:sp>
      <p:sp>
        <p:nvSpPr>
          <p:cNvPr id="22" name="Text 20"/>
          <p:cNvSpPr/>
          <p:nvPr/>
        </p:nvSpPr>
        <p:spPr>
          <a:xfrm>
            <a:off x="4892040" y="3383280"/>
            <a:ext cx="3840480" cy="10058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How were Enterprise, Large, Medium, and Small clients affected differently?</a:t>
            </a:r>
            <a:endParaRPr lang="en-US" sz="1100" dirty="0"/>
          </a:p>
        </p:txBody>
      </p:sp>
      <p:sp>
        <p:nvSpPr>
          <p:cNvPr id="23" name="TextBox 22"/>
          <p:cNvSpPr txBox="1"/>
          <p:nvPr/>
        </p:nvSpPr>
        <p:spPr>
          <a:xfrm>
            <a:off x="8469601" y="4896612"/>
            <a:ext cx="242374" cy="230832"/>
          </a:xfrm>
          <a:prstGeom prst="rect">
            <a:avLst/>
          </a:prstGeom>
          <a:noFill/>
          <a:ln>
            <a:noFill/>
          </a:ln>
        </p:spPr>
        <p:txBody>
          <a:bodyPr wrap="none">
            <a:spAutoFit/>
          </a:bodyPr>
          <a:lstStyle/>
          <a:p>
            <a:pPr algn="ctr"/>
            <a:r>
              <a:rPr sz="900" b="1" dirty="0">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104219"/>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866153"/>
            <a:ext cx="8110728" cy="236199"/>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ABC Company Parcel Business Analysis  |  James Tampanga &amp; Wilfred Nnamuchi  |  Saskatchewan Polytechnic  |  2026</a:t>
            </a:r>
            <a:endParaRPr lang="en-US" sz="800" dirty="0"/>
          </a:p>
        </p:txBody>
      </p:sp>
      <p:sp>
        <p:nvSpPr>
          <p:cNvPr id="6" name="Text 4"/>
          <p:cNvSpPr/>
          <p:nvPr/>
        </p:nvSpPr>
        <p:spPr>
          <a:xfrm>
            <a:off x="274320" y="109728"/>
            <a:ext cx="8229600" cy="438912"/>
          </a:xfrm>
          <a:prstGeom prst="rect">
            <a:avLst/>
          </a:prstGeom>
          <a:noFill/>
          <a:ln/>
        </p:spPr>
        <p:txBody>
          <a:bodyPr wrap="square" lIns="0" tIns="0" rIns="0" bIns="0" rtlCol="0" anchor="ctr"/>
          <a:lstStyle/>
          <a:p>
            <a:pPr marL="0" indent="0">
              <a:buNone/>
            </a:pPr>
            <a:r>
              <a:rPr lang="en-US" sz="2700" b="1" dirty="0">
                <a:solidFill>
                  <a:srgbClr val="0D2137"/>
                </a:solidFill>
                <a:latin typeface="Calibri" pitchFamily="34" charset="0"/>
                <a:ea typeface="Calibri" pitchFamily="34" charset="-122"/>
                <a:cs typeface="Calibri" pitchFamily="34" charset="-120"/>
              </a:rPr>
              <a:t>Executive Summary</a:t>
            </a:r>
            <a:endParaRPr lang="en-US" sz="2700" dirty="0"/>
          </a:p>
        </p:txBody>
      </p:sp>
      <p:sp>
        <p:nvSpPr>
          <p:cNvPr id="7" name="Text 5"/>
          <p:cNvSpPr/>
          <p:nvPr/>
        </p:nvSpPr>
        <p:spPr>
          <a:xfrm>
            <a:off x="274320" y="530352"/>
            <a:ext cx="8229600" cy="18288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Impact of COVID-19 on ABC Company Parcel Business  |  2018–2020</a:t>
            </a:r>
            <a:endParaRPr lang="en-US" sz="1000" dirty="0"/>
          </a:p>
        </p:txBody>
      </p:sp>
      <p:sp>
        <p:nvSpPr>
          <p:cNvPr id="8" name="Shape 6"/>
          <p:cNvSpPr/>
          <p:nvPr/>
        </p:nvSpPr>
        <p:spPr>
          <a:xfrm>
            <a:off x="274320" y="749808"/>
            <a:ext cx="8595360" cy="18288"/>
          </a:xfrm>
          <a:prstGeom prst="rect">
            <a:avLst/>
          </a:prstGeom>
          <a:solidFill>
            <a:srgbClr val="E2E8F0"/>
          </a:solidFill>
          <a:ln w="12700">
            <a:solidFill>
              <a:srgbClr val="E2E8F0"/>
            </a:solidFill>
            <a:prstDash val="solid"/>
          </a:ln>
        </p:spPr>
        <p:txBody>
          <a:bodyPr/>
          <a:lstStyle/>
          <a:p>
            <a:endParaRPr lang="en-CA"/>
          </a:p>
        </p:txBody>
      </p:sp>
      <p:sp>
        <p:nvSpPr>
          <p:cNvPr id="9" name="Shape 7"/>
          <p:cNvSpPr/>
          <p:nvPr/>
        </p:nvSpPr>
        <p:spPr>
          <a:xfrm>
            <a:off x="274320" y="822960"/>
            <a:ext cx="4224528" cy="1810512"/>
          </a:xfrm>
          <a:prstGeom prst="rect">
            <a:avLst/>
          </a:prstGeom>
          <a:solidFill>
            <a:srgbClr val="FFFFFF"/>
          </a:solidFill>
          <a:ln w="10160">
            <a:solidFill>
              <a:srgbClr val="E2E8F0"/>
            </a:solidFill>
            <a:prstDash val="solid"/>
          </a:ln>
          <a:effectLst>
            <a:outerShdw blurRad="63500" dist="25400" dir="8100000" algn="bl" rotWithShape="0">
              <a:srgbClr val="000000">
                <a:alpha val="10000"/>
              </a:srgbClr>
            </a:outerShdw>
          </a:effectLst>
        </p:spPr>
        <p:txBody>
          <a:bodyPr/>
          <a:lstStyle/>
          <a:p>
            <a:endParaRPr lang="en-CA"/>
          </a:p>
        </p:txBody>
      </p:sp>
      <p:sp>
        <p:nvSpPr>
          <p:cNvPr id="10" name="Shape 8"/>
          <p:cNvSpPr/>
          <p:nvPr/>
        </p:nvSpPr>
        <p:spPr>
          <a:xfrm>
            <a:off x="274320" y="822960"/>
            <a:ext cx="64008" cy="1810512"/>
          </a:xfrm>
          <a:prstGeom prst="rect">
            <a:avLst/>
          </a:prstGeom>
          <a:solidFill>
            <a:srgbClr val="0891B2"/>
          </a:solidFill>
          <a:ln w="12700">
            <a:solidFill>
              <a:srgbClr val="0891B2"/>
            </a:solidFill>
            <a:prstDash val="solid"/>
          </a:ln>
        </p:spPr>
        <p:txBody>
          <a:bodyPr/>
          <a:lstStyle/>
          <a:p>
            <a:endParaRPr lang="en-CA"/>
          </a:p>
        </p:txBody>
      </p:sp>
      <p:sp>
        <p:nvSpPr>
          <p:cNvPr id="11" name="Text 9"/>
          <p:cNvSpPr/>
          <p:nvPr/>
        </p:nvSpPr>
        <p:spPr>
          <a:xfrm>
            <a:off x="411480" y="932688"/>
            <a:ext cx="4023360" cy="329184"/>
          </a:xfrm>
          <a:prstGeom prst="rect">
            <a:avLst/>
          </a:prstGeom>
          <a:noFill/>
          <a:ln/>
        </p:spPr>
        <p:txBody>
          <a:bodyPr wrap="square" lIns="0" tIns="0" rIns="0" bIns="0" rtlCol="0" anchor="ctr"/>
          <a:lstStyle/>
          <a:p>
            <a:pPr marL="0" indent="0">
              <a:buNone/>
            </a:pPr>
            <a:r>
              <a:rPr lang="en-US" sz="1050" b="1" dirty="0">
                <a:solidFill>
                  <a:srgbClr val="0D2137"/>
                </a:solidFill>
                <a:latin typeface="Calibri" pitchFamily="34" charset="0"/>
                <a:ea typeface="Calibri" pitchFamily="34" charset="-122"/>
                <a:cs typeface="Calibri" pitchFamily="34" charset="-120"/>
              </a:rPr>
              <a:t>COVID-19 Triggered an Unprecedented Volume Surge</a:t>
            </a:r>
            <a:endParaRPr lang="en-US" sz="1050" dirty="0"/>
          </a:p>
        </p:txBody>
      </p:sp>
      <p:sp>
        <p:nvSpPr>
          <p:cNvPr id="12" name="Text 10"/>
          <p:cNvSpPr/>
          <p:nvPr/>
        </p:nvSpPr>
        <p:spPr>
          <a:xfrm>
            <a:off x="411480" y="1298448"/>
            <a:ext cx="4023360" cy="12435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Total 2020 parcel volume reached 73.5M parcels; up 39.1% over 2019. The surge began at Week 12 (March 16, 2020) when Canadian lockdowns took effect and peaked at +127.9% YoY by Week 16. Volumes never returned to 2019 levels for the rest of the year, confirming a permanent structural shift to e-commerce.</a:t>
            </a:r>
            <a:endParaRPr lang="en-US" sz="900" dirty="0"/>
          </a:p>
        </p:txBody>
      </p:sp>
      <p:sp>
        <p:nvSpPr>
          <p:cNvPr id="13" name="Shape 11"/>
          <p:cNvSpPr/>
          <p:nvPr/>
        </p:nvSpPr>
        <p:spPr>
          <a:xfrm>
            <a:off x="4736592" y="822960"/>
            <a:ext cx="4224528" cy="1810512"/>
          </a:xfrm>
          <a:prstGeom prst="rect">
            <a:avLst/>
          </a:prstGeom>
          <a:solidFill>
            <a:srgbClr val="FFFFFF"/>
          </a:solidFill>
          <a:ln w="10160">
            <a:solidFill>
              <a:srgbClr val="E2E8F0"/>
            </a:solidFill>
            <a:prstDash val="solid"/>
          </a:ln>
          <a:effectLst>
            <a:outerShdw blurRad="63500" dist="25400" dir="8100000" algn="bl" rotWithShape="0">
              <a:srgbClr val="000000">
                <a:alpha val="10000"/>
              </a:srgbClr>
            </a:outerShdw>
          </a:effectLst>
        </p:spPr>
        <p:txBody>
          <a:bodyPr/>
          <a:lstStyle/>
          <a:p>
            <a:endParaRPr lang="en-CA"/>
          </a:p>
        </p:txBody>
      </p:sp>
      <p:sp>
        <p:nvSpPr>
          <p:cNvPr id="14" name="Shape 12"/>
          <p:cNvSpPr/>
          <p:nvPr/>
        </p:nvSpPr>
        <p:spPr>
          <a:xfrm>
            <a:off x="4736592" y="822960"/>
            <a:ext cx="64008" cy="1810512"/>
          </a:xfrm>
          <a:prstGeom prst="rect">
            <a:avLst/>
          </a:prstGeom>
          <a:solidFill>
            <a:srgbClr val="06B6D4"/>
          </a:solidFill>
          <a:ln w="12700">
            <a:solidFill>
              <a:srgbClr val="06B6D4"/>
            </a:solidFill>
            <a:prstDash val="solid"/>
          </a:ln>
        </p:spPr>
        <p:txBody>
          <a:bodyPr/>
          <a:lstStyle/>
          <a:p>
            <a:endParaRPr lang="en-CA"/>
          </a:p>
        </p:txBody>
      </p:sp>
      <p:sp>
        <p:nvSpPr>
          <p:cNvPr id="15" name="Text 13"/>
          <p:cNvSpPr/>
          <p:nvPr/>
        </p:nvSpPr>
        <p:spPr>
          <a:xfrm>
            <a:off x="4873752" y="932688"/>
            <a:ext cx="4023360" cy="329184"/>
          </a:xfrm>
          <a:prstGeom prst="rect">
            <a:avLst/>
          </a:prstGeom>
          <a:noFill/>
          <a:ln/>
        </p:spPr>
        <p:txBody>
          <a:bodyPr wrap="square" lIns="0" tIns="0" rIns="0" bIns="0" rtlCol="0" anchor="ctr"/>
          <a:lstStyle/>
          <a:p>
            <a:pPr marL="0" indent="0">
              <a:buNone/>
            </a:pPr>
            <a:r>
              <a:rPr lang="en-US" sz="1050" b="1" dirty="0">
                <a:solidFill>
                  <a:srgbClr val="0D2137"/>
                </a:solidFill>
                <a:latin typeface="Calibri" pitchFamily="34" charset="0"/>
                <a:ea typeface="Calibri" pitchFamily="34" charset="-122"/>
                <a:cs typeface="Calibri" pitchFamily="34" charset="-120"/>
              </a:rPr>
              <a:t>Revenue Grew by $368M During the COVID Period</a:t>
            </a:r>
            <a:endParaRPr lang="en-US" sz="1050" dirty="0"/>
          </a:p>
        </p:txBody>
      </p:sp>
      <p:sp>
        <p:nvSpPr>
          <p:cNvPr id="16" name="Text 14"/>
          <p:cNvSpPr/>
          <p:nvPr/>
        </p:nvSpPr>
        <p:spPr>
          <a:xfrm>
            <a:off x="4873752" y="1298448"/>
            <a:ext cx="4023360" cy="12435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ABC Company generated $1.135B in revenue during the COVID observation period (W12–W53, 2020), a 48.0% increase over the $767M earned in the same 2019 period. Small customers recorded the highest growth rate at +62.3%, while Enterprise customers drove the largest absolute revenue gain.</a:t>
            </a:r>
            <a:endParaRPr lang="en-US" sz="900" dirty="0"/>
          </a:p>
        </p:txBody>
      </p:sp>
      <p:sp>
        <p:nvSpPr>
          <p:cNvPr id="17" name="Shape 15"/>
          <p:cNvSpPr/>
          <p:nvPr/>
        </p:nvSpPr>
        <p:spPr>
          <a:xfrm>
            <a:off x="274320" y="2715768"/>
            <a:ext cx="4224528" cy="1810512"/>
          </a:xfrm>
          <a:prstGeom prst="rect">
            <a:avLst/>
          </a:prstGeom>
          <a:solidFill>
            <a:srgbClr val="FFFFFF"/>
          </a:solidFill>
          <a:ln w="10160">
            <a:solidFill>
              <a:srgbClr val="E2E8F0"/>
            </a:solidFill>
            <a:prstDash val="solid"/>
          </a:ln>
          <a:effectLst>
            <a:outerShdw blurRad="63500" dist="25400" dir="8100000" algn="bl" rotWithShape="0">
              <a:srgbClr val="000000">
                <a:alpha val="10000"/>
              </a:srgbClr>
            </a:outerShdw>
          </a:effectLst>
        </p:spPr>
        <p:txBody>
          <a:bodyPr/>
          <a:lstStyle/>
          <a:p>
            <a:endParaRPr lang="en-CA"/>
          </a:p>
        </p:txBody>
      </p:sp>
      <p:sp>
        <p:nvSpPr>
          <p:cNvPr id="18" name="Shape 16"/>
          <p:cNvSpPr/>
          <p:nvPr/>
        </p:nvSpPr>
        <p:spPr>
          <a:xfrm>
            <a:off x="274320" y="2715768"/>
            <a:ext cx="64008" cy="1810512"/>
          </a:xfrm>
          <a:prstGeom prst="rect">
            <a:avLst/>
          </a:prstGeom>
          <a:solidFill>
            <a:srgbClr val="10B981"/>
          </a:solidFill>
          <a:ln w="12700">
            <a:solidFill>
              <a:srgbClr val="10B981"/>
            </a:solidFill>
            <a:prstDash val="solid"/>
          </a:ln>
        </p:spPr>
        <p:txBody>
          <a:bodyPr/>
          <a:lstStyle/>
          <a:p>
            <a:endParaRPr lang="en-CA"/>
          </a:p>
        </p:txBody>
      </p:sp>
      <p:sp>
        <p:nvSpPr>
          <p:cNvPr id="19" name="Text 17"/>
          <p:cNvSpPr/>
          <p:nvPr/>
        </p:nvSpPr>
        <p:spPr>
          <a:xfrm>
            <a:off x="411480" y="2825496"/>
            <a:ext cx="4023360" cy="329184"/>
          </a:xfrm>
          <a:prstGeom prst="rect">
            <a:avLst/>
          </a:prstGeom>
          <a:noFill/>
          <a:ln/>
        </p:spPr>
        <p:txBody>
          <a:bodyPr wrap="square" lIns="0" tIns="0" rIns="0" bIns="0" rtlCol="0" anchor="ctr"/>
          <a:lstStyle/>
          <a:p>
            <a:pPr marL="0" indent="0">
              <a:buNone/>
            </a:pPr>
            <a:r>
              <a:rPr lang="en-US" sz="1050" b="1" dirty="0">
                <a:solidFill>
                  <a:srgbClr val="0D2137"/>
                </a:solidFill>
                <a:latin typeface="Calibri" pitchFamily="34" charset="0"/>
                <a:ea typeface="Calibri" pitchFamily="34" charset="-122"/>
                <a:cs typeface="Calibri" pitchFamily="34" charset="-120"/>
              </a:rPr>
              <a:t>Customer Retention Was Near Perfect Across All Segments</a:t>
            </a:r>
            <a:endParaRPr lang="en-US" sz="1050" dirty="0"/>
          </a:p>
        </p:txBody>
      </p:sp>
      <p:sp>
        <p:nvSpPr>
          <p:cNvPr id="20" name="Text 18"/>
          <p:cNvSpPr/>
          <p:nvPr/>
        </p:nvSpPr>
        <p:spPr>
          <a:xfrm>
            <a:off x="411480" y="3191256"/>
            <a:ext cx="4023360" cy="12435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55.4% of all customers were classified as High Growth during COVID. Only 26 of 1,061 customers stopped shipping entirely, a 97.5% retention rate. Enterprise and Large segments retained 100% of their accounts. Notably, zero new customers were acquired, confirming COVID deepened existing relationships rather than attracting new ones.</a:t>
            </a:r>
            <a:endParaRPr lang="en-US" sz="900" dirty="0"/>
          </a:p>
        </p:txBody>
      </p:sp>
      <p:sp>
        <p:nvSpPr>
          <p:cNvPr id="21" name="Shape 19"/>
          <p:cNvSpPr/>
          <p:nvPr/>
        </p:nvSpPr>
        <p:spPr>
          <a:xfrm>
            <a:off x="4736592" y="2715768"/>
            <a:ext cx="4224528" cy="1810512"/>
          </a:xfrm>
          <a:prstGeom prst="rect">
            <a:avLst/>
          </a:prstGeom>
          <a:solidFill>
            <a:srgbClr val="FFFFFF"/>
          </a:solidFill>
          <a:ln w="10160">
            <a:solidFill>
              <a:srgbClr val="E2E8F0"/>
            </a:solidFill>
            <a:prstDash val="solid"/>
          </a:ln>
          <a:effectLst>
            <a:outerShdw blurRad="63500" dist="25400" dir="8100000" algn="bl" rotWithShape="0">
              <a:srgbClr val="000000">
                <a:alpha val="10000"/>
              </a:srgbClr>
            </a:outerShdw>
          </a:effectLst>
        </p:spPr>
        <p:txBody>
          <a:bodyPr/>
          <a:lstStyle/>
          <a:p>
            <a:endParaRPr lang="en-CA"/>
          </a:p>
        </p:txBody>
      </p:sp>
      <p:sp>
        <p:nvSpPr>
          <p:cNvPr id="22" name="Shape 20"/>
          <p:cNvSpPr/>
          <p:nvPr/>
        </p:nvSpPr>
        <p:spPr>
          <a:xfrm>
            <a:off x="4736592" y="2715768"/>
            <a:ext cx="64008" cy="1810512"/>
          </a:xfrm>
          <a:prstGeom prst="rect">
            <a:avLst/>
          </a:prstGeom>
          <a:solidFill>
            <a:srgbClr val="F59E0B"/>
          </a:solidFill>
          <a:ln w="12700">
            <a:solidFill>
              <a:srgbClr val="F59E0B"/>
            </a:solidFill>
            <a:prstDash val="solid"/>
          </a:ln>
        </p:spPr>
        <p:txBody>
          <a:bodyPr/>
          <a:lstStyle/>
          <a:p>
            <a:endParaRPr lang="en-CA"/>
          </a:p>
        </p:txBody>
      </p:sp>
      <p:sp>
        <p:nvSpPr>
          <p:cNvPr id="23" name="Text 21"/>
          <p:cNvSpPr/>
          <p:nvPr/>
        </p:nvSpPr>
        <p:spPr>
          <a:xfrm>
            <a:off x="4873752" y="2825496"/>
            <a:ext cx="4023360" cy="329184"/>
          </a:xfrm>
          <a:prstGeom prst="rect">
            <a:avLst/>
          </a:prstGeom>
          <a:noFill/>
          <a:ln/>
        </p:spPr>
        <p:txBody>
          <a:bodyPr wrap="square" lIns="0" tIns="0" rIns="0" bIns="0" rtlCol="0" anchor="ctr"/>
          <a:lstStyle/>
          <a:p>
            <a:pPr marL="0" indent="0">
              <a:buNone/>
            </a:pPr>
            <a:r>
              <a:rPr lang="en-US" sz="1050" b="1" dirty="0">
                <a:solidFill>
                  <a:srgbClr val="0D2137"/>
                </a:solidFill>
                <a:latin typeface="Calibri" pitchFamily="34" charset="0"/>
                <a:ea typeface="Calibri" pitchFamily="34" charset="-122"/>
                <a:cs typeface="Calibri" pitchFamily="34" charset="-120"/>
              </a:rPr>
              <a:t>2020 Peak Season Delivered a Record 19.4M Parcels</a:t>
            </a:r>
            <a:endParaRPr lang="en-US" sz="1050" dirty="0"/>
          </a:p>
        </p:txBody>
      </p:sp>
      <p:sp>
        <p:nvSpPr>
          <p:cNvPr id="24" name="Text 22"/>
          <p:cNvSpPr/>
          <p:nvPr/>
        </p:nvSpPr>
        <p:spPr>
          <a:xfrm>
            <a:off x="4873752" y="3191256"/>
            <a:ext cx="4023360" cy="12435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The 2020 holiday peak season (November to January) shipped 19.4M parcels — 26.5% more than the 15.4M recorded in the 2019 peak season. Every single week of the 2020 peak outpaced its 2019 equivalent. Week 49 alone recorded nearly 3M parcels, the highest single-week volume in the dataset.</a:t>
            </a:r>
            <a:endParaRPr lang="en-US" sz="900" dirty="0"/>
          </a:p>
        </p:txBody>
      </p:sp>
      <p:sp>
        <p:nvSpPr>
          <p:cNvPr id="25" name="TextBox 24"/>
          <p:cNvSpPr txBox="1"/>
          <p:nvPr/>
        </p:nvSpPr>
        <p:spPr>
          <a:xfrm>
            <a:off x="8446741" y="4896612"/>
            <a:ext cx="242374" cy="230832"/>
          </a:xfrm>
          <a:prstGeom prst="rect">
            <a:avLst/>
          </a:prstGeom>
          <a:noFill/>
          <a:ln>
            <a:noFill/>
          </a:ln>
        </p:spPr>
        <p:txBody>
          <a:bodyPr wrap="none">
            <a:spAutoFit/>
          </a:bodyPr>
          <a:lstStyle/>
          <a:p>
            <a:pPr algn="ctr"/>
            <a:r>
              <a:rPr sz="900" b="1" dirty="0">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137160"/>
            <a:ext cx="8229600" cy="502920"/>
          </a:xfrm>
          <a:prstGeom prst="rect">
            <a:avLst/>
          </a:prstGeom>
          <a:noFill/>
          <a:ln/>
        </p:spPr>
        <p:txBody>
          <a:bodyPr wrap="square" lIns="0" tIns="0" rIns="0" bIns="0" rtlCol="0" anchor="ctr"/>
          <a:lstStyle/>
          <a:p>
            <a:pPr marL="0" indent="0">
              <a:buNone/>
            </a:pPr>
            <a:r>
              <a:rPr lang="en-US" sz="2600" b="1" dirty="0">
                <a:solidFill>
                  <a:srgbClr val="0D2137"/>
                </a:solidFill>
                <a:latin typeface="Calibri" pitchFamily="34" charset="0"/>
                <a:ea typeface="Calibri" pitchFamily="34" charset="-122"/>
                <a:cs typeface="Calibri" pitchFamily="34" charset="-120"/>
              </a:rPr>
              <a:t>Dataset &amp; Customer Segmentation</a:t>
            </a:r>
            <a:endParaRPr lang="en-US" sz="2600" dirty="0"/>
          </a:p>
        </p:txBody>
      </p:sp>
      <p:sp>
        <p:nvSpPr>
          <p:cNvPr id="7" name="Shape 5"/>
          <p:cNvSpPr/>
          <p:nvPr/>
        </p:nvSpPr>
        <p:spPr>
          <a:xfrm>
            <a:off x="274320" y="777240"/>
            <a:ext cx="1920240" cy="914400"/>
          </a:xfrm>
          <a:prstGeom prst="rect">
            <a:avLst/>
          </a:prstGeom>
          <a:solidFill>
            <a:srgbClr val="0891B2"/>
          </a:solidFill>
          <a:ln w="12700">
            <a:solidFill>
              <a:srgbClr val="0891B2"/>
            </a:solidFill>
            <a:prstDash val="solid"/>
          </a:ln>
          <a:effectLst>
            <a:outerShdw blurRad="101600" dist="38100" dir="8100000" algn="bl" rotWithShape="0">
              <a:srgbClr val="000000">
                <a:alpha val="12000"/>
              </a:srgbClr>
            </a:outerShdw>
          </a:effectLst>
        </p:spPr>
        <p:txBody>
          <a:bodyPr/>
          <a:lstStyle/>
          <a:p>
            <a:endParaRPr lang="en-CA"/>
          </a:p>
        </p:txBody>
      </p:sp>
      <p:sp>
        <p:nvSpPr>
          <p:cNvPr id="8" name="Text 6"/>
          <p:cNvSpPr/>
          <p:nvPr/>
        </p:nvSpPr>
        <p:spPr>
          <a:xfrm>
            <a:off x="274320" y="804672"/>
            <a:ext cx="19202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190,719</a:t>
            </a:r>
            <a:endParaRPr lang="en-US" sz="2200" dirty="0"/>
          </a:p>
        </p:txBody>
      </p:sp>
      <p:sp>
        <p:nvSpPr>
          <p:cNvPr id="9" name="Text 7"/>
          <p:cNvSpPr/>
          <p:nvPr/>
        </p:nvSpPr>
        <p:spPr>
          <a:xfrm>
            <a:off x="274320" y="1280160"/>
            <a:ext cx="1920240" cy="320040"/>
          </a:xfrm>
          <a:prstGeom prst="rect">
            <a:avLst/>
          </a:prstGeom>
          <a:noFill/>
          <a:ln/>
        </p:spPr>
        <p:txBody>
          <a:bodyPr wrap="square" lIns="0" tIns="0" rIns="0" bIns="0" rtlCol="0" anchor="ctr"/>
          <a:lstStyle/>
          <a:p>
            <a:pPr marL="0" indent="0" algn="ctr">
              <a:buNone/>
            </a:pPr>
            <a:r>
              <a:rPr lang="en-US" sz="950" dirty="0">
                <a:solidFill>
                  <a:srgbClr val="E0F7FA"/>
                </a:solidFill>
                <a:latin typeface="Calibri" pitchFamily="34" charset="0"/>
                <a:ea typeface="Calibri" pitchFamily="34" charset="-122"/>
                <a:cs typeface="Calibri" pitchFamily="34" charset="-120"/>
              </a:rPr>
              <a:t>Total Records</a:t>
            </a:r>
            <a:endParaRPr lang="en-US" sz="950" dirty="0"/>
          </a:p>
        </p:txBody>
      </p:sp>
      <p:sp>
        <p:nvSpPr>
          <p:cNvPr id="10" name="Shape 8"/>
          <p:cNvSpPr/>
          <p:nvPr/>
        </p:nvSpPr>
        <p:spPr>
          <a:xfrm>
            <a:off x="2423160" y="777240"/>
            <a:ext cx="1920240" cy="914400"/>
          </a:xfrm>
          <a:prstGeom prst="rect">
            <a:avLst/>
          </a:prstGeom>
          <a:solidFill>
            <a:srgbClr val="0891B2"/>
          </a:solidFill>
          <a:ln w="12700">
            <a:solidFill>
              <a:srgbClr val="0891B2"/>
            </a:solidFill>
            <a:prstDash val="solid"/>
          </a:ln>
          <a:effectLst>
            <a:outerShdw blurRad="101600" dist="38100" dir="8100000" algn="bl" rotWithShape="0">
              <a:srgbClr val="000000">
                <a:alpha val="12000"/>
              </a:srgbClr>
            </a:outerShdw>
          </a:effectLst>
        </p:spPr>
        <p:txBody>
          <a:bodyPr/>
          <a:lstStyle/>
          <a:p>
            <a:endParaRPr lang="en-CA"/>
          </a:p>
        </p:txBody>
      </p:sp>
      <p:sp>
        <p:nvSpPr>
          <p:cNvPr id="11" name="Text 9"/>
          <p:cNvSpPr/>
          <p:nvPr/>
        </p:nvSpPr>
        <p:spPr>
          <a:xfrm>
            <a:off x="2423160" y="804672"/>
            <a:ext cx="19202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1,061</a:t>
            </a:r>
            <a:endParaRPr lang="en-US" sz="2200" dirty="0"/>
          </a:p>
        </p:txBody>
      </p:sp>
      <p:sp>
        <p:nvSpPr>
          <p:cNvPr id="12" name="Text 10"/>
          <p:cNvSpPr/>
          <p:nvPr/>
        </p:nvSpPr>
        <p:spPr>
          <a:xfrm>
            <a:off x="2423160" y="1280160"/>
            <a:ext cx="1920240" cy="320040"/>
          </a:xfrm>
          <a:prstGeom prst="rect">
            <a:avLst/>
          </a:prstGeom>
          <a:noFill/>
          <a:ln/>
        </p:spPr>
        <p:txBody>
          <a:bodyPr wrap="square" lIns="0" tIns="0" rIns="0" bIns="0" rtlCol="0" anchor="ctr"/>
          <a:lstStyle/>
          <a:p>
            <a:pPr marL="0" indent="0" algn="ctr">
              <a:buNone/>
            </a:pPr>
            <a:r>
              <a:rPr lang="en-US" sz="950" dirty="0">
                <a:solidFill>
                  <a:srgbClr val="E0F7FA"/>
                </a:solidFill>
                <a:latin typeface="Calibri" pitchFamily="34" charset="0"/>
                <a:ea typeface="Calibri" pitchFamily="34" charset="-122"/>
                <a:cs typeface="Calibri" pitchFamily="34" charset="-120"/>
              </a:rPr>
              <a:t>Unique Customers</a:t>
            </a:r>
            <a:endParaRPr lang="en-US" sz="950" dirty="0"/>
          </a:p>
        </p:txBody>
      </p:sp>
      <p:sp>
        <p:nvSpPr>
          <p:cNvPr id="13" name="Shape 11"/>
          <p:cNvSpPr/>
          <p:nvPr/>
        </p:nvSpPr>
        <p:spPr>
          <a:xfrm>
            <a:off x="4572000" y="777240"/>
            <a:ext cx="1920240" cy="914400"/>
          </a:xfrm>
          <a:prstGeom prst="rect">
            <a:avLst/>
          </a:prstGeom>
          <a:solidFill>
            <a:srgbClr val="0891B2"/>
          </a:solidFill>
          <a:ln w="12700">
            <a:solidFill>
              <a:srgbClr val="0891B2"/>
            </a:solidFill>
            <a:prstDash val="solid"/>
          </a:ln>
          <a:effectLst>
            <a:outerShdw blurRad="101600" dist="38100" dir="8100000" algn="bl" rotWithShape="0">
              <a:srgbClr val="000000">
                <a:alpha val="12000"/>
              </a:srgbClr>
            </a:outerShdw>
          </a:effectLst>
        </p:spPr>
        <p:txBody>
          <a:bodyPr/>
          <a:lstStyle/>
          <a:p>
            <a:endParaRPr lang="en-CA"/>
          </a:p>
        </p:txBody>
      </p:sp>
      <p:sp>
        <p:nvSpPr>
          <p:cNvPr id="14" name="Text 12"/>
          <p:cNvSpPr/>
          <p:nvPr/>
        </p:nvSpPr>
        <p:spPr>
          <a:xfrm>
            <a:off x="4572000" y="804672"/>
            <a:ext cx="19202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2018–2021</a:t>
            </a:r>
            <a:endParaRPr lang="en-US" sz="2200" dirty="0"/>
          </a:p>
        </p:txBody>
      </p:sp>
      <p:sp>
        <p:nvSpPr>
          <p:cNvPr id="15" name="Text 13"/>
          <p:cNvSpPr/>
          <p:nvPr/>
        </p:nvSpPr>
        <p:spPr>
          <a:xfrm>
            <a:off x="4572000" y="1280160"/>
            <a:ext cx="1920240" cy="320040"/>
          </a:xfrm>
          <a:prstGeom prst="rect">
            <a:avLst/>
          </a:prstGeom>
          <a:noFill/>
          <a:ln/>
        </p:spPr>
        <p:txBody>
          <a:bodyPr wrap="square" lIns="0" tIns="0" rIns="0" bIns="0" rtlCol="0" anchor="ctr"/>
          <a:lstStyle/>
          <a:p>
            <a:pPr marL="0" indent="0" algn="ctr">
              <a:buNone/>
            </a:pPr>
            <a:r>
              <a:rPr lang="en-US" sz="950" dirty="0">
                <a:solidFill>
                  <a:srgbClr val="E0F7FA"/>
                </a:solidFill>
                <a:latin typeface="Calibri" pitchFamily="34" charset="0"/>
                <a:ea typeface="Calibri" pitchFamily="34" charset="-122"/>
                <a:cs typeface="Calibri" pitchFamily="34" charset="-120"/>
              </a:rPr>
              <a:t>Years Covered</a:t>
            </a:r>
            <a:endParaRPr lang="en-US" sz="950" dirty="0"/>
          </a:p>
        </p:txBody>
      </p:sp>
      <p:sp>
        <p:nvSpPr>
          <p:cNvPr id="16" name="Shape 14"/>
          <p:cNvSpPr/>
          <p:nvPr/>
        </p:nvSpPr>
        <p:spPr>
          <a:xfrm>
            <a:off x="6720840" y="777240"/>
            <a:ext cx="1920240" cy="914400"/>
          </a:xfrm>
          <a:prstGeom prst="rect">
            <a:avLst/>
          </a:prstGeom>
          <a:solidFill>
            <a:srgbClr val="0891B2"/>
          </a:solidFill>
          <a:ln w="12700">
            <a:solidFill>
              <a:srgbClr val="0891B2"/>
            </a:solidFill>
            <a:prstDash val="solid"/>
          </a:ln>
          <a:effectLst>
            <a:outerShdw blurRad="101600" dist="38100" dir="8100000" algn="bl" rotWithShape="0">
              <a:srgbClr val="000000">
                <a:alpha val="12000"/>
              </a:srgbClr>
            </a:outerShdw>
          </a:effectLst>
        </p:spPr>
        <p:txBody>
          <a:bodyPr/>
          <a:lstStyle/>
          <a:p>
            <a:endParaRPr lang="en-CA"/>
          </a:p>
        </p:txBody>
      </p:sp>
      <p:sp>
        <p:nvSpPr>
          <p:cNvPr id="17" name="Text 15"/>
          <p:cNvSpPr/>
          <p:nvPr/>
        </p:nvSpPr>
        <p:spPr>
          <a:xfrm>
            <a:off x="6720840" y="804672"/>
            <a:ext cx="19202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$22.00</a:t>
            </a:r>
            <a:endParaRPr lang="en-US" sz="2200" dirty="0"/>
          </a:p>
        </p:txBody>
      </p:sp>
      <p:sp>
        <p:nvSpPr>
          <p:cNvPr id="18" name="Text 16"/>
          <p:cNvSpPr/>
          <p:nvPr/>
        </p:nvSpPr>
        <p:spPr>
          <a:xfrm>
            <a:off x="6720840" y="1280160"/>
            <a:ext cx="1920240" cy="320040"/>
          </a:xfrm>
          <a:prstGeom prst="rect">
            <a:avLst/>
          </a:prstGeom>
          <a:noFill/>
          <a:ln/>
        </p:spPr>
        <p:txBody>
          <a:bodyPr wrap="square" lIns="0" tIns="0" rIns="0" bIns="0" rtlCol="0" anchor="ctr"/>
          <a:lstStyle/>
          <a:p>
            <a:pPr marL="0" indent="0" algn="ctr">
              <a:buNone/>
            </a:pPr>
            <a:r>
              <a:rPr lang="en-US" sz="950" dirty="0">
                <a:solidFill>
                  <a:srgbClr val="E0F7FA"/>
                </a:solidFill>
                <a:latin typeface="Calibri" pitchFamily="34" charset="0"/>
                <a:ea typeface="Calibri" pitchFamily="34" charset="-122"/>
                <a:cs typeface="Calibri" pitchFamily="34" charset="-120"/>
              </a:rPr>
              <a:t>Base Parcel Price</a:t>
            </a:r>
            <a:endParaRPr lang="en-US" sz="950" dirty="0"/>
          </a:p>
        </p:txBody>
      </p:sp>
      <p:sp>
        <p:nvSpPr>
          <p:cNvPr id="19" name="Text 17"/>
          <p:cNvSpPr/>
          <p:nvPr/>
        </p:nvSpPr>
        <p:spPr>
          <a:xfrm>
            <a:off x="274320" y="1920240"/>
            <a:ext cx="8229600" cy="320040"/>
          </a:xfrm>
          <a:prstGeom prst="rect">
            <a:avLst/>
          </a:prstGeom>
          <a:noFill/>
          <a:ln/>
        </p:spPr>
        <p:txBody>
          <a:bodyPr wrap="square" lIns="0" tIns="0" rIns="0" bIns="0" rtlCol="0" anchor="ctr"/>
          <a:lstStyle/>
          <a:p>
            <a:pPr marL="0" indent="0">
              <a:buNone/>
            </a:pPr>
            <a:r>
              <a:rPr lang="en-US" sz="1300" b="1" dirty="0">
                <a:solidFill>
                  <a:srgbClr val="0D2137"/>
                </a:solidFill>
                <a:latin typeface="Calibri" pitchFamily="34" charset="0"/>
                <a:ea typeface="Calibri" pitchFamily="34" charset="-122"/>
                <a:cs typeface="Calibri" pitchFamily="34" charset="-120"/>
              </a:rPr>
              <a:t>Customer Groups — Classified by 2019 Annual Volume</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274320" y="2286000"/>
          <a:ext cx="8046720" cy="2103120"/>
        </p:xfrm>
        <a:graphic>
          <a:graphicData uri="http://schemas.openxmlformats.org/drawingml/2006/table">
            <a:tbl>
              <a:tblPr/>
              <a:tblGrid>
                <a:gridCol w="16459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420624">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 Group</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213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2019 Volume Definition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213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Discount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213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Price/Parcel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213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 Customers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2137"/>
                    </a:solidFill>
                  </a:tcPr>
                </a:tc>
                <a:extLst>
                  <a:ext uri="{0D108BD9-81ED-4DB2-BD59-A6C34878D82A}">
                    <a16:rowId xmlns:a16="http://schemas.microsoft.com/office/drawing/2014/main" val="10000"/>
                  </a:ext>
                </a:extLst>
              </a:tr>
              <a:tr h="420624">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Enterprise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&gt; 500,000 pieces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$17.16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extLst>
                  <a:ext uri="{0D108BD9-81ED-4DB2-BD59-A6C34878D82A}">
                    <a16:rowId xmlns:a16="http://schemas.microsoft.com/office/drawing/2014/main" val="10001"/>
                  </a:ext>
                </a:extLst>
              </a:tr>
              <a:tr h="420624">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Large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200,000 – 500,000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$18.26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10,000 – 200,000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$19.80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174</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extLst>
                  <a:ext uri="{0D108BD9-81ED-4DB2-BD59-A6C34878D82A}">
                    <a16:rowId xmlns:a16="http://schemas.microsoft.com/office/drawing/2014/main" val="10003"/>
                  </a:ext>
                </a:extLst>
              </a:tr>
              <a:tr h="420624">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Small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1,000 – 10,000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$21.12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860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1" name="Shape 18"/>
          <p:cNvSpPr/>
          <p:nvPr/>
        </p:nvSpPr>
        <p:spPr>
          <a:xfrm>
            <a:off x="274320" y="4526280"/>
            <a:ext cx="8595360" cy="502920"/>
          </a:xfrm>
          <a:prstGeom prst="rect">
            <a:avLst/>
          </a:prstGeom>
          <a:solidFill>
            <a:srgbClr val="EFF6FF"/>
          </a:solidFill>
          <a:ln w="12700">
            <a:solidFill>
              <a:srgbClr val="BFDBFE"/>
            </a:solidFill>
            <a:prstDash val="solid"/>
          </a:ln>
        </p:spPr>
        <p:txBody>
          <a:bodyPr/>
          <a:lstStyle/>
          <a:p>
            <a:endParaRPr lang="en-CA"/>
          </a:p>
        </p:txBody>
      </p:sp>
      <p:sp>
        <p:nvSpPr>
          <p:cNvPr id="22" name="Shape 19"/>
          <p:cNvSpPr/>
          <p:nvPr/>
        </p:nvSpPr>
        <p:spPr>
          <a:xfrm>
            <a:off x="274320" y="4526280"/>
            <a:ext cx="64008" cy="502920"/>
          </a:xfrm>
          <a:prstGeom prst="rect">
            <a:avLst/>
          </a:prstGeom>
          <a:solidFill>
            <a:srgbClr val="0891B2"/>
          </a:solidFill>
          <a:ln w="12700">
            <a:solidFill>
              <a:srgbClr val="0891B2"/>
            </a:solidFill>
            <a:prstDash val="solid"/>
          </a:ln>
        </p:spPr>
        <p:txBody>
          <a:bodyPr/>
          <a:lstStyle/>
          <a:p>
            <a:endParaRPr lang="en-CA"/>
          </a:p>
        </p:txBody>
      </p:sp>
      <p:sp>
        <p:nvSpPr>
          <p:cNvPr id="23" name="Text 20"/>
          <p:cNvSpPr/>
          <p:nvPr/>
        </p:nvSpPr>
        <p:spPr>
          <a:xfrm>
            <a:off x="411480" y="4544568"/>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We classify customers using their 2019 volume only — using 2020 figures would mix the classification with the impact we are trying to measure. Enterprise customers (12 in total) account for most of the volume despite being the smallest group in number.</a:t>
            </a:r>
            <a:endParaRPr lang="en-US" sz="900" dirty="0"/>
          </a:p>
        </p:txBody>
      </p:sp>
      <p:sp>
        <p:nvSpPr>
          <p:cNvPr id="24" name="TextBox 23"/>
          <p:cNvSpPr txBox="1"/>
          <p:nvPr/>
        </p:nvSpPr>
        <p:spPr>
          <a:xfrm>
            <a:off x="8469601" y="4896612"/>
            <a:ext cx="242374" cy="230832"/>
          </a:xfrm>
          <a:prstGeom prst="rect">
            <a:avLst/>
          </a:prstGeom>
          <a:noFill/>
          <a:ln>
            <a:noFill/>
          </a:ln>
        </p:spPr>
        <p:txBody>
          <a:bodyPr wrap="none">
            <a:spAutoFit/>
          </a:bodyPr>
          <a:lstStyle/>
          <a:p>
            <a:pPr algn="ctr"/>
            <a:r>
              <a:rPr sz="900" b="1" dirty="0">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137160"/>
            <a:ext cx="8595360" cy="502920"/>
          </a:xfrm>
          <a:prstGeom prst="rect">
            <a:avLst/>
          </a:prstGeom>
          <a:noFill/>
          <a:ln/>
        </p:spPr>
        <p:txBody>
          <a:bodyPr wrap="square" lIns="0" tIns="0" rIns="0" bIns="0" rtlCol="0" anchor="ctr"/>
          <a:lstStyle/>
          <a:p>
            <a:pPr marL="0" indent="0" algn="ctr">
              <a:buNone/>
            </a:pPr>
            <a:r>
              <a:rPr lang="en-US" sz="2200" b="1" dirty="0">
                <a:solidFill>
                  <a:srgbClr val="0D2137"/>
                </a:solidFill>
                <a:latin typeface="Calibri" pitchFamily="34" charset="0"/>
                <a:ea typeface="Calibri" pitchFamily="34" charset="-122"/>
                <a:cs typeface="Calibri" pitchFamily="34" charset="-120"/>
              </a:rPr>
              <a:t>Customer Segmentation — 2019 vs 2020 Classification</a:t>
            </a:r>
            <a:endParaRPr lang="en-US" sz="2200" dirty="0"/>
          </a:p>
        </p:txBody>
      </p:sp>
      <p:sp>
        <p:nvSpPr>
          <p:cNvPr id="10" name="Text 7"/>
          <p:cNvSpPr/>
          <p:nvPr/>
        </p:nvSpPr>
        <p:spPr>
          <a:xfrm>
            <a:off x="411480" y="4544568"/>
            <a:ext cx="8321040" cy="457200"/>
          </a:xfrm>
          <a:prstGeom prst="rect">
            <a:avLst/>
          </a:prstGeom>
          <a:noFill/>
          <a:ln/>
        </p:spPr>
        <p:txBody>
          <a:bodyPr wrap="square" lIns="0" tIns="0" rIns="0" bIns="0" rtlCol="0" anchor="ctr"/>
          <a:lstStyle/>
          <a:p>
            <a:pPr marL="0" indent="0">
              <a:buNone/>
            </a:pPr>
            <a:endParaRPr lang="en-US" sz="900" dirty="0"/>
          </a:p>
        </p:txBody>
      </p:sp>
      <p:graphicFrame>
        <p:nvGraphicFramePr>
          <p:cNvPr id="18" name="Chart 0">
            <a:extLst>
              <a:ext uri="{FF2B5EF4-FFF2-40B4-BE49-F238E27FC236}">
                <a16:creationId xmlns:a16="http://schemas.microsoft.com/office/drawing/2014/main" id="{A6A37127-9CEE-DC35-02D4-25B61ECDE479}"/>
              </a:ext>
            </a:extLst>
          </p:cNvPr>
          <p:cNvGraphicFramePr/>
          <p:nvPr>
            <p:extLst>
              <p:ext uri="{D42A27DB-BD31-4B8C-83A1-F6EECF244321}">
                <p14:modId xmlns:p14="http://schemas.microsoft.com/office/powerpoint/2010/main" val="182399131"/>
              </p:ext>
            </p:extLst>
          </p:nvPr>
        </p:nvGraphicFramePr>
        <p:xfrm>
          <a:off x="426720" y="929640"/>
          <a:ext cx="85953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 7">
            <a:extLst>
              <a:ext uri="{FF2B5EF4-FFF2-40B4-BE49-F238E27FC236}">
                <a16:creationId xmlns:a16="http://schemas.microsoft.com/office/drawing/2014/main" id="{2272FAC6-611C-CC64-DE27-5EFC75E6AE05}"/>
              </a:ext>
            </a:extLst>
          </p:cNvPr>
          <p:cNvSpPr/>
          <p:nvPr/>
        </p:nvSpPr>
        <p:spPr>
          <a:xfrm>
            <a:off x="548640" y="4488180"/>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Applying the same classification thresholds to 2020 volumes reveals that COVID pushed many customers into higher tiers. This has real implications — contracts signed pre-COVID may need renegotiation to reflect the new volume reality heading into 2021.</a:t>
            </a:r>
            <a:endParaRPr lang="en-US" sz="900" dirty="0"/>
          </a:p>
        </p:txBody>
      </p:sp>
      <p:sp>
        <p:nvSpPr>
          <p:cNvPr id="22" name="TextBox 21"/>
          <p:cNvSpPr txBox="1"/>
          <p:nvPr/>
        </p:nvSpPr>
        <p:spPr>
          <a:xfrm>
            <a:off x="8469601" y="4896612"/>
            <a:ext cx="242374" cy="230832"/>
          </a:xfrm>
          <a:prstGeom prst="rect">
            <a:avLst/>
          </a:prstGeom>
          <a:noFill/>
          <a:ln>
            <a:noFill/>
          </a:ln>
        </p:spPr>
        <p:txBody>
          <a:bodyPr wrap="none">
            <a:spAutoFit/>
          </a:bodyPr>
          <a:lstStyle/>
          <a:p>
            <a:pPr algn="ctr"/>
            <a:r>
              <a:rPr sz="900" b="1" dirty="0">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73152"/>
            <a:ext cx="8229600" cy="566928"/>
          </a:xfrm>
          <a:prstGeom prst="rect">
            <a:avLst/>
          </a:prstGeom>
          <a:noFill/>
          <a:ln/>
        </p:spPr>
        <p:txBody>
          <a:bodyPr wrap="square" lIns="0" tIns="0" rIns="0" bIns="0" rtlCol="0" anchor="ctr"/>
          <a:lstStyle/>
          <a:p>
            <a:pPr algn="ctr"/>
            <a:r>
              <a:rPr lang="en-US" b="1" i="1" dirty="0"/>
              <a:t>Question — How did COVID-19 impact ABC Company's parcel business?</a:t>
            </a:r>
            <a:r>
              <a:rPr lang="en-US" i="1" dirty="0"/>
              <a:t> </a:t>
            </a:r>
            <a:endParaRPr lang="en-US" b="1" i="1" dirty="0">
              <a:solidFill>
                <a:srgbClr val="0D2137"/>
              </a:solidFill>
              <a:latin typeface="Calibri" pitchFamily="34" charset="0"/>
              <a:ea typeface="Calibri" pitchFamily="34" charset="-122"/>
              <a:cs typeface="Calibri" pitchFamily="34" charset="-120"/>
            </a:endParaRPr>
          </a:p>
          <a:p>
            <a:pPr marL="0" indent="0" algn="ctr">
              <a:buNone/>
            </a:pPr>
            <a:r>
              <a:rPr lang="en-US" sz="2000" b="1" dirty="0">
                <a:solidFill>
                  <a:srgbClr val="0D2137"/>
                </a:solidFill>
                <a:latin typeface="Calibri" pitchFamily="34" charset="0"/>
                <a:ea typeface="Calibri" pitchFamily="34" charset="-122"/>
                <a:cs typeface="Calibri" pitchFamily="34" charset="-120"/>
              </a:rPr>
              <a:t>Annual Volume: The 2020 Surge</a:t>
            </a:r>
            <a:endParaRPr lang="en-US" sz="2000" dirty="0"/>
          </a:p>
        </p:txBody>
      </p:sp>
      <p:graphicFrame>
        <p:nvGraphicFramePr>
          <p:cNvPr id="7" name="Chart 0"/>
          <p:cNvGraphicFramePr/>
          <p:nvPr>
            <p:extLst>
              <p:ext uri="{D42A27DB-BD31-4B8C-83A1-F6EECF244321}">
                <p14:modId xmlns:p14="http://schemas.microsoft.com/office/powerpoint/2010/main" val="974450864"/>
              </p:ext>
            </p:extLst>
          </p:nvPr>
        </p:nvGraphicFramePr>
        <p:xfrm>
          <a:off x="274320" y="777240"/>
          <a:ext cx="566928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6217920" y="914400"/>
            <a:ext cx="2651760" cy="960120"/>
          </a:xfrm>
          <a:prstGeom prst="rect">
            <a:avLst/>
          </a:prstGeom>
          <a:solidFill>
            <a:srgbClr val="64748B"/>
          </a:solidFill>
          <a:ln w="12700">
            <a:solidFill>
              <a:srgbClr val="64748B"/>
            </a:solidFill>
            <a:prstDash val="solid"/>
          </a:ln>
          <a:effectLst>
            <a:outerShdw blurRad="101600" dist="38100" dir="8100000" algn="bl" rotWithShape="0">
              <a:srgbClr val="000000">
                <a:alpha val="12000"/>
              </a:srgbClr>
            </a:outerShdw>
          </a:effectLst>
        </p:spPr>
        <p:txBody>
          <a:bodyPr/>
          <a:lstStyle/>
          <a:p>
            <a:endParaRPr lang="en-CA"/>
          </a:p>
        </p:txBody>
      </p:sp>
      <p:sp>
        <p:nvSpPr>
          <p:cNvPr id="9" name="Text 6"/>
          <p:cNvSpPr/>
          <p:nvPr/>
        </p:nvSpPr>
        <p:spPr>
          <a:xfrm>
            <a:off x="6217920" y="960120"/>
            <a:ext cx="265176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2019</a:t>
            </a:r>
            <a:endParaRPr lang="en-US" sz="1100" dirty="0"/>
          </a:p>
        </p:txBody>
      </p:sp>
      <p:sp>
        <p:nvSpPr>
          <p:cNvPr id="10" name="Text 7"/>
          <p:cNvSpPr/>
          <p:nvPr/>
        </p:nvSpPr>
        <p:spPr>
          <a:xfrm>
            <a:off x="6217920" y="1170432"/>
            <a:ext cx="2651760" cy="41148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52.8M</a:t>
            </a:r>
            <a:endParaRPr lang="en-US" sz="2600" dirty="0"/>
          </a:p>
        </p:txBody>
      </p:sp>
      <p:sp>
        <p:nvSpPr>
          <p:cNvPr id="11" name="Text 8"/>
          <p:cNvSpPr/>
          <p:nvPr/>
        </p:nvSpPr>
        <p:spPr>
          <a:xfrm>
            <a:off x="6217920" y="1609344"/>
            <a:ext cx="2651760" cy="201168"/>
          </a:xfrm>
          <a:prstGeom prst="rect">
            <a:avLst/>
          </a:prstGeom>
          <a:noFill/>
          <a:ln/>
        </p:spPr>
        <p:txBody>
          <a:bodyPr wrap="square" lIns="0" tIns="0" rIns="0" bIns="0" rtlCol="0" anchor="ctr"/>
          <a:lstStyle/>
          <a:p>
            <a:pPr marL="0" indent="0" algn="ctr">
              <a:buNone/>
            </a:pPr>
            <a:r>
              <a:rPr lang="en-US" sz="1000" dirty="0">
                <a:solidFill>
                  <a:srgbClr val="E0F7FA"/>
                </a:solidFill>
                <a:latin typeface="Calibri" pitchFamily="34" charset="0"/>
                <a:ea typeface="Calibri" pitchFamily="34" charset="-122"/>
                <a:cs typeface="Calibri" pitchFamily="34" charset="-120"/>
              </a:rPr>
              <a:t>+7.6% YoY</a:t>
            </a:r>
            <a:endParaRPr lang="en-US" sz="1000" dirty="0"/>
          </a:p>
        </p:txBody>
      </p:sp>
      <p:sp>
        <p:nvSpPr>
          <p:cNvPr id="12" name="Shape 9"/>
          <p:cNvSpPr/>
          <p:nvPr/>
        </p:nvSpPr>
        <p:spPr>
          <a:xfrm>
            <a:off x="6217920" y="1954530"/>
            <a:ext cx="2651760" cy="960120"/>
          </a:xfrm>
          <a:prstGeom prst="rect">
            <a:avLst/>
          </a:prstGeom>
          <a:solidFill>
            <a:srgbClr val="0891B2"/>
          </a:solidFill>
          <a:ln w="12700">
            <a:solidFill>
              <a:srgbClr val="0891B2"/>
            </a:solidFill>
            <a:prstDash val="solid"/>
          </a:ln>
          <a:effectLst>
            <a:outerShdw blurRad="101600" dist="38100" dir="8100000" algn="bl" rotWithShape="0">
              <a:srgbClr val="000000">
                <a:alpha val="12000"/>
              </a:srgbClr>
            </a:outerShdw>
          </a:effectLst>
        </p:spPr>
        <p:txBody>
          <a:bodyPr/>
          <a:lstStyle/>
          <a:p>
            <a:endParaRPr lang="en-CA"/>
          </a:p>
        </p:txBody>
      </p:sp>
      <p:sp>
        <p:nvSpPr>
          <p:cNvPr id="13" name="Text 10"/>
          <p:cNvSpPr/>
          <p:nvPr/>
        </p:nvSpPr>
        <p:spPr>
          <a:xfrm>
            <a:off x="6217920" y="2103120"/>
            <a:ext cx="265176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2020</a:t>
            </a:r>
            <a:endParaRPr lang="en-US" sz="1100" dirty="0"/>
          </a:p>
        </p:txBody>
      </p:sp>
      <p:sp>
        <p:nvSpPr>
          <p:cNvPr id="14" name="Text 11"/>
          <p:cNvSpPr/>
          <p:nvPr/>
        </p:nvSpPr>
        <p:spPr>
          <a:xfrm>
            <a:off x="6217920" y="2313432"/>
            <a:ext cx="2651760" cy="41148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73.5M</a:t>
            </a:r>
            <a:endParaRPr lang="en-US" sz="2600" dirty="0"/>
          </a:p>
        </p:txBody>
      </p:sp>
      <p:sp>
        <p:nvSpPr>
          <p:cNvPr id="15" name="Text 12"/>
          <p:cNvSpPr/>
          <p:nvPr/>
        </p:nvSpPr>
        <p:spPr>
          <a:xfrm>
            <a:off x="6217920" y="2752344"/>
            <a:ext cx="2651760" cy="201168"/>
          </a:xfrm>
          <a:prstGeom prst="rect">
            <a:avLst/>
          </a:prstGeom>
          <a:noFill/>
          <a:ln/>
        </p:spPr>
        <p:txBody>
          <a:bodyPr wrap="square" lIns="0" tIns="0" rIns="0" bIns="0" rtlCol="0" anchor="ctr"/>
          <a:lstStyle/>
          <a:p>
            <a:pPr marL="0" indent="0" algn="ctr">
              <a:buNone/>
            </a:pPr>
            <a:r>
              <a:rPr lang="en-US" sz="1000" dirty="0">
                <a:solidFill>
                  <a:srgbClr val="E0F7FA"/>
                </a:solidFill>
                <a:latin typeface="Calibri" pitchFamily="34" charset="0"/>
                <a:ea typeface="Calibri" pitchFamily="34" charset="-122"/>
                <a:cs typeface="Calibri" pitchFamily="34" charset="-120"/>
              </a:rPr>
              <a:t>+39.1% YoY</a:t>
            </a:r>
            <a:endParaRPr lang="en-US" sz="1000" dirty="0"/>
          </a:p>
        </p:txBody>
      </p:sp>
      <p:sp>
        <p:nvSpPr>
          <p:cNvPr id="17" name="Text 14"/>
          <p:cNvSpPr/>
          <p:nvPr/>
        </p:nvSpPr>
        <p:spPr>
          <a:xfrm>
            <a:off x="6217920" y="3246120"/>
            <a:ext cx="2651760" cy="228600"/>
          </a:xfrm>
          <a:prstGeom prst="rect">
            <a:avLst/>
          </a:prstGeom>
          <a:noFill/>
          <a:ln/>
        </p:spPr>
        <p:txBody>
          <a:bodyPr wrap="square" lIns="0" tIns="0" rIns="0" bIns="0" rtlCol="0" anchor="ctr"/>
          <a:lstStyle/>
          <a:p>
            <a:pPr marL="0" indent="0" algn="ctr">
              <a:buNone/>
            </a:pPr>
            <a:endParaRPr lang="en-US" sz="1100" dirty="0"/>
          </a:p>
        </p:txBody>
      </p:sp>
      <p:sp>
        <p:nvSpPr>
          <p:cNvPr id="18" name="Text 15"/>
          <p:cNvSpPr/>
          <p:nvPr/>
        </p:nvSpPr>
        <p:spPr>
          <a:xfrm>
            <a:off x="6217920" y="3456432"/>
            <a:ext cx="2651760" cy="411480"/>
          </a:xfrm>
          <a:prstGeom prst="rect">
            <a:avLst/>
          </a:prstGeom>
          <a:noFill/>
          <a:ln/>
        </p:spPr>
        <p:txBody>
          <a:bodyPr wrap="square" lIns="0" tIns="0" rIns="0" bIns="0" rtlCol="0" anchor="ctr"/>
          <a:lstStyle/>
          <a:p>
            <a:pPr marL="0" indent="0" algn="ctr">
              <a:buNone/>
            </a:pPr>
            <a:endParaRPr lang="en-US" sz="2600" dirty="0"/>
          </a:p>
        </p:txBody>
      </p:sp>
      <p:sp>
        <p:nvSpPr>
          <p:cNvPr id="19" name="Text 16"/>
          <p:cNvSpPr/>
          <p:nvPr/>
        </p:nvSpPr>
        <p:spPr>
          <a:xfrm>
            <a:off x="6217920" y="3901783"/>
            <a:ext cx="2651760" cy="201168"/>
          </a:xfrm>
          <a:prstGeom prst="rect">
            <a:avLst/>
          </a:prstGeom>
          <a:noFill/>
          <a:ln/>
        </p:spPr>
        <p:txBody>
          <a:bodyPr wrap="square" lIns="0" tIns="0" rIns="0" bIns="0" rtlCol="0" anchor="ctr"/>
          <a:lstStyle/>
          <a:p>
            <a:pPr marL="0" indent="0" algn="ctr">
              <a:buNone/>
            </a:pPr>
            <a:r>
              <a:rPr lang="en-US" sz="1000" dirty="0">
                <a:solidFill>
                  <a:srgbClr val="E0F7FA"/>
                </a:solidFill>
                <a:latin typeface="Calibri" pitchFamily="34" charset="0"/>
                <a:ea typeface="Calibri" pitchFamily="34" charset="-122"/>
                <a:cs typeface="Calibri" pitchFamily="34" charset="-120"/>
              </a:rPr>
              <a:t>-33.7% YoY</a:t>
            </a:r>
            <a:endParaRPr lang="en-US" sz="1000" dirty="0"/>
          </a:p>
        </p:txBody>
      </p:sp>
      <p:sp>
        <p:nvSpPr>
          <p:cNvPr id="20" name="Shape 17"/>
          <p:cNvSpPr/>
          <p:nvPr/>
        </p:nvSpPr>
        <p:spPr>
          <a:xfrm>
            <a:off x="274320" y="4526280"/>
            <a:ext cx="8595360" cy="502920"/>
          </a:xfrm>
          <a:prstGeom prst="rect">
            <a:avLst/>
          </a:prstGeom>
          <a:solidFill>
            <a:srgbClr val="EFF6FF"/>
          </a:solidFill>
          <a:ln w="12700">
            <a:solidFill>
              <a:srgbClr val="BFDBFE"/>
            </a:solidFill>
            <a:prstDash val="solid"/>
          </a:ln>
        </p:spPr>
        <p:txBody>
          <a:bodyPr/>
          <a:lstStyle/>
          <a:p>
            <a:endParaRPr lang="en-CA"/>
          </a:p>
        </p:txBody>
      </p:sp>
      <p:sp>
        <p:nvSpPr>
          <p:cNvPr id="21" name="Shape 18"/>
          <p:cNvSpPr/>
          <p:nvPr/>
        </p:nvSpPr>
        <p:spPr>
          <a:xfrm>
            <a:off x="274320" y="4526280"/>
            <a:ext cx="64008" cy="502920"/>
          </a:xfrm>
          <a:prstGeom prst="rect">
            <a:avLst/>
          </a:prstGeom>
          <a:solidFill>
            <a:srgbClr val="0891B2"/>
          </a:solidFill>
          <a:ln w="12700">
            <a:solidFill>
              <a:srgbClr val="0891B2"/>
            </a:solidFill>
            <a:prstDash val="solid"/>
          </a:ln>
        </p:spPr>
        <p:txBody>
          <a:bodyPr/>
          <a:lstStyle/>
          <a:p>
            <a:endParaRPr lang="en-CA"/>
          </a:p>
        </p:txBody>
      </p:sp>
      <p:sp>
        <p:nvSpPr>
          <p:cNvPr id="22" name="Text 19"/>
          <p:cNvSpPr/>
          <p:nvPr/>
        </p:nvSpPr>
        <p:spPr>
          <a:xfrm>
            <a:off x="411480" y="4544568"/>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2020 stands out immediately — a 39% jump in a single year is unprecedented. The pre-COVID growth trend from 2018 to 2019 was a steady 7.6%.</a:t>
            </a:r>
            <a:endParaRPr lang="en-US" sz="900" dirty="0"/>
          </a:p>
        </p:txBody>
      </p:sp>
      <p:sp>
        <p:nvSpPr>
          <p:cNvPr id="23" name="TextBox 22"/>
          <p:cNvSpPr txBox="1"/>
          <p:nvPr/>
        </p:nvSpPr>
        <p:spPr>
          <a:xfrm>
            <a:off x="8469601" y="4896612"/>
            <a:ext cx="242374" cy="230832"/>
          </a:xfrm>
          <a:prstGeom prst="rect">
            <a:avLst/>
          </a:prstGeom>
          <a:noFill/>
          <a:ln>
            <a:noFill/>
          </a:ln>
        </p:spPr>
        <p:txBody>
          <a:bodyPr wrap="none">
            <a:spAutoFit/>
          </a:bodyPr>
          <a:lstStyle/>
          <a:p>
            <a:pPr algn="ctr"/>
            <a:r>
              <a:rPr sz="900" b="1" dirty="0">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41148"/>
            <a:ext cx="8229600" cy="598932"/>
          </a:xfrm>
          <a:prstGeom prst="rect">
            <a:avLst/>
          </a:prstGeom>
          <a:noFill/>
          <a:ln/>
        </p:spPr>
        <p:txBody>
          <a:bodyPr wrap="square" lIns="0" tIns="0" rIns="0" bIns="0" rtlCol="0" anchor="ctr"/>
          <a:lstStyle/>
          <a:p>
            <a:pPr algn="ctr"/>
            <a:r>
              <a:rPr lang="en-US" b="1" i="1" dirty="0"/>
              <a:t>Question - When were customer volumes first impacted?</a:t>
            </a:r>
            <a:endParaRPr lang="en-US" b="1" i="1" dirty="0">
              <a:solidFill>
                <a:srgbClr val="0D2137"/>
              </a:solidFill>
              <a:latin typeface="Calibri" pitchFamily="34" charset="0"/>
              <a:ea typeface="Calibri" pitchFamily="34" charset="-122"/>
              <a:cs typeface="Calibri" pitchFamily="34" charset="-120"/>
            </a:endParaRPr>
          </a:p>
          <a:p>
            <a:pPr marL="0" indent="0" algn="ctr">
              <a:buNone/>
            </a:pPr>
            <a:r>
              <a:rPr lang="en-US" sz="2000" b="1" dirty="0">
                <a:solidFill>
                  <a:srgbClr val="0D2137"/>
                </a:solidFill>
                <a:latin typeface="Calibri" pitchFamily="34" charset="0"/>
                <a:ea typeface="Calibri" pitchFamily="34" charset="-122"/>
                <a:cs typeface="Calibri" pitchFamily="34" charset="-120"/>
              </a:rPr>
              <a:t>Weekly Volume 2019 vs 2020</a:t>
            </a:r>
            <a:endParaRPr lang="en-US" sz="2000" dirty="0"/>
          </a:p>
        </p:txBody>
      </p:sp>
      <p:graphicFrame>
        <p:nvGraphicFramePr>
          <p:cNvPr id="7" name="Chart 0"/>
          <p:cNvGraphicFramePr/>
          <p:nvPr>
            <p:extLst>
              <p:ext uri="{D42A27DB-BD31-4B8C-83A1-F6EECF244321}">
                <p14:modId xmlns:p14="http://schemas.microsoft.com/office/powerpoint/2010/main" val="2957855700"/>
              </p:ext>
            </p:extLst>
          </p:nvPr>
        </p:nvGraphicFramePr>
        <p:xfrm>
          <a:off x="274320" y="777240"/>
          <a:ext cx="85953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2651759" y="736092"/>
            <a:ext cx="18000" cy="3035809"/>
          </a:xfrm>
          <a:prstGeom prst="rect">
            <a:avLst/>
          </a:prstGeom>
          <a:solidFill>
            <a:srgbClr val="EF4444"/>
          </a:solidFill>
          <a:ln w="9525">
            <a:solidFill>
              <a:srgbClr val="EF4444"/>
            </a:solidFill>
            <a:prstDash val="sysDot"/>
          </a:ln>
        </p:spPr>
        <p:txBody>
          <a:bodyPr/>
          <a:lstStyle/>
          <a:p>
            <a:endParaRPr lang="en-CA"/>
          </a:p>
        </p:txBody>
      </p:sp>
      <p:sp>
        <p:nvSpPr>
          <p:cNvPr id="9" name="Shape 6"/>
          <p:cNvSpPr/>
          <p:nvPr/>
        </p:nvSpPr>
        <p:spPr>
          <a:xfrm>
            <a:off x="2029968" y="914400"/>
            <a:ext cx="1280160" cy="274465"/>
          </a:xfrm>
          <a:prstGeom prst="rect">
            <a:avLst/>
          </a:prstGeom>
          <a:solidFill>
            <a:srgbClr val="EF4444"/>
          </a:solidFill>
          <a:ln w="12700">
            <a:solidFill>
              <a:srgbClr val="EF4444"/>
            </a:solidFill>
            <a:prstDash val="solid"/>
          </a:ln>
        </p:spPr>
        <p:txBody>
          <a:bodyPr/>
          <a:lstStyle/>
          <a:p>
            <a:endParaRPr lang="en-CA"/>
          </a:p>
        </p:txBody>
      </p:sp>
      <p:sp>
        <p:nvSpPr>
          <p:cNvPr id="10" name="Text 7"/>
          <p:cNvSpPr/>
          <p:nvPr/>
        </p:nvSpPr>
        <p:spPr>
          <a:xfrm>
            <a:off x="2029968" y="914400"/>
            <a:ext cx="1280160" cy="317965"/>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 W12: COVID</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Lockdowns Begin</a:t>
            </a:r>
            <a:endParaRPr lang="en-US" sz="800" dirty="0"/>
          </a:p>
        </p:txBody>
      </p:sp>
      <p:sp>
        <p:nvSpPr>
          <p:cNvPr id="11" name="Shape 8"/>
          <p:cNvSpPr/>
          <p:nvPr/>
        </p:nvSpPr>
        <p:spPr>
          <a:xfrm>
            <a:off x="274320" y="4526280"/>
            <a:ext cx="8595360" cy="502920"/>
          </a:xfrm>
          <a:prstGeom prst="rect">
            <a:avLst/>
          </a:prstGeom>
          <a:solidFill>
            <a:srgbClr val="EFF6FF"/>
          </a:solidFill>
          <a:ln w="12700">
            <a:solidFill>
              <a:srgbClr val="BFDBFE"/>
            </a:solidFill>
            <a:prstDash val="solid"/>
          </a:ln>
        </p:spPr>
        <p:txBody>
          <a:bodyPr/>
          <a:lstStyle/>
          <a:p>
            <a:endParaRPr lang="en-CA"/>
          </a:p>
        </p:txBody>
      </p:sp>
      <p:sp>
        <p:nvSpPr>
          <p:cNvPr id="12" name="Shape 9"/>
          <p:cNvSpPr/>
          <p:nvPr/>
        </p:nvSpPr>
        <p:spPr>
          <a:xfrm>
            <a:off x="274320" y="4526280"/>
            <a:ext cx="64008" cy="502920"/>
          </a:xfrm>
          <a:prstGeom prst="rect">
            <a:avLst/>
          </a:prstGeom>
          <a:solidFill>
            <a:srgbClr val="0891B2"/>
          </a:solidFill>
          <a:ln w="12700">
            <a:solidFill>
              <a:srgbClr val="0891B2"/>
            </a:solidFill>
            <a:prstDash val="solid"/>
          </a:ln>
        </p:spPr>
        <p:txBody>
          <a:bodyPr/>
          <a:lstStyle/>
          <a:p>
            <a:endParaRPr lang="en-CA"/>
          </a:p>
        </p:txBody>
      </p:sp>
      <p:sp>
        <p:nvSpPr>
          <p:cNvPr id="13" name="Text 10"/>
          <p:cNvSpPr/>
          <p:nvPr/>
        </p:nvSpPr>
        <p:spPr>
          <a:xfrm>
            <a:off x="411480" y="4544568"/>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The two lines track almost identically until Week 12. The divergence is sharp and immediate — by Week 16 we are at +128% YoY. This is not gradual; it is a structural shift. Notice also that 2020 never returns to 2019 levels for the rest of the year, confirming that e-commerce adoption was permanent, not temporary.</a:t>
            </a:r>
            <a:endParaRPr lang="en-US" sz="900" dirty="0"/>
          </a:p>
        </p:txBody>
      </p:sp>
      <p:sp>
        <p:nvSpPr>
          <p:cNvPr id="14" name="TextBox 13"/>
          <p:cNvSpPr txBox="1"/>
          <p:nvPr/>
        </p:nvSpPr>
        <p:spPr>
          <a:xfrm>
            <a:off x="8469601" y="4896612"/>
            <a:ext cx="242374" cy="230832"/>
          </a:xfrm>
          <a:prstGeom prst="rect">
            <a:avLst/>
          </a:prstGeom>
          <a:noFill/>
          <a:ln>
            <a:noFill/>
          </a:ln>
        </p:spPr>
        <p:txBody>
          <a:bodyPr wrap="none">
            <a:spAutoFit/>
          </a:bodyPr>
          <a:lstStyle/>
          <a:p>
            <a:pPr algn="ctr"/>
            <a:r>
              <a:rPr sz="900" b="1" dirty="0">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Text 2"/>
          <p:cNvSpPr/>
          <p:nvPr/>
        </p:nvSpPr>
        <p:spPr>
          <a:xfrm>
            <a:off x="274320" y="137160"/>
            <a:ext cx="8229600" cy="502920"/>
          </a:xfrm>
          <a:prstGeom prst="rect">
            <a:avLst/>
          </a:prstGeom>
          <a:noFill/>
          <a:ln/>
        </p:spPr>
        <p:txBody>
          <a:bodyPr wrap="square" lIns="0" tIns="0" rIns="0" bIns="0" rtlCol="0" anchor="ctr"/>
          <a:lstStyle/>
          <a:p>
            <a:pPr algn="ctr"/>
            <a:r>
              <a:rPr lang="en-US" b="1" i="1" dirty="0"/>
              <a:t>Question - How did COVID impact peak season in 2020?</a:t>
            </a:r>
            <a:endParaRPr lang="en-US" b="1" i="1" dirty="0">
              <a:solidFill>
                <a:srgbClr val="0D2137"/>
              </a:solidFill>
              <a:latin typeface="Calibri" pitchFamily="34" charset="0"/>
              <a:ea typeface="Calibri" pitchFamily="34" charset="-122"/>
              <a:cs typeface="Calibri" pitchFamily="34" charset="-120"/>
            </a:endParaRPr>
          </a:p>
          <a:p>
            <a:pPr marL="0" indent="0" algn="ctr">
              <a:buNone/>
            </a:pPr>
            <a:r>
              <a:rPr lang="en-US" sz="2000" b="1" dirty="0">
                <a:solidFill>
                  <a:srgbClr val="0D2137"/>
                </a:solidFill>
                <a:latin typeface="Calibri" pitchFamily="34" charset="0"/>
                <a:ea typeface="Calibri" pitchFamily="34" charset="-122"/>
                <a:cs typeface="Calibri" pitchFamily="34" charset="-120"/>
              </a:rPr>
              <a:t>Peak Season 2019 vs 2020</a:t>
            </a:r>
            <a:endParaRPr lang="en-US" sz="2000" dirty="0"/>
          </a:p>
        </p:txBody>
      </p:sp>
      <p:sp>
        <p:nvSpPr>
          <p:cNvPr id="5" name="Shape 3"/>
          <p:cNvSpPr/>
          <p:nvPr/>
        </p:nvSpPr>
        <p:spPr>
          <a:xfrm>
            <a:off x="457200" y="822960"/>
            <a:ext cx="3931920" cy="2286000"/>
          </a:xfrm>
          <a:prstGeom prst="rect">
            <a:avLst/>
          </a:prstGeom>
          <a:solidFill>
            <a:srgbClr val="64748B"/>
          </a:solidFill>
          <a:ln w="12700">
            <a:solidFill>
              <a:srgbClr val="64748B"/>
            </a:solidFill>
            <a:prstDash val="solid"/>
          </a:ln>
          <a:effectLst>
            <a:outerShdw blurRad="101600" dist="38100" dir="8100000" algn="bl" rotWithShape="0">
              <a:srgbClr val="000000">
                <a:alpha val="12000"/>
              </a:srgbClr>
            </a:outerShdw>
          </a:effectLst>
        </p:spPr>
        <p:txBody>
          <a:bodyPr/>
          <a:lstStyle/>
          <a:p>
            <a:endParaRPr lang="en-CA"/>
          </a:p>
        </p:txBody>
      </p:sp>
      <p:sp>
        <p:nvSpPr>
          <p:cNvPr id="6" name="Text 4"/>
          <p:cNvSpPr/>
          <p:nvPr/>
        </p:nvSpPr>
        <p:spPr>
          <a:xfrm>
            <a:off x="457200" y="868680"/>
            <a:ext cx="3931920" cy="594360"/>
          </a:xfrm>
          <a:prstGeom prst="rect">
            <a:avLst/>
          </a:prstGeom>
          <a:noFill/>
          <a:ln/>
        </p:spPr>
        <p:txBody>
          <a:bodyPr wrap="square" lIns="0" tIns="0" rIns="0" bIns="0" rtlCol="0" anchor="ctr"/>
          <a:lstStyle/>
          <a:p>
            <a:pPr marL="0" indent="0" algn="ctr">
              <a:buNone/>
            </a:pPr>
            <a:r>
              <a:rPr lang="en-US" sz="1200" dirty="0">
                <a:solidFill>
                  <a:srgbClr val="E0F7FA"/>
                </a:solidFill>
                <a:latin typeface="Calibri" pitchFamily="34" charset="0"/>
                <a:ea typeface="Calibri" pitchFamily="34" charset="-122"/>
                <a:cs typeface="Calibri" pitchFamily="34" charset="-120"/>
              </a:rPr>
              <a:t>2019 Peak Season</a:t>
            </a:r>
            <a:endParaRPr lang="en-US" sz="1200" dirty="0"/>
          </a:p>
          <a:p>
            <a:pPr marL="0" indent="0" algn="ctr">
              <a:buNone/>
            </a:pPr>
            <a:r>
              <a:rPr lang="en-US" sz="1200" dirty="0">
                <a:solidFill>
                  <a:srgbClr val="E0F7FA"/>
                </a:solidFill>
                <a:latin typeface="Calibri" pitchFamily="34" charset="0"/>
                <a:ea typeface="Calibri" pitchFamily="34" charset="-122"/>
                <a:cs typeface="Calibri" pitchFamily="34" charset="-120"/>
              </a:rPr>
              <a:t>(Nov 4, 2019 – Jan 20, 2020)</a:t>
            </a:r>
            <a:endParaRPr lang="en-US" sz="1200" dirty="0"/>
          </a:p>
        </p:txBody>
      </p:sp>
      <p:sp>
        <p:nvSpPr>
          <p:cNvPr id="7" name="Text 5"/>
          <p:cNvSpPr/>
          <p:nvPr/>
        </p:nvSpPr>
        <p:spPr>
          <a:xfrm>
            <a:off x="457200" y="1417320"/>
            <a:ext cx="3931920" cy="914400"/>
          </a:xfrm>
          <a:prstGeom prst="rect">
            <a:avLst/>
          </a:prstGeom>
          <a:noFill/>
          <a:ln/>
        </p:spPr>
        <p:txBody>
          <a:bodyPr wrap="square" lIns="0" tIns="0" rIns="0" bIns="0"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15.4M</a:t>
            </a:r>
            <a:endParaRPr lang="en-US" sz="5200" dirty="0"/>
          </a:p>
        </p:txBody>
      </p:sp>
      <p:sp>
        <p:nvSpPr>
          <p:cNvPr id="8" name="Text 6"/>
          <p:cNvSpPr/>
          <p:nvPr/>
        </p:nvSpPr>
        <p:spPr>
          <a:xfrm>
            <a:off x="457200" y="2377440"/>
            <a:ext cx="3931920" cy="365760"/>
          </a:xfrm>
          <a:prstGeom prst="rect">
            <a:avLst/>
          </a:prstGeom>
          <a:noFill/>
          <a:ln/>
        </p:spPr>
        <p:txBody>
          <a:bodyPr wrap="square" lIns="0" tIns="0" rIns="0" bIns="0" rtlCol="0" anchor="ctr"/>
          <a:lstStyle/>
          <a:p>
            <a:pPr marL="0" indent="0" algn="ctr">
              <a:buNone/>
            </a:pPr>
            <a:r>
              <a:rPr lang="en-US" sz="1200" dirty="0">
                <a:solidFill>
                  <a:srgbClr val="E0F7FA"/>
                </a:solidFill>
                <a:latin typeface="Calibri" pitchFamily="34" charset="0"/>
                <a:ea typeface="Calibri" pitchFamily="34" charset="-122"/>
                <a:cs typeface="Calibri" pitchFamily="34" charset="-120"/>
              </a:rPr>
              <a:t>Parcels Shipped</a:t>
            </a:r>
            <a:endParaRPr lang="en-US" sz="1200" dirty="0"/>
          </a:p>
        </p:txBody>
      </p:sp>
      <p:sp>
        <p:nvSpPr>
          <p:cNvPr id="9" name="Shape 7"/>
          <p:cNvSpPr/>
          <p:nvPr/>
        </p:nvSpPr>
        <p:spPr>
          <a:xfrm>
            <a:off x="4846320" y="822960"/>
            <a:ext cx="3931920" cy="2286000"/>
          </a:xfrm>
          <a:prstGeom prst="rect">
            <a:avLst/>
          </a:prstGeom>
          <a:solidFill>
            <a:srgbClr val="0891B2"/>
          </a:solidFill>
          <a:ln w="12700">
            <a:solidFill>
              <a:srgbClr val="0891B2"/>
            </a:solidFill>
            <a:prstDash val="solid"/>
          </a:ln>
          <a:effectLst>
            <a:outerShdw blurRad="101600" dist="38100" dir="8100000" algn="bl" rotWithShape="0">
              <a:srgbClr val="000000">
                <a:alpha val="12000"/>
              </a:srgbClr>
            </a:outerShdw>
          </a:effectLst>
        </p:spPr>
        <p:txBody>
          <a:bodyPr/>
          <a:lstStyle/>
          <a:p>
            <a:endParaRPr lang="en-CA"/>
          </a:p>
        </p:txBody>
      </p:sp>
      <p:sp>
        <p:nvSpPr>
          <p:cNvPr id="10" name="Text 8"/>
          <p:cNvSpPr/>
          <p:nvPr/>
        </p:nvSpPr>
        <p:spPr>
          <a:xfrm>
            <a:off x="4846320" y="868680"/>
            <a:ext cx="3931920" cy="594360"/>
          </a:xfrm>
          <a:prstGeom prst="rect">
            <a:avLst/>
          </a:prstGeom>
          <a:noFill/>
          <a:ln/>
        </p:spPr>
        <p:txBody>
          <a:bodyPr wrap="square" lIns="0" tIns="0" rIns="0" bIns="0" rtlCol="0" anchor="ctr"/>
          <a:lstStyle/>
          <a:p>
            <a:pPr marL="0" indent="0" algn="ctr">
              <a:buNone/>
            </a:pPr>
            <a:r>
              <a:rPr lang="en-US" sz="1200" dirty="0">
                <a:solidFill>
                  <a:srgbClr val="E0F7FA"/>
                </a:solidFill>
                <a:latin typeface="Calibri" pitchFamily="34" charset="0"/>
                <a:ea typeface="Calibri" pitchFamily="34" charset="-122"/>
                <a:cs typeface="Calibri" pitchFamily="34" charset="-120"/>
              </a:rPr>
              <a:t>2020 Peak Season</a:t>
            </a:r>
            <a:endParaRPr lang="en-US" sz="1200" dirty="0"/>
          </a:p>
          <a:p>
            <a:pPr marL="0" indent="0" algn="ctr">
              <a:buNone/>
            </a:pPr>
            <a:r>
              <a:rPr lang="en-US" sz="1200" dirty="0">
                <a:solidFill>
                  <a:srgbClr val="E0F7FA"/>
                </a:solidFill>
                <a:latin typeface="Calibri" pitchFamily="34" charset="0"/>
                <a:ea typeface="Calibri" pitchFamily="34" charset="-122"/>
                <a:cs typeface="Calibri" pitchFamily="34" charset="-120"/>
              </a:rPr>
              <a:t>(Nov 2, 2020 – Jan 17, 2021)</a:t>
            </a:r>
            <a:endParaRPr lang="en-US" sz="1200" dirty="0"/>
          </a:p>
        </p:txBody>
      </p:sp>
      <p:sp>
        <p:nvSpPr>
          <p:cNvPr id="11" name="Text 9"/>
          <p:cNvSpPr/>
          <p:nvPr/>
        </p:nvSpPr>
        <p:spPr>
          <a:xfrm>
            <a:off x="4846320" y="1417320"/>
            <a:ext cx="3931920" cy="914400"/>
          </a:xfrm>
          <a:prstGeom prst="rect">
            <a:avLst/>
          </a:prstGeom>
          <a:noFill/>
          <a:ln/>
        </p:spPr>
        <p:txBody>
          <a:bodyPr wrap="square" lIns="0" tIns="0" rIns="0" bIns="0"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19.4M</a:t>
            </a:r>
            <a:endParaRPr lang="en-US" sz="5200" dirty="0"/>
          </a:p>
        </p:txBody>
      </p:sp>
      <p:sp>
        <p:nvSpPr>
          <p:cNvPr id="12" name="Text 10"/>
          <p:cNvSpPr/>
          <p:nvPr/>
        </p:nvSpPr>
        <p:spPr>
          <a:xfrm>
            <a:off x="4846320" y="2377440"/>
            <a:ext cx="3931920" cy="365760"/>
          </a:xfrm>
          <a:prstGeom prst="rect">
            <a:avLst/>
          </a:prstGeom>
          <a:noFill/>
          <a:ln/>
        </p:spPr>
        <p:txBody>
          <a:bodyPr wrap="square" lIns="0" tIns="0" rIns="0" bIns="0" rtlCol="0" anchor="ctr"/>
          <a:lstStyle/>
          <a:p>
            <a:pPr marL="0" indent="0" algn="ctr">
              <a:buNone/>
            </a:pPr>
            <a:r>
              <a:rPr lang="en-US" sz="1200" dirty="0">
                <a:solidFill>
                  <a:srgbClr val="E0F7FA"/>
                </a:solidFill>
                <a:latin typeface="Calibri" pitchFamily="34" charset="0"/>
                <a:ea typeface="Calibri" pitchFamily="34" charset="-122"/>
                <a:cs typeface="Calibri" pitchFamily="34" charset="-120"/>
              </a:rPr>
              <a:t>Parcels Shipped</a:t>
            </a:r>
            <a:endParaRPr lang="en-US" sz="1200" dirty="0"/>
          </a:p>
        </p:txBody>
      </p:sp>
      <p:sp>
        <p:nvSpPr>
          <p:cNvPr id="13" name="Shape 11"/>
          <p:cNvSpPr/>
          <p:nvPr/>
        </p:nvSpPr>
        <p:spPr>
          <a:xfrm>
            <a:off x="4114800" y="1600200"/>
            <a:ext cx="914400" cy="457200"/>
          </a:xfrm>
          <a:prstGeom prst="rect">
            <a:avLst/>
          </a:prstGeom>
          <a:solidFill>
            <a:srgbClr val="10B981"/>
          </a:solidFill>
          <a:ln w="12700">
            <a:solidFill>
              <a:srgbClr val="10B981"/>
            </a:solidFill>
            <a:prstDash val="solid"/>
          </a:ln>
          <a:effectLst>
            <a:outerShdw blurRad="101600" dist="38100" dir="8100000" algn="bl" rotWithShape="0">
              <a:srgbClr val="000000">
                <a:alpha val="12000"/>
              </a:srgbClr>
            </a:outerShdw>
          </a:effectLst>
        </p:spPr>
        <p:txBody>
          <a:bodyPr/>
          <a:lstStyle/>
          <a:p>
            <a:endParaRPr lang="en-CA"/>
          </a:p>
        </p:txBody>
      </p:sp>
      <p:sp>
        <p:nvSpPr>
          <p:cNvPr id="14" name="Text 12"/>
          <p:cNvSpPr/>
          <p:nvPr/>
        </p:nvSpPr>
        <p:spPr>
          <a:xfrm>
            <a:off x="4114800" y="1600200"/>
            <a:ext cx="9144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+26.5%</a:t>
            </a:r>
            <a:endParaRPr lang="en-US" sz="1400" dirty="0"/>
          </a:p>
        </p:txBody>
      </p:sp>
      <p:graphicFrame>
        <p:nvGraphicFramePr>
          <p:cNvPr id="15" name="Chart 0"/>
          <p:cNvGraphicFramePr/>
          <p:nvPr>
            <p:extLst>
              <p:ext uri="{D42A27DB-BD31-4B8C-83A1-F6EECF244321}">
                <p14:modId xmlns:p14="http://schemas.microsoft.com/office/powerpoint/2010/main" val="1981224107"/>
              </p:ext>
            </p:extLst>
          </p:nvPr>
        </p:nvGraphicFramePr>
        <p:xfrm>
          <a:off x="274320" y="3112658"/>
          <a:ext cx="8595360" cy="1481846"/>
        </p:xfrm>
        <a:graphic>
          <a:graphicData uri="http://schemas.openxmlformats.org/drawingml/2006/chart">
            <c:chart xmlns:c="http://schemas.openxmlformats.org/drawingml/2006/chart" xmlns:r="http://schemas.openxmlformats.org/officeDocument/2006/relationships" r:id="rId3"/>
          </a:graphicData>
        </a:graphic>
      </p:graphicFrame>
      <p:sp>
        <p:nvSpPr>
          <p:cNvPr id="16" name="Shape 13"/>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17" name="Text 14"/>
          <p:cNvSpPr/>
          <p:nvPr/>
        </p:nvSpPr>
        <p:spPr>
          <a:xfrm>
            <a:off x="274320" y="4727966"/>
            <a:ext cx="8229600" cy="278374"/>
          </a:xfrm>
          <a:prstGeom prst="rect">
            <a:avLst/>
          </a:prstGeom>
          <a:noFill/>
          <a:ln/>
        </p:spPr>
        <p:txBody>
          <a:bodyPr wrap="square" lIns="0" tIns="0" rIns="0" bIns="0" rtlCol="0" anchor="ctr"/>
          <a:lstStyle/>
          <a:p>
            <a:r>
              <a:rPr lang="en-US" sz="800" i="1" dirty="0">
                <a:solidFill>
                  <a:srgbClr val="334155"/>
                </a:solidFill>
                <a:latin typeface="Calibri" pitchFamily="34" charset="0"/>
                <a:ea typeface="Calibri" pitchFamily="34" charset="-122"/>
                <a:cs typeface="Calibri" pitchFamily="34" charset="-120"/>
              </a:rPr>
              <a:t>📌  Every single week of the 2020 peak season outpaced 2019. The biggest gap is at W49, nearly 3M parcels in a single week versus 2.5M the year before. This is the direct result of consumers shifting holiday shopping entirely online during lockdowns.</a:t>
            </a:r>
            <a:endParaRPr lang="en-US" sz="800" dirty="0"/>
          </a:p>
          <a:p>
            <a:pPr marL="0" indent="0" algn="l">
              <a:buNone/>
            </a:pPr>
            <a:endParaRPr lang="en-US" sz="800" dirty="0"/>
          </a:p>
        </p:txBody>
      </p:sp>
      <p:sp>
        <p:nvSpPr>
          <p:cNvPr id="18" name="TextBox 17"/>
          <p:cNvSpPr txBox="1"/>
          <p:nvPr/>
        </p:nvSpPr>
        <p:spPr>
          <a:xfrm>
            <a:off x="8469601" y="4896612"/>
            <a:ext cx="242374" cy="230832"/>
          </a:xfrm>
          <a:prstGeom prst="rect">
            <a:avLst/>
          </a:prstGeom>
          <a:noFill/>
          <a:ln>
            <a:noFill/>
          </a:ln>
        </p:spPr>
        <p:txBody>
          <a:bodyPr wrap="none">
            <a:spAutoFit/>
          </a:bodyPr>
          <a:lstStyle/>
          <a:p>
            <a:pPr algn="ctr"/>
            <a:r>
              <a:rPr sz="900" b="1" dirty="0">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6439" y="5104219"/>
            <a:ext cx="9144000" cy="45720"/>
          </a:xfrm>
          <a:prstGeom prst="rect">
            <a:avLst/>
          </a:prstGeom>
          <a:solidFill>
            <a:srgbClr val="0891B2"/>
          </a:solidFill>
          <a:ln w="12700">
            <a:solidFill>
              <a:srgbClr val="0891B2"/>
            </a:solidFill>
            <a:prstDash val="solid"/>
          </a:ln>
        </p:spPr>
        <p:txBody>
          <a:bodyPr/>
          <a:lstStyle/>
          <a:p>
            <a:endParaRPr lang="en-CA"/>
          </a:p>
        </p:txBody>
      </p:sp>
      <p:sp>
        <p:nvSpPr>
          <p:cNvPr id="4" name="Text 2"/>
          <p:cNvSpPr/>
          <p:nvPr/>
        </p:nvSpPr>
        <p:spPr>
          <a:xfrm>
            <a:off x="274320" y="109728"/>
            <a:ext cx="8595360" cy="502920"/>
          </a:xfrm>
          <a:prstGeom prst="rect">
            <a:avLst/>
          </a:prstGeom>
          <a:noFill/>
          <a:ln/>
        </p:spPr>
        <p:txBody>
          <a:bodyPr wrap="square" lIns="0" tIns="0" rIns="0" bIns="0" rtlCol="0" anchor="ctr"/>
          <a:lstStyle/>
          <a:p>
            <a:pPr algn="ctr"/>
            <a:r>
              <a:rPr lang="en-US" b="1" i="1" dirty="0"/>
              <a:t>Question - What events within the COVID timeline contributed to the change?</a:t>
            </a:r>
            <a:r>
              <a:rPr lang="en-US" i="1" dirty="0"/>
              <a:t> </a:t>
            </a:r>
            <a:endParaRPr lang="en-US" b="1" i="1" dirty="0">
              <a:latin typeface="Calibri" pitchFamily="34" charset="0"/>
              <a:ea typeface="Calibri" pitchFamily="34" charset="-122"/>
              <a:cs typeface="Calibri" pitchFamily="34" charset="-120"/>
            </a:endParaRPr>
          </a:p>
          <a:p>
            <a:pPr algn="ctr"/>
            <a:r>
              <a:rPr lang="en-US" sz="2000" b="1" dirty="0">
                <a:latin typeface="Calibri" pitchFamily="34" charset="0"/>
                <a:ea typeface="Calibri" pitchFamily="34" charset="-122"/>
                <a:cs typeface="Calibri" pitchFamily="34" charset="-120"/>
              </a:rPr>
              <a:t>COVID Timeline: Key Events COVID Timeline: Key Events &amp; Volume Impact</a:t>
            </a:r>
            <a:endParaRPr lang="en-US" sz="2000" dirty="0"/>
          </a:p>
        </p:txBody>
      </p:sp>
      <p:sp>
        <p:nvSpPr>
          <p:cNvPr id="5" name="Shape 3"/>
          <p:cNvSpPr/>
          <p:nvPr/>
        </p:nvSpPr>
        <p:spPr>
          <a:xfrm>
            <a:off x="457200" y="2468880"/>
            <a:ext cx="8229600" cy="54864"/>
          </a:xfrm>
          <a:prstGeom prst="rect">
            <a:avLst/>
          </a:prstGeom>
          <a:solidFill>
            <a:srgbClr val="0891B2"/>
          </a:solidFill>
          <a:ln w="12700">
            <a:solidFill>
              <a:srgbClr val="0891B2"/>
            </a:solidFill>
            <a:prstDash val="solid"/>
          </a:ln>
        </p:spPr>
        <p:txBody>
          <a:bodyPr/>
          <a:lstStyle/>
          <a:p>
            <a:endParaRPr lang="en-CA"/>
          </a:p>
        </p:txBody>
      </p:sp>
      <p:sp>
        <p:nvSpPr>
          <p:cNvPr id="6" name="Shape 4"/>
          <p:cNvSpPr/>
          <p:nvPr/>
        </p:nvSpPr>
        <p:spPr>
          <a:xfrm>
            <a:off x="685800" y="2331720"/>
            <a:ext cx="228600" cy="228600"/>
          </a:xfrm>
          <a:prstGeom prst="ellipse">
            <a:avLst/>
          </a:prstGeom>
          <a:solidFill>
            <a:srgbClr val="0891B2"/>
          </a:solidFill>
          <a:ln w="25400">
            <a:solidFill>
              <a:srgbClr val="FFFFFF"/>
            </a:solidFill>
            <a:prstDash val="solid"/>
          </a:ln>
        </p:spPr>
        <p:txBody>
          <a:bodyPr/>
          <a:lstStyle/>
          <a:p>
            <a:endParaRPr lang="en-CA"/>
          </a:p>
        </p:txBody>
      </p:sp>
      <p:sp>
        <p:nvSpPr>
          <p:cNvPr id="7" name="Shape 5"/>
          <p:cNvSpPr/>
          <p:nvPr/>
        </p:nvSpPr>
        <p:spPr>
          <a:xfrm>
            <a:off x="795528" y="1554480"/>
            <a:ext cx="0" cy="868680"/>
          </a:xfrm>
          <a:prstGeom prst="line">
            <a:avLst/>
          </a:prstGeom>
          <a:noFill/>
          <a:ln w="19050">
            <a:solidFill>
              <a:srgbClr val="06B6D4"/>
            </a:solidFill>
            <a:prstDash val="solid"/>
          </a:ln>
        </p:spPr>
        <p:txBody>
          <a:bodyPr/>
          <a:lstStyle/>
          <a:p>
            <a:endParaRPr lang="en-CA"/>
          </a:p>
        </p:txBody>
      </p:sp>
      <p:sp>
        <p:nvSpPr>
          <p:cNvPr id="8" name="Shape 6"/>
          <p:cNvSpPr/>
          <p:nvPr/>
        </p:nvSpPr>
        <p:spPr>
          <a:xfrm>
            <a:off x="365760" y="731520"/>
            <a:ext cx="1371600" cy="777240"/>
          </a:xfrm>
          <a:prstGeom prst="rect">
            <a:avLst/>
          </a:prstGeom>
          <a:solidFill>
            <a:srgbClr val="0891B2"/>
          </a:solidFill>
          <a:ln w="12700">
            <a:solidFill>
              <a:srgbClr val="0891B2"/>
            </a:solidFill>
            <a:prstDash val="solid"/>
          </a:ln>
          <a:effectLst>
            <a:outerShdw blurRad="101600" dist="38100" dir="8100000" algn="bl" rotWithShape="0">
              <a:srgbClr val="000000">
                <a:alpha val="12000"/>
              </a:srgbClr>
            </a:outerShdw>
          </a:effectLst>
        </p:spPr>
        <p:txBody>
          <a:bodyPr/>
          <a:lstStyle/>
          <a:p>
            <a:endParaRPr lang="en-CA"/>
          </a:p>
        </p:txBody>
      </p:sp>
      <p:sp>
        <p:nvSpPr>
          <p:cNvPr id="9" name="Text 7"/>
          <p:cNvSpPr/>
          <p:nvPr/>
        </p:nvSpPr>
        <p:spPr>
          <a:xfrm>
            <a:off x="365760" y="731520"/>
            <a:ext cx="1371600" cy="274320"/>
          </a:xfrm>
          <a:prstGeom prst="rect">
            <a:avLst/>
          </a:prstGeom>
          <a:noFill/>
          <a:ln/>
        </p:spPr>
        <p:txBody>
          <a:bodyPr wrap="square" lIns="0" tIns="0" rIns="0" bIns="0" rtlCol="0" anchor="ctr"/>
          <a:lstStyle/>
          <a:p>
            <a:pPr marL="0" indent="0" algn="ctr">
              <a:buNone/>
            </a:pPr>
            <a:r>
              <a:rPr lang="en-US" sz="900" b="1" dirty="0">
                <a:solidFill>
                  <a:srgbClr val="E0F7FA"/>
                </a:solidFill>
                <a:latin typeface="Calibri" pitchFamily="34" charset="0"/>
                <a:ea typeface="Calibri" pitchFamily="34" charset="-122"/>
                <a:cs typeface="Calibri" pitchFamily="34" charset="-120"/>
              </a:rPr>
              <a:t>W11 · Mar 11</a:t>
            </a:r>
            <a:endParaRPr lang="en-US" sz="900" dirty="0"/>
          </a:p>
        </p:txBody>
      </p:sp>
      <p:sp>
        <p:nvSpPr>
          <p:cNvPr id="10" name="Text 8"/>
          <p:cNvSpPr/>
          <p:nvPr/>
        </p:nvSpPr>
        <p:spPr>
          <a:xfrm>
            <a:off x="365760" y="987552"/>
            <a:ext cx="1371600" cy="502920"/>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WHO</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Pandemic</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Declaration</a:t>
            </a:r>
            <a:endParaRPr lang="en-US" sz="850" dirty="0"/>
          </a:p>
        </p:txBody>
      </p:sp>
      <p:sp>
        <p:nvSpPr>
          <p:cNvPr id="11" name="Shape 9"/>
          <p:cNvSpPr/>
          <p:nvPr/>
        </p:nvSpPr>
        <p:spPr>
          <a:xfrm>
            <a:off x="548640" y="1527048"/>
            <a:ext cx="1005840" cy="228600"/>
          </a:xfrm>
          <a:prstGeom prst="rect">
            <a:avLst/>
          </a:prstGeom>
          <a:solidFill>
            <a:srgbClr val="10B981"/>
          </a:solidFill>
          <a:ln w="12700">
            <a:solidFill>
              <a:srgbClr val="10B981"/>
            </a:solidFill>
            <a:prstDash val="solid"/>
          </a:ln>
        </p:spPr>
        <p:txBody>
          <a:bodyPr/>
          <a:lstStyle/>
          <a:p>
            <a:endParaRPr lang="en-CA"/>
          </a:p>
        </p:txBody>
      </p:sp>
      <p:sp>
        <p:nvSpPr>
          <p:cNvPr id="12" name="Text 10"/>
          <p:cNvSpPr/>
          <p:nvPr/>
        </p:nvSpPr>
        <p:spPr>
          <a:xfrm>
            <a:off x="548640" y="1527048"/>
            <a:ext cx="10058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Vol: +0.9%</a:t>
            </a:r>
            <a:endParaRPr lang="en-US" sz="800" dirty="0"/>
          </a:p>
        </p:txBody>
      </p:sp>
      <p:sp>
        <p:nvSpPr>
          <p:cNvPr id="13" name="Shape 11"/>
          <p:cNvSpPr/>
          <p:nvPr/>
        </p:nvSpPr>
        <p:spPr>
          <a:xfrm>
            <a:off x="2240280" y="2331720"/>
            <a:ext cx="228600" cy="228600"/>
          </a:xfrm>
          <a:prstGeom prst="ellipse">
            <a:avLst/>
          </a:prstGeom>
          <a:solidFill>
            <a:srgbClr val="0891B2"/>
          </a:solidFill>
          <a:ln w="25400">
            <a:solidFill>
              <a:srgbClr val="FFFFFF"/>
            </a:solidFill>
            <a:prstDash val="solid"/>
          </a:ln>
        </p:spPr>
        <p:txBody>
          <a:bodyPr/>
          <a:lstStyle/>
          <a:p>
            <a:endParaRPr lang="en-CA"/>
          </a:p>
        </p:txBody>
      </p:sp>
      <p:sp>
        <p:nvSpPr>
          <p:cNvPr id="14" name="Shape 12"/>
          <p:cNvSpPr/>
          <p:nvPr/>
        </p:nvSpPr>
        <p:spPr>
          <a:xfrm>
            <a:off x="2350008" y="2560320"/>
            <a:ext cx="0" cy="868680"/>
          </a:xfrm>
          <a:prstGeom prst="line">
            <a:avLst/>
          </a:prstGeom>
          <a:noFill/>
          <a:ln w="19050">
            <a:solidFill>
              <a:srgbClr val="06B6D4"/>
            </a:solidFill>
            <a:prstDash val="solid"/>
          </a:ln>
        </p:spPr>
        <p:txBody>
          <a:bodyPr/>
          <a:lstStyle/>
          <a:p>
            <a:endParaRPr lang="en-CA"/>
          </a:p>
        </p:txBody>
      </p:sp>
      <p:sp>
        <p:nvSpPr>
          <p:cNvPr id="15" name="Shape 13"/>
          <p:cNvSpPr/>
          <p:nvPr/>
        </p:nvSpPr>
        <p:spPr>
          <a:xfrm>
            <a:off x="1920240" y="3383280"/>
            <a:ext cx="1371600" cy="777240"/>
          </a:xfrm>
          <a:prstGeom prst="rect">
            <a:avLst/>
          </a:prstGeom>
          <a:solidFill>
            <a:srgbClr val="0891B2"/>
          </a:solidFill>
          <a:ln w="12700">
            <a:solidFill>
              <a:srgbClr val="0891B2"/>
            </a:solidFill>
            <a:prstDash val="solid"/>
          </a:ln>
          <a:effectLst>
            <a:outerShdw blurRad="101600" dist="38100" dir="8100000" algn="bl" rotWithShape="0">
              <a:srgbClr val="000000">
                <a:alpha val="12000"/>
              </a:srgbClr>
            </a:outerShdw>
          </a:effectLst>
        </p:spPr>
        <p:txBody>
          <a:bodyPr/>
          <a:lstStyle/>
          <a:p>
            <a:endParaRPr lang="en-CA"/>
          </a:p>
        </p:txBody>
      </p:sp>
      <p:sp>
        <p:nvSpPr>
          <p:cNvPr id="16" name="Text 14"/>
          <p:cNvSpPr/>
          <p:nvPr/>
        </p:nvSpPr>
        <p:spPr>
          <a:xfrm>
            <a:off x="1920240" y="3383280"/>
            <a:ext cx="1371600" cy="274320"/>
          </a:xfrm>
          <a:prstGeom prst="rect">
            <a:avLst/>
          </a:prstGeom>
          <a:noFill/>
          <a:ln/>
        </p:spPr>
        <p:txBody>
          <a:bodyPr wrap="square" lIns="0" tIns="0" rIns="0" bIns="0" rtlCol="0" anchor="ctr"/>
          <a:lstStyle/>
          <a:p>
            <a:pPr marL="0" indent="0" algn="ctr">
              <a:buNone/>
            </a:pPr>
            <a:r>
              <a:rPr lang="en-US" sz="900" b="1" dirty="0">
                <a:solidFill>
                  <a:srgbClr val="E0F7FA"/>
                </a:solidFill>
                <a:latin typeface="Calibri" pitchFamily="34" charset="0"/>
                <a:ea typeface="Calibri" pitchFamily="34" charset="-122"/>
                <a:cs typeface="Calibri" pitchFamily="34" charset="-120"/>
              </a:rPr>
              <a:t>W12 · Mar 16</a:t>
            </a:r>
            <a:endParaRPr lang="en-US" sz="900" dirty="0"/>
          </a:p>
        </p:txBody>
      </p:sp>
      <p:sp>
        <p:nvSpPr>
          <p:cNvPr id="17" name="Text 15"/>
          <p:cNvSpPr/>
          <p:nvPr/>
        </p:nvSpPr>
        <p:spPr>
          <a:xfrm>
            <a:off x="1920240" y="3639312"/>
            <a:ext cx="1371600" cy="502920"/>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Canadian</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Provincial</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Lockdowns</a:t>
            </a:r>
            <a:endParaRPr lang="en-US" sz="850" dirty="0"/>
          </a:p>
        </p:txBody>
      </p:sp>
      <p:sp>
        <p:nvSpPr>
          <p:cNvPr id="18" name="Shape 16"/>
          <p:cNvSpPr/>
          <p:nvPr/>
        </p:nvSpPr>
        <p:spPr>
          <a:xfrm>
            <a:off x="2103120" y="4187952"/>
            <a:ext cx="1005840" cy="228600"/>
          </a:xfrm>
          <a:prstGeom prst="rect">
            <a:avLst/>
          </a:prstGeom>
          <a:solidFill>
            <a:srgbClr val="10B981"/>
          </a:solidFill>
          <a:ln w="12700">
            <a:solidFill>
              <a:srgbClr val="10B981"/>
            </a:solidFill>
            <a:prstDash val="solid"/>
          </a:ln>
        </p:spPr>
        <p:txBody>
          <a:bodyPr/>
          <a:lstStyle/>
          <a:p>
            <a:endParaRPr lang="en-CA"/>
          </a:p>
        </p:txBody>
      </p:sp>
      <p:sp>
        <p:nvSpPr>
          <p:cNvPr id="19" name="Text 17"/>
          <p:cNvSpPr/>
          <p:nvPr/>
        </p:nvSpPr>
        <p:spPr>
          <a:xfrm>
            <a:off x="2103120" y="4187952"/>
            <a:ext cx="10058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Vol: +11.9%</a:t>
            </a:r>
            <a:endParaRPr lang="en-US" sz="800" dirty="0"/>
          </a:p>
        </p:txBody>
      </p:sp>
      <p:sp>
        <p:nvSpPr>
          <p:cNvPr id="20" name="Shape 18"/>
          <p:cNvSpPr/>
          <p:nvPr/>
        </p:nvSpPr>
        <p:spPr>
          <a:xfrm>
            <a:off x="3794760" y="2331720"/>
            <a:ext cx="228600" cy="228600"/>
          </a:xfrm>
          <a:prstGeom prst="ellipse">
            <a:avLst/>
          </a:prstGeom>
          <a:solidFill>
            <a:srgbClr val="0891B2"/>
          </a:solidFill>
          <a:ln w="25400">
            <a:solidFill>
              <a:srgbClr val="FFFFFF"/>
            </a:solidFill>
            <a:prstDash val="solid"/>
          </a:ln>
        </p:spPr>
        <p:txBody>
          <a:bodyPr/>
          <a:lstStyle/>
          <a:p>
            <a:endParaRPr lang="en-CA"/>
          </a:p>
        </p:txBody>
      </p:sp>
      <p:sp>
        <p:nvSpPr>
          <p:cNvPr id="21" name="Shape 19"/>
          <p:cNvSpPr/>
          <p:nvPr/>
        </p:nvSpPr>
        <p:spPr>
          <a:xfrm>
            <a:off x="3904488" y="1554480"/>
            <a:ext cx="0" cy="868680"/>
          </a:xfrm>
          <a:prstGeom prst="line">
            <a:avLst/>
          </a:prstGeom>
          <a:noFill/>
          <a:ln w="19050">
            <a:solidFill>
              <a:srgbClr val="06B6D4"/>
            </a:solidFill>
            <a:prstDash val="solid"/>
          </a:ln>
        </p:spPr>
        <p:txBody>
          <a:bodyPr/>
          <a:lstStyle/>
          <a:p>
            <a:endParaRPr lang="en-CA"/>
          </a:p>
        </p:txBody>
      </p:sp>
      <p:sp>
        <p:nvSpPr>
          <p:cNvPr id="22" name="Shape 20"/>
          <p:cNvSpPr/>
          <p:nvPr/>
        </p:nvSpPr>
        <p:spPr>
          <a:xfrm>
            <a:off x="3474720" y="731520"/>
            <a:ext cx="1371600" cy="777240"/>
          </a:xfrm>
          <a:prstGeom prst="rect">
            <a:avLst/>
          </a:prstGeom>
          <a:solidFill>
            <a:srgbClr val="0891B2"/>
          </a:solidFill>
          <a:ln w="12700">
            <a:solidFill>
              <a:srgbClr val="0891B2"/>
            </a:solidFill>
            <a:prstDash val="solid"/>
          </a:ln>
          <a:effectLst>
            <a:outerShdw blurRad="101600" dist="38100" dir="8100000" algn="bl" rotWithShape="0">
              <a:srgbClr val="000000">
                <a:alpha val="12000"/>
              </a:srgbClr>
            </a:outerShdw>
          </a:effectLst>
        </p:spPr>
        <p:txBody>
          <a:bodyPr/>
          <a:lstStyle/>
          <a:p>
            <a:endParaRPr lang="en-CA"/>
          </a:p>
        </p:txBody>
      </p:sp>
      <p:sp>
        <p:nvSpPr>
          <p:cNvPr id="23" name="Text 21"/>
          <p:cNvSpPr/>
          <p:nvPr/>
        </p:nvSpPr>
        <p:spPr>
          <a:xfrm>
            <a:off x="3474720" y="731520"/>
            <a:ext cx="1371600" cy="274320"/>
          </a:xfrm>
          <a:prstGeom prst="rect">
            <a:avLst/>
          </a:prstGeom>
          <a:noFill/>
          <a:ln/>
        </p:spPr>
        <p:txBody>
          <a:bodyPr wrap="square" lIns="0" tIns="0" rIns="0" bIns="0" rtlCol="0" anchor="ctr"/>
          <a:lstStyle/>
          <a:p>
            <a:pPr marL="0" indent="0" algn="ctr">
              <a:buNone/>
            </a:pPr>
            <a:r>
              <a:rPr lang="en-US" sz="900" b="1" dirty="0">
                <a:solidFill>
                  <a:srgbClr val="E0F7FA"/>
                </a:solidFill>
                <a:latin typeface="Calibri" pitchFamily="34" charset="0"/>
                <a:ea typeface="Calibri" pitchFamily="34" charset="-122"/>
                <a:cs typeface="Calibri" pitchFamily="34" charset="-120"/>
              </a:rPr>
              <a:t>W14 · Mar 30</a:t>
            </a:r>
            <a:endParaRPr lang="en-US" sz="900" dirty="0"/>
          </a:p>
        </p:txBody>
      </p:sp>
      <p:sp>
        <p:nvSpPr>
          <p:cNvPr id="24" name="Text 22"/>
          <p:cNvSpPr/>
          <p:nvPr/>
        </p:nvSpPr>
        <p:spPr>
          <a:xfrm>
            <a:off x="3474720" y="987552"/>
            <a:ext cx="1371600" cy="502920"/>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CERB</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Introduced</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(Income Support)</a:t>
            </a:r>
            <a:endParaRPr lang="en-US" sz="850" dirty="0"/>
          </a:p>
        </p:txBody>
      </p:sp>
      <p:sp>
        <p:nvSpPr>
          <p:cNvPr id="25" name="Shape 23"/>
          <p:cNvSpPr/>
          <p:nvPr/>
        </p:nvSpPr>
        <p:spPr>
          <a:xfrm>
            <a:off x="3657600" y="1527048"/>
            <a:ext cx="1005840" cy="228600"/>
          </a:xfrm>
          <a:prstGeom prst="rect">
            <a:avLst/>
          </a:prstGeom>
          <a:solidFill>
            <a:srgbClr val="10B981"/>
          </a:solidFill>
          <a:ln w="12700">
            <a:solidFill>
              <a:srgbClr val="10B981"/>
            </a:solidFill>
            <a:prstDash val="solid"/>
          </a:ln>
        </p:spPr>
        <p:txBody>
          <a:bodyPr/>
          <a:lstStyle/>
          <a:p>
            <a:endParaRPr lang="en-CA"/>
          </a:p>
        </p:txBody>
      </p:sp>
      <p:sp>
        <p:nvSpPr>
          <p:cNvPr id="26" name="Text 24"/>
          <p:cNvSpPr/>
          <p:nvPr/>
        </p:nvSpPr>
        <p:spPr>
          <a:xfrm>
            <a:off x="3657600" y="1527048"/>
            <a:ext cx="10058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Vol: +64.6%</a:t>
            </a:r>
            <a:endParaRPr lang="en-US" sz="800" dirty="0"/>
          </a:p>
        </p:txBody>
      </p:sp>
      <p:sp>
        <p:nvSpPr>
          <p:cNvPr id="27" name="Shape 25"/>
          <p:cNvSpPr/>
          <p:nvPr/>
        </p:nvSpPr>
        <p:spPr>
          <a:xfrm>
            <a:off x="5349240" y="2331720"/>
            <a:ext cx="228600" cy="228600"/>
          </a:xfrm>
          <a:prstGeom prst="ellipse">
            <a:avLst/>
          </a:prstGeom>
          <a:solidFill>
            <a:srgbClr val="0891B2"/>
          </a:solidFill>
          <a:ln w="25400">
            <a:solidFill>
              <a:srgbClr val="FFFFFF"/>
            </a:solidFill>
            <a:prstDash val="solid"/>
          </a:ln>
        </p:spPr>
        <p:txBody>
          <a:bodyPr/>
          <a:lstStyle/>
          <a:p>
            <a:endParaRPr lang="en-CA"/>
          </a:p>
        </p:txBody>
      </p:sp>
      <p:sp>
        <p:nvSpPr>
          <p:cNvPr id="28" name="Shape 26"/>
          <p:cNvSpPr/>
          <p:nvPr/>
        </p:nvSpPr>
        <p:spPr>
          <a:xfrm>
            <a:off x="5458968" y="2560320"/>
            <a:ext cx="0" cy="868680"/>
          </a:xfrm>
          <a:prstGeom prst="line">
            <a:avLst/>
          </a:prstGeom>
          <a:noFill/>
          <a:ln w="19050">
            <a:solidFill>
              <a:srgbClr val="06B6D4"/>
            </a:solidFill>
            <a:prstDash val="solid"/>
          </a:ln>
        </p:spPr>
        <p:txBody>
          <a:bodyPr/>
          <a:lstStyle/>
          <a:p>
            <a:endParaRPr lang="en-CA"/>
          </a:p>
        </p:txBody>
      </p:sp>
      <p:sp>
        <p:nvSpPr>
          <p:cNvPr id="29" name="Shape 27"/>
          <p:cNvSpPr/>
          <p:nvPr/>
        </p:nvSpPr>
        <p:spPr>
          <a:xfrm>
            <a:off x="5029200" y="3383280"/>
            <a:ext cx="1371600" cy="777240"/>
          </a:xfrm>
          <a:prstGeom prst="rect">
            <a:avLst/>
          </a:prstGeom>
          <a:solidFill>
            <a:srgbClr val="0891B2"/>
          </a:solidFill>
          <a:ln w="12700">
            <a:solidFill>
              <a:srgbClr val="0891B2"/>
            </a:solidFill>
            <a:prstDash val="solid"/>
          </a:ln>
          <a:effectLst>
            <a:outerShdw blurRad="101600" dist="38100" dir="8100000" algn="bl" rotWithShape="0">
              <a:srgbClr val="000000">
                <a:alpha val="12000"/>
              </a:srgbClr>
            </a:outerShdw>
          </a:effectLst>
        </p:spPr>
        <p:txBody>
          <a:bodyPr/>
          <a:lstStyle/>
          <a:p>
            <a:endParaRPr lang="en-CA"/>
          </a:p>
        </p:txBody>
      </p:sp>
      <p:sp>
        <p:nvSpPr>
          <p:cNvPr id="30" name="Text 28"/>
          <p:cNvSpPr/>
          <p:nvPr/>
        </p:nvSpPr>
        <p:spPr>
          <a:xfrm>
            <a:off x="5029200" y="3383280"/>
            <a:ext cx="1371600" cy="274320"/>
          </a:xfrm>
          <a:prstGeom prst="rect">
            <a:avLst/>
          </a:prstGeom>
          <a:noFill/>
          <a:ln/>
        </p:spPr>
        <p:txBody>
          <a:bodyPr wrap="square" lIns="0" tIns="0" rIns="0" bIns="0" rtlCol="0" anchor="ctr"/>
          <a:lstStyle/>
          <a:p>
            <a:pPr marL="0" indent="0" algn="ctr">
              <a:buNone/>
            </a:pPr>
            <a:r>
              <a:rPr lang="en-US" sz="900" b="1" dirty="0">
                <a:solidFill>
                  <a:srgbClr val="E0F7FA"/>
                </a:solidFill>
                <a:latin typeface="Calibri" pitchFamily="34" charset="0"/>
                <a:ea typeface="Calibri" pitchFamily="34" charset="-122"/>
                <a:cs typeface="Calibri" pitchFamily="34" charset="-120"/>
              </a:rPr>
              <a:t>W16 · Apr 13</a:t>
            </a:r>
            <a:endParaRPr lang="en-US" sz="900" dirty="0"/>
          </a:p>
        </p:txBody>
      </p:sp>
      <p:sp>
        <p:nvSpPr>
          <p:cNvPr id="31" name="Text 29"/>
          <p:cNvSpPr/>
          <p:nvPr/>
        </p:nvSpPr>
        <p:spPr>
          <a:xfrm>
            <a:off x="5029200" y="3639312"/>
            <a:ext cx="1371600" cy="502920"/>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Essential</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Services</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Only Orders</a:t>
            </a:r>
            <a:endParaRPr lang="en-US" sz="850" dirty="0"/>
          </a:p>
        </p:txBody>
      </p:sp>
      <p:sp>
        <p:nvSpPr>
          <p:cNvPr id="32" name="Shape 30"/>
          <p:cNvSpPr/>
          <p:nvPr/>
        </p:nvSpPr>
        <p:spPr>
          <a:xfrm>
            <a:off x="5212080" y="4187952"/>
            <a:ext cx="1005840" cy="228600"/>
          </a:xfrm>
          <a:prstGeom prst="rect">
            <a:avLst/>
          </a:prstGeom>
          <a:solidFill>
            <a:srgbClr val="10B981"/>
          </a:solidFill>
          <a:ln w="12700">
            <a:solidFill>
              <a:srgbClr val="10B981"/>
            </a:solidFill>
            <a:prstDash val="solid"/>
          </a:ln>
        </p:spPr>
        <p:txBody>
          <a:bodyPr/>
          <a:lstStyle/>
          <a:p>
            <a:endParaRPr lang="en-CA"/>
          </a:p>
        </p:txBody>
      </p:sp>
      <p:sp>
        <p:nvSpPr>
          <p:cNvPr id="33" name="Text 31"/>
          <p:cNvSpPr/>
          <p:nvPr/>
        </p:nvSpPr>
        <p:spPr>
          <a:xfrm>
            <a:off x="5212080" y="4187952"/>
            <a:ext cx="10058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Vol: +127.9%</a:t>
            </a:r>
            <a:endParaRPr lang="en-US" sz="800" dirty="0"/>
          </a:p>
        </p:txBody>
      </p:sp>
      <p:sp>
        <p:nvSpPr>
          <p:cNvPr id="34" name="Shape 32"/>
          <p:cNvSpPr/>
          <p:nvPr/>
        </p:nvSpPr>
        <p:spPr>
          <a:xfrm>
            <a:off x="6903720" y="2331720"/>
            <a:ext cx="228600" cy="228600"/>
          </a:xfrm>
          <a:prstGeom prst="ellipse">
            <a:avLst/>
          </a:prstGeom>
          <a:solidFill>
            <a:srgbClr val="0891B2"/>
          </a:solidFill>
          <a:ln w="25400">
            <a:solidFill>
              <a:srgbClr val="FFFFFF"/>
            </a:solidFill>
            <a:prstDash val="solid"/>
          </a:ln>
        </p:spPr>
        <p:txBody>
          <a:bodyPr/>
          <a:lstStyle/>
          <a:p>
            <a:endParaRPr lang="en-CA"/>
          </a:p>
        </p:txBody>
      </p:sp>
      <p:sp>
        <p:nvSpPr>
          <p:cNvPr id="35" name="Shape 33"/>
          <p:cNvSpPr/>
          <p:nvPr/>
        </p:nvSpPr>
        <p:spPr>
          <a:xfrm>
            <a:off x="7013448" y="1554480"/>
            <a:ext cx="0" cy="868680"/>
          </a:xfrm>
          <a:prstGeom prst="line">
            <a:avLst/>
          </a:prstGeom>
          <a:noFill/>
          <a:ln w="19050">
            <a:solidFill>
              <a:srgbClr val="06B6D4"/>
            </a:solidFill>
            <a:prstDash val="solid"/>
          </a:ln>
        </p:spPr>
        <p:txBody>
          <a:bodyPr/>
          <a:lstStyle/>
          <a:p>
            <a:endParaRPr lang="en-CA"/>
          </a:p>
        </p:txBody>
      </p:sp>
      <p:sp>
        <p:nvSpPr>
          <p:cNvPr id="36" name="Shape 34"/>
          <p:cNvSpPr/>
          <p:nvPr/>
        </p:nvSpPr>
        <p:spPr>
          <a:xfrm>
            <a:off x="6583680" y="731520"/>
            <a:ext cx="1371600" cy="777240"/>
          </a:xfrm>
          <a:prstGeom prst="rect">
            <a:avLst/>
          </a:prstGeom>
          <a:solidFill>
            <a:srgbClr val="0891B2"/>
          </a:solidFill>
          <a:ln w="12700">
            <a:solidFill>
              <a:srgbClr val="0891B2"/>
            </a:solidFill>
            <a:prstDash val="solid"/>
          </a:ln>
          <a:effectLst>
            <a:outerShdw blurRad="101600" dist="38100" dir="8100000" algn="bl" rotWithShape="0">
              <a:srgbClr val="000000">
                <a:alpha val="12000"/>
              </a:srgbClr>
            </a:outerShdw>
          </a:effectLst>
        </p:spPr>
        <p:txBody>
          <a:bodyPr/>
          <a:lstStyle/>
          <a:p>
            <a:endParaRPr lang="en-CA"/>
          </a:p>
        </p:txBody>
      </p:sp>
      <p:sp>
        <p:nvSpPr>
          <p:cNvPr id="37" name="Text 35"/>
          <p:cNvSpPr/>
          <p:nvPr/>
        </p:nvSpPr>
        <p:spPr>
          <a:xfrm>
            <a:off x="6583680" y="731520"/>
            <a:ext cx="1371600" cy="274320"/>
          </a:xfrm>
          <a:prstGeom prst="rect">
            <a:avLst/>
          </a:prstGeom>
          <a:noFill/>
          <a:ln/>
        </p:spPr>
        <p:txBody>
          <a:bodyPr wrap="square" lIns="0" tIns="0" rIns="0" bIns="0" rtlCol="0" anchor="ctr"/>
          <a:lstStyle/>
          <a:p>
            <a:pPr marL="0" indent="0" algn="ctr">
              <a:buNone/>
            </a:pPr>
            <a:r>
              <a:rPr lang="en-US" sz="900" b="1" dirty="0">
                <a:solidFill>
                  <a:srgbClr val="E0F7FA"/>
                </a:solidFill>
                <a:latin typeface="Calibri" pitchFamily="34" charset="0"/>
                <a:ea typeface="Calibri" pitchFamily="34" charset="-122"/>
                <a:cs typeface="Calibri" pitchFamily="34" charset="-120"/>
              </a:rPr>
              <a:t>W45 · Nov 2</a:t>
            </a:r>
            <a:endParaRPr lang="en-US" sz="900" dirty="0"/>
          </a:p>
        </p:txBody>
      </p:sp>
      <p:sp>
        <p:nvSpPr>
          <p:cNvPr id="38" name="Text 36"/>
          <p:cNvSpPr/>
          <p:nvPr/>
        </p:nvSpPr>
        <p:spPr>
          <a:xfrm>
            <a:off x="6583680" y="987552"/>
            <a:ext cx="1371600" cy="502920"/>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2020 Peak</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Season</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Begins</a:t>
            </a:r>
            <a:endParaRPr lang="en-US" sz="850" dirty="0"/>
          </a:p>
        </p:txBody>
      </p:sp>
      <p:sp>
        <p:nvSpPr>
          <p:cNvPr id="39" name="Shape 37"/>
          <p:cNvSpPr/>
          <p:nvPr/>
        </p:nvSpPr>
        <p:spPr>
          <a:xfrm>
            <a:off x="6766560" y="1527048"/>
            <a:ext cx="1005840" cy="228600"/>
          </a:xfrm>
          <a:prstGeom prst="rect">
            <a:avLst/>
          </a:prstGeom>
          <a:solidFill>
            <a:srgbClr val="10B981"/>
          </a:solidFill>
          <a:ln w="12700">
            <a:solidFill>
              <a:srgbClr val="10B981"/>
            </a:solidFill>
            <a:prstDash val="solid"/>
          </a:ln>
        </p:spPr>
        <p:txBody>
          <a:bodyPr/>
          <a:lstStyle/>
          <a:p>
            <a:endParaRPr lang="en-CA"/>
          </a:p>
        </p:txBody>
      </p:sp>
      <p:sp>
        <p:nvSpPr>
          <p:cNvPr id="40" name="Text 38"/>
          <p:cNvSpPr/>
          <p:nvPr/>
        </p:nvSpPr>
        <p:spPr>
          <a:xfrm>
            <a:off x="6766560" y="1527048"/>
            <a:ext cx="10058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Vol: +17.2%</a:t>
            </a:r>
            <a:endParaRPr lang="en-US" sz="800" dirty="0"/>
          </a:p>
        </p:txBody>
      </p:sp>
      <p:sp>
        <p:nvSpPr>
          <p:cNvPr id="41" name="Text 39"/>
          <p:cNvSpPr/>
          <p:nvPr/>
        </p:nvSpPr>
        <p:spPr>
          <a:xfrm>
            <a:off x="274320" y="4828032"/>
            <a:ext cx="8595360" cy="25603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YoY volume changes shown relative to the same week in 2019.  ISGR (pre-COVID baseline) = +11.4%</a:t>
            </a:r>
            <a:endParaRPr lang="en-US" sz="900" dirty="0"/>
          </a:p>
        </p:txBody>
      </p:sp>
      <p:sp>
        <p:nvSpPr>
          <p:cNvPr id="42" name="TextBox 41"/>
          <p:cNvSpPr txBox="1"/>
          <p:nvPr/>
        </p:nvSpPr>
        <p:spPr>
          <a:xfrm>
            <a:off x="8469601" y="4896612"/>
            <a:ext cx="242374" cy="230832"/>
          </a:xfrm>
          <a:prstGeom prst="rect">
            <a:avLst/>
          </a:prstGeom>
          <a:noFill/>
          <a:ln>
            <a:noFill/>
          </a:ln>
        </p:spPr>
        <p:txBody>
          <a:bodyPr wrap="none">
            <a:spAutoFit/>
          </a:bodyPr>
          <a:lstStyle/>
          <a:p>
            <a:pPr algn="ctr"/>
            <a:r>
              <a:rPr sz="900" b="1" dirty="0">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137160"/>
            <a:ext cx="8229600" cy="502920"/>
          </a:xfrm>
          <a:prstGeom prst="rect">
            <a:avLst/>
          </a:prstGeom>
          <a:noFill/>
          <a:ln/>
        </p:spPr>
        <p:txBody>
          <a:bodyPr wrap="square" lIns="0" tIns="0" rIns="0" bIns="0" rtlCol="0" anchor="ctr"/>
          <a:lstStyle/>
          <a:p>
            <a:pPr algn="ctr"/>
            <a:r>
              <a:rPr lang="en-US" b="1" i="1" dirty="0"/>
              <a:t>Question - How has COVID affected companies in the different customer groups? (1/2)</a:t>
            </a:r>
            <a:endParaRPr lang="en-US" b="1" i="1" dirty="0">
              <a:solidFill>
                <a:srgbClr val="0D2137"/>
              </a:solidFill>
              <a:latin typeface="Calibri" pitchFamily="34" charset="0"/>
              <a:ea typeface="Calibri" pitchFamily="34" charset="-122"/>
              <a:cs typeface="Calibri" pitchFamily="34" charset="-120"/>
            </a:endParaRPr>
          </a:p>
          <a:p>
            <a:pPr marL="0" indent="0" algn="ctr">
              <a:buNone/>
            </a:pPr>
            <a:r>
              <a:rPr lang="en-US" sz="2000" b="1" dirty="0">
                <a:solidFill>
                  <a:srgbClr val="0D2137"/>
                </a:solidFill>
                <a:latin typeface="Calibri" pitchFamily="34" charset="0"/>
                <a:ea typeface="Calibri" pitchFamily="34" charset="-122"/>
                <a:cs typeface="Calibri" pitchFamily="34" charset="-120"/>
              </a:rPr>
              <a:t>Volume by Customer Segment: 2019 vs 2020</a:t>
            </a:r>
            <a:endParaRPr lang="en-US" sz="2000" dirty="0"/>
          </a:p>
        </p:txBody>
      </p:sp>
      <p:graphicFrame>
        <p:nvGraphicFramePr>
          <p:cNvPr id="7" name="Chart 0"/>
          <p:cNvGraphicFramePr/>
          <p:nvPr>
            <p:extLst>
              <p:ext uri="{D42A27DB-BD31-4B8C-83A1-F6EECF244321}">
                <p14:modId xmlns:p14="http://schemas.microsoft.com/office/powerpoint/2010/main" val="3741566815"/>
              </p:ext>
            </p:extLst>
          </p:nvPr>
        </p:nvGraphicFramePr>
        <p:xfrm>
          <a:off x="274320" y="777240"/>
          <a:ext cx="530352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
          <p:cNvGraphicFramePr/>
          <p:nvPr>
            <p:extLst>
              <p:ext uri="{D42A27DB-BD31-4B8C-83A1-F6EECF244321}">
                <p14:modId xmlns:p14="http://schemas.microsoft.com/office/powerpoint/2010/main" val="2912362373"/>
              </p:ext>
            </p:extLst>
          </p:nvPr>
        </p:nvGraphicFramePr>
        <p:xfrm>
          <a:off x="5577840" y="777240"/>
          <a:ext cx="3383280" cy="256032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5577840" y="3429000"/>
            <a:ext cx="1554480" cy="384048"/>
          </a:xfrm>
          <a:prstGeom prst="rect">
            <a:avLst/>
          </a:prstGeom>
          <a:solidFill>
            <a:srgbClr val="10B981"/>
          </a:solidFill>
          <a:ln w="12700">
            <a:solidFill>
              <a:srgbClr val="10B981"/>
            </a:solidFill>
            <a:prstDash val="solid"/>
          </a:ln>
        </p:spPr>
        <p:txBody>
          <a:bodyPr/>
          <a:lstStyle/>
          <a:p>
            <a:endParaRPr lang="en-CA"/>
          </a:p>
        </p:txBody>
      </p:sp>
      <p:sp>
        <p:nvSpPr>
          <p:cNvPr id="10" name="Text 6"/>
          <p:cNvSpPr/>
          <p:nvPr/>
        </p:nvSpPr>
        <p:spPr>
          <a:xfrm>
            <a:off x="5577840" y="3429000"/>
            <a:ext cx="1554480"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Enterprise: +38.3%</a:t>
            </a:r>
            <a:endParaRPr lang="en-US" sz="900" dirty="0"/>
          </a:p>
        </p:txBody>
      </p:sp>
      <p:sp>
        <p:nvSpPr>
          <p:cNvPr id="11" name="Shape 7"/>
          <p:cNvSpPr/>
          <p:nvPr/>
        </p:nvSpPr>
        <p:spPr>
          <a:xfrm>
            <a:off x="7269480" y="3429000"/>
            <a:ext cx="1554480" cy="384048"/>
          </a:xfrm>
          <a:prstGeom prst="rect">
            <a:avLst/>
          </a:prstGeom>
          <a:solidFill>
            <a:srgbClr val="10B981"/>
          </a:solidFill>
          <a:ln w="12700">
            <a:solidFill>
              <a:srgbClr val="10B981"/>
            </a:solidFill>
            <a:prstDash val="solid"/>
          </a:ln>
        </p:spPr>
        <p:txBody>
          <a:bodyPr/>
          <a:lstStyle/>
          <a:p>
            <a:endParaRPr lang="en-CA"/>
          </a:p>
        </p:txBody>
      </p:sp>
      <p:sp>
        <p:nvSpPr>
          <p:cNvPr id="12" name="Text 8"/>
          <p:cNvSpPr/>
          <p:nvPr/>
        </p:nvSpPr>
        <p:spPr>
          <a:xfrm>
            <a:off x="7269480" y="3429000"/>
            <a:ext cx="1554480"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Large: +34.2%</a:t>
            </a:r>
            <a:endParaRPr lang="en-US" sz="900" dirty="0"/>
          </a:p>
        </p:txBody>
      </p:sp>
      <p:sp>
        <p:nvSpPr>
          <p:cNvPr id="13" name="Shape 9"/>
          <p:cNvSpPr/>
          <p:nvPr/>
        </p:nvSpPr>
        <p:spPr>
          <a:xfrm>
            <a:off x="5577840" y="3904488"/>
            <a:ext cx="1554480" cy="384048"/>
          </a:xfrm>
          <a:prstGeom prst="rect">
            <a:avLst/>
          </a:prstGeom>
          <a:solidFill>
            <a:srgbClr val="10B981"/>
          </a:solidFill>
          <a:ln w="12700">
            <a:solidFill>
              <a:srgbClr val="10B981"/>
            </a:solidFill>
            <a:prstDash val="solid"/>
          </a:ln>
        </p:spPr>
        <p:txBody>
          <a:bodyPr/>
          <a:lstStyle/>
          <a:p>
            <a:endParaRPr lang="en-CA"/>
          </a:p>
        </p:txBody>
      </p:sp>
      <p:sp>
        <p:nvSpPr>
          <p:cNvPr id="14" name="Text 10"/>
          <p:cNvSpPr/>
          <p:nvPr/>
        </p:nvSpPr>
        <p:spPr>
          <a:xfrm>
            <a:off x="5577840" y="3904488"/>
            <a:ext cx="1554480"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Medium: +41.8%</a:t>
            </a:r>
            <a:endParaRPr lang="en-US" sz="900" dirty="0"/>
          </a:p>
        </p:txBody>
      </p:sp>
      <p:sp>
        <p:nvSpPr>
          <p:cNvPr id="15" name="Shape 11"/>
          <p:cNvSpPr/>
          <p:nvPr/>
        </p:nvSpPr>
        <p:spPr>
          <a:xfrm>
            <a:off x="7269480" y="3904488"/>
            <a:ext cx="1554480" cy="384048"/>
          </a:xfrm>
          <a:prstGeom prst="rect">
            <a:avLst/>
          </a:prstGeom>
          <a:solidFill>
            <a:srgbClr val="10B981"/>
          </a:solidFill>
          <a:ln w="12700">
            <a:solidFill>
              <a:srgbClr val="10B981"/>
            </a:solidFill>
            <a:prstDash val="solid"/>
          </a:ln>
        </p:spPr>
        <p:txBody>
          <a:bodyPr/>
          <a:lstStyle/>
          <a:p>
            <a:endParaRPr lang="en-CA"/>
          </a:p>
        </p:txBody>
      </p:sp>
      <p:sp>
        <p:nvSpPr>
          <p:cNvPr id="16" name="Text 12"/>
          <p:cNvSpPr/>
          <p:nvPr/>
        </p:nvSpPr>
        <p:spPr>
          <a:xfrm>
            <a:off x="7269480" y="3904488"/>
            <a:ext cx="1554480"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Small: +51.9%</a:t>
            </a:r>
            <a:endParaRPr lang="en-US" sz="900" dirty="0"/>
          </a:p>
        </p:txBody>
      </p:sp>
      <p:sp>
        <p:nvSpPr>
          <p:cNvPr id="17" name="Text 13"/>
          <p:cNvSpPr/>
          <p:nvPr/>
        </p:nvSpPr>
        <p:spPr>
          <a:xfrm>
            <a:off x="5558060" y="3198114"/>
            <a:ext cx="3474720" cy="278892"/>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Full-year volume growth 2019 → 2020:</a:t>
            </a:r>
            <a:endParaRPr lang="en-US" sz="900" dirty="0"/>
          </a:p>
        </p:txBody>
      </p:sp>
      <p:sp>
        <p:nvSpPr>
          <p:cNvPr id="18" name="Shape 14"/>
          <p:cNvSpPr/>
          <p:nvPr/>
        </p:nvSpPr>
        <p:spPr>
          <a:xfrm>
            <a:off x="274320" y="4526280"/>
            <a:ext cx="8595360" cy="502920"/>
          </a:xfrm>
          <a:prstGeom prst="rect">
            <a:avLst/>
          </a:prstGeom>
          <a:solidFill>
            <a:srgbClr val="EFF6FF"/>
          </a:solidFill>
          <a:ln w="12700">
            <a:solidFill>
              <a:srgbClr val="BFDBFE"/>
            </a:solidFill>
            <a:prstDash val="solid"/>
          </a:ln>
        </p:spPr>
        <p:txBody>
          <a:bodyPr/>
          <a:lstStyle/>
          <a:p>
            <a:endParaRPr lang="en-CA"/>
          </a:p>
        </p:txBody>
      </p:sp>
      <p:sp>
        <p:nvSpPr>
          <p:cNvPr id="19" name="Shape 15"/>
          <p:cNvSpPr/>
          <p:nvPr/>
        </p:nvSpPr>
        <p:spPr>
          <a:xfrm>
            <a:off x="274320" y="4526280"/>
            <a:ext cx="64008" cy="502920"/>
          </a:xfrm>
          <a:prstGeom prst="rect">
            <a:avLst/>
          </a:prstGeom>
          <a:solidFill>
            <a:srgbClr val="0891B2"/>
          </a:solidFill>
          <a:ln w="12700">
            <a:solidFill>
              <a:srgbClr val="0891B2"/>
            </a:solidFill>
            <a:prstDash val="solid"/>
          </a:ln>
        </p:spPr>
        <p:txBody>
          <a:bodyPr/>
          <a:lstStyle/>
          <a:p>
            <a:endParaRPr lang="en-CA"/>
          </a:p>
        </p:txBody>
      </p:sp>
      <p:sp>
        <p:nvSpPr>
          <p:cNvPr id="20" name="Text 16"/>
          <p:cNvSpPr/>
          <p:nvPr/>
        </p:nvSpPr>
        <p:spPr>
          <a:xfrm>
            <a:off x="411480" y="4544568"/>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Enterprise customers ship 73% of all parcels despite being just 12 accounts. Small customers grew the fastest at +51.9% — a sign that many SMBs launched or expanded e-commerce for the first time during COVID. Every segment grew, confirming this was a market-wide shift, not an individual account effect.</a:t>
            </a:r>
            <a:endParaRPr lang="en-US" sz="900" dirty="0"/>
          </a:p>
        </p:txBody>
      </p:sp>
      <p:sp>
        <p:nvSpPr>
          <p:cNvPr id="21" name="TextBox 20"/>
          <p:cNvSpPr txBox="1"/>
          <p:nvPr/>
        </p:nvSpPr>
        <p:spPr>
          <a:xfrm>
            <a:off x="8440747" y="4896612"/>
            <a:ext cx="300082" cy="230832"/>
          </a:xfrm>
          <a:prstGeom prst="rect">
            <a:avLst/>
          </a:prstGeom>
          <a:noFill/>
          <a:ln>
            <a:noFill/>
          </a:ln>
        </p:spPr>
        <p:txBody>
          <a:bodyPr wrap="none">
            <a:spAutoFit/>
          </a:bodyPr>
          <a:lstStyle/>
          <a:p>
            <a:pPr algn="ctr"/>
            <a:r>
              <a:rPr sz="900" b="1" dirty="0">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54864"/>
            <a:ext cx="8229600" cy="502920"/>
          </a:xfrm>
          <a:prstGeom prst="rect">
            <a:avLst/>
          </a:prstGeom>
          <a:noFill/>
          <a:ln/>
        </p:spPr>
        <p:txBody>
          <a:bodyPr wrap="square" lIns="0" tIns="0" rIns="0" bIns="0" rtlCol="0" anchor="ctr"/>
          <a:lstStyle/>
          <a:p>
            <a:pPr algn="ctr"/>
            <a:r>
              <a:rPr lang="en-US" b="1" i="1" dirty="0"/>
              <a:t>Question - How has COVID affected companies in the different customer groups? (2/2)</a:t>
            </a:r>
            <a:endParaRPr lang="en-US" sz="2400" b="1" dirty="0">
              <a:solidFill>
                <a:srgbClr val="0D2137"/>
              </a:solidFill>
              <a:latin typeface="Calibri" pitchFamily="34" charset="0"/>
              <a:ea typeface="Calibri" pitchFamily="34" charset="-122"/>
              <a:cs typeface="Calibri" pitchFamily="34" charset="-120"/>
            </a:endParaRPr>
          </a:p>
          <a:p>
            <a:pPr marL="0" indent="0" algn="ctr">
              <a:buNone/>
            </a:pPr>
            <a:r>
              <a:rPr lang="en-US" sz="2000" b="1" dirty="0">
                <a:solidFill>
                  <a:srgbClr val="0D2137"/>
                </a:solidFill>
                <a:latin typeface="Calibri" pitchFamily="34" charset="0"/>
                <a:ea typeface="Calibri" pitchFamily="34" charset="-122"/>
                <a:cs typeface="Calibri" pitchFamily="34" charset="-120"/>
              </a:rPr>
              <a:t>Weekly Volume Trends by Segment</a:t>
            </a:r>
            <a:endParaRPr lang="en-US" sz="2000" dirty="0"/>
          </a:p>
        </p:txBody>
      </p:sp>
      <p:sp>
        <p:nvSpPr>
          <p:cNvPr id="11" name="Shape 5"/>
          <p:cNvSpPr/>
          <p:nvPr/>
        </p:nvSpPr>
        <p:spPr>
          <a:xfrm>
            <a:off x="274320" y="4526280"/>
            <a:ext cx="8595360" cy="502920"/>
          </a:xfrm>
          <a:prstGeom prst="rect">
            <a:avLst/>
          </a:prstGeom>
          <a:solidFill>
            <a:srgbClr val="EFF6FF"/>
          </a:solidFill>
          <a:ln w="12700">
            <a:solidFill>
              <a:srgbClr val="BFDBFE"/>
            </a:solidFill>
            <a:prstDash val="solid"/>
          </a:ln>
        </p:spPr>
        <p:txBody>
          <a:bodyPr/>
          <a:lstStyle/>
          <a:p>
            <a:endParaRPr lang="en-CA"/>
          </a:p>
        </p:txBody>
      </p:sp>
      <p:sp>
        <p:nvSpPr>
          <p:cNvPr id="12" name="Shape 6"/>
          <p:cNvSpPr/>
          <p:nvPr/>
        </p:nvSpPr>
        <p:spPr>
          <a:xfrm>
            <a:off x="274320" y="4526280"/>
            <a:ext cx="64008" cy="502920"/>
          </a:xfrm>
          <a:prstGeom prst="rect">
            <a:avLst/>
          </a:prstGeom>
          <a:solidFill>
            <a:srgbClr val="0891B2"/>
          </a:solidFill>
          <a:ln w="12700">
            <a:solidFill>
              <a:srgbClr val="0891B2"/>
            </a:solidFill>
            <a:prstDash val="solid"/>
          </a:ln>
        </p:spPr>
        <p:txBody>
          <a:bodyPr/>
          <a:lstStyle/>
          <a:p>
            <a:endParaRPr lang="en-CA"/>
          </a:p>
        </p:txBody>
      </p:sp>
      <p:sp>
        <p:nvSpPr>
          <p:cNvPr id="13" name="Text 7"/>
          <p:cNvSpPr/>
          <p:nvPr/>
        </p:nvSpPr>
        <p:spPr>
          <a:xfrm>
            <a:off x="411480" y="4544568"/>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Breaking down by segment reveals different surge profiles. Enterprise volumes spiked earliest and hardest. Small customers had a slower initial response but achieved the strongest sustained percentage gains — likely reflecting the time it took smaller businesses to stand up online operations.</a:t>
            </a:r>
            <a:endParaRPr lang="en-US" sz="900" dirty="0"/>
          </a:p>
        </p:txBody>
      </p:sp>
      <p:pic>
        <p:nvPicPr>
          <p:cNvPr id="8" name="Picture 7">
            <a:extLst>
              <a:ext uri="{FF2B5EF4-FFF2-40B4-BE49-F238E27FC236}">
                <a16:creationId xmlns:a16="http://schemas.microsoft.com/office/drawing/2014/main" id="{A4A00FFE-89F1-ED9F-8EEC-58CB5DD92F9A}"/>
              </a:ext>
            </a:extLst>
          </p:cNvPr>
          <p:cNvPicPr>
            <a:picLocks noChangeAspect="1"/>
          </p:cNvPicPr>
          <p:nvPr/>
        </p:nvPicPr>
        <p:blipFill>
          <a:blip r:embed="rId3"/>
          <a:stretch>
            <a:fillRect/>
          </a:stretch>
        </p:blipFill>
        <p:spPr>
          <a:xfrm>
            <a:off x="189247" y="572236"/>
            <a:ext cx="8765505" cy="3972331"/>
          </a:xfrm>
          <a:prstGeom prst="rect">
            <a:avLst/>
          </a:prstGeom>
        </p:spPr>
      </p:pic>
      <p:sp>
        <p:nvSpPr>
          <p:cNvPr id="14" name="TextBox 13"/>
          <p:cNvSpPr txBox="1"/>
          <p:nvPr/>
        </p:nvSpPr>
        <p:spPr>
          <a:xfrm>
            <a:off x="8440747" y="4896612"/>
            <a:ext cx="300082" cy="230832"/>
          </a:xfrm>
          <a:prstGeom prst="rect">
            <a:avLst/>
          </a:prstGeom>
          <a:noFill/>
          <a:ln>
            <a:noFill/>
          </a:ln>
        </p:spPr>
        <p:txBody>
          <a:bodyPr wrap="none">
            <a:spAutoFit/>
          </a:bodyPr>
          <a:lstStyle/>
          <a:p>
            <a:pPr algn="ctr"/>
            <a:r>
              <a:rPr sz="900" b="1" dirty="0">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18" y="137160"/>
            <a:ext cx="7306347" cy="571500"/>
          </a:xfrm>
          <a:prstGeom prst="rect">
            <a:avLst/>
          </a:prstGeom>
          <a:noFill/>
          <a:ln/>
        </p:spPr>
        <p:txBody>
          <a:bodyPr wrap="square" lIns="0" tIns="0" rIns="0" bIns="0" rtlCol="0" anchor="ctr"/>
          <a:lstStyle/>
          <a:p>
            <a:pPr algn="ctr"/>
            <a:r>
              <a:rPr lang="en-US" b="1" i="1" dirty="0"/>
              <a:t>Question - What percent of each group is growing, stable, and declining?</a:t>
            </a:r>
            <a:endParaRPr lang="en-US" b="1" i="1" dirty="0">
              <a:solidFill>
                <a:srgbClr val="0D2137"/>
              </a:solidFill>
              <a:latin typeface="Calibri" pitchFamily="34" charset="0"/>
              <a:ea typeface="Calibri" pitchFamily="34" charset="-122"/>
              <a:cs typeface="Calibri" pitchFamily="34" charset="-120"/>
            </a:endParaRPr>
          </a:p>
          <a:p>
            <a:pPr marL="0" indent="0" algn="ctr">
              <a:buNone/>
            </a:pPr>
            <a:r>
              <a:rPr lang="en-US" sz="2000" b="1" dirty="0">
                <a:solidFill>
                  <a:srgbClr val="0D2137"/>
                </a:solidFill>
                <a:latin typeface="Calibri" pitchFamily="34" charset="0"/>
                <a:ea typeface="Calibri" pitchFamily="34" charset="-122"/>
                <a:cs typeface="Calibri" pitchFamily="34" charset="-120"/>
              </a:rPr>
              <a:t>Customer Health During COVID Observation Period (1/2)</a:t>
            </a:r>
            <a:endParaRPr lang="en-US" sz="2000" dirty="0"/>
          </a:p>
        </p:txBody>
      </p:sp>
      <p:sp>
        <p:nvSpPr>
          <p:cNvPr id="7" name="Shape 5"/>
          <p:cNvSpPr/>
          <p:nvPr/>
        </p:nvSpPr>
        <p:spPr>
          <a:xfrm>
            <a:off x="7651463" y="137160"/>
            <a:ext cx="1218216" cy="411480"/>
          </a:xfrm>
          <a:prstGeom prst="rect">
            <a:avLst/>
          </a:prstGeom>
          <a:solidFill>
            <a:srgbClr val="0D2137"/>
          </a:solidFill>
          <a:ln w="12700">
            <a:solidFill>
              <a:srgbClr val="0D2137"/>
            </a:solidFill>
            <a:prstDash val="solid"/>
          </a:ln>
        </p:spPr>
        <p:txBody>
          <a:bodyPr/>
          <a:lstStyle/>
          <a:p>
            <a:endParaRPr lang="en-CA"/>
          </a:p>
        </p:txBody>
      </p:sp>
      <p:sp>
        <p:nvSpPr>
          <p:cNvPr id="8" name="Text 6"/>
          <p:cNvSpPr/>
          <p:nvPr/>
        </p:nvSpPr>
        <p:spPr>
          <a:xfrm>
            <a:off x="7580666" y="137160"/>
            <a:ext cx="1289014" cy="411480"/>
          </a:xfrm>
          <a:prstGeom prst="rect">
            <a:avLst/>
          </a:prstGeom>
          <a:noFill/>
          <a:ln/>
        </p:spPr>
        <p:txBody>
          <a:bodyPr wrap="square" lIns="0" tIns="0" rIns="0" bIns="0" rtlCol="0" anchor="ctr"/>
          <a:lstStyle/>
          <a:p>
            <a:pPr marL="0" indent="0" algn="ctr">
              <a:buNone/>
            </a:pPr>
            <a:r>
              <a:rPr lang="en-US" sz="1100" b="1" dirty="0">
                <a:solidFill>
                  <a:srgbClr val="0891B2"/>
                </a:solidFill>
                <a:latin typeface="Calibri" pitchFamily="34" charset="0"/>
                <a:ea typeface="Calibri" pitchFamily="34" charset="-122"/>
                <a:cs typeface="Calibri" pitchFamily="34" charset="-120"/>
              </a:rPr>
              <a:t>ISGR: +11.4%</a:t>
            </a:r>
            <a:endParaRPr lang="en-US" sz="1100" dirty="0"/>
          </a:p>
        </p:txBody>
      </p:sp>
      <p:graphicFrame>
        <p:nvGraphicFramePr>
          <p:cNvPr id="9" name="Chart 0"/>
          <p:cNvGraphicFramePr/>
          <p:nvPr>
            <p:extLst>
              <p:ext uri="{D42A27DB-BD31-4B8C-83A1-F6EECF244321}">
                <p14:modId xmlns:p14="http://schemas.microsoft.com/office/powerpoint/2010/main" val="1510783714"/>
              </p:ext>
            </p:extLst>
          </p:nvPr>
        </p:nvGraphicFramePr>
        <p:xfrm>
          <a:off x="274320" y="777240"/>
          <a:ext cx="530352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1"/>
          <p:cNvGraphicFramePr/>
          <p:nvPr/>
        </p:nvGraphicFramePr>
        <p:xfrm>
          <a:off x="5669280" y="777240"/>
          <a:ext cx="320040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p:cNvSpPr/>
          <p:nvPr/>
        </p:nvSpPr>
        <p:spPr>
          <a:xfrm>
            <a:off x="274320" y="4526280"/>
            <a:ext cx="8595360" cy="502920"/>
          </a:xfrm>
          <a:prstGeom prst="rect">
            <a:avLst/>
          </a:prstGeom>
          <a:solidFill>
            <a:srgbClr val="EFF6FF"/>
          </a:solidFill>
          <a:ln w="12700">
            <a:solidFill>
              <a:srgbClr val="BFDBFE"/>
            </a:solidFill>
            <a:prstDash val="solid"/>
          </a:ln>
        </p:spPr>
        <p:txBody>
          <a:bodyPr/>
          <a:lstStyle/>
          <a:p>
            <a:endParaRPr lang="en-CA"/>
          </a:p>
        </p:txBody>
      </p:sp>
      <p:sp>
        <p:nvSpPr>
          <p:cNvPr id="12" name="Shape 8"/>
          <p:cNvSpPr/>
          <p:nvPr/>
        </p:nvSpPr>
        <p:spPr>
          <a:xfrm>
            <a:off x="274320" y="4526280"/>
            <a:ext cx="64008" cy="502920"/>
          </a:xfrm>
          <a:prstGeom prst="rect">
            <a:avLst/>
          </a:prstGeom>
          <a:solidFill>
            <a:srgbClr val="0891B2"/>
          </a:solidFill>
          <a:ln w="12700">
            <a:solidFill>
              <a:srgbClr val="0891B2"/>
            </a:solidFill>
            <a:prstDash val="solid"/>
          </a:ln>
        </p:spPr>
        <p:txBody>
          <a:bodyPr/>
          <a:lstStyle/>
          <a:p>
            <a:endParaRPr lang="en-CA"/>
          </a:p>
        </p:txBody>
      </p:sp>
      <p:sp>
        <p:nvSpPr>
          <p:cNvPr id="13" name="Text 9"/>
          <p:cNvSpPr/>
          <p:nvPr/>
        </p:nvSpPr>
        <p:spPr>
          <a:xfrm>
            <a:off x="411480" y="4544568"/>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The left chart shows proportions, the right shows actual numbers. Over half of every segment was High Growth — the pandemic was broadly positive for parcel volumes. The declining customers in Small and Medium (34–38%) are worth investigating: these are likely service-sector businesses such as restaurants or salons that saw demand collapse during lockdowns.</a:t>
            </a:r>
            <a:endParaRPr lang="en-US" sz="900" dirty="0"/>
          </a:p>
        </p:txBody>
      </p:sp>
      <p:sp>
        <p:nvSpPr>
          <p:cNvPr id="14" name="TextBox 13"/>
          <p:cNvSpPr txBox="1"/>
          <p:nvPr/>
        </p:nvSpPr>
        <p:spPr>
          <a:xfrm>
            <a:off x="8440747" y="4896612"/>
            <a:ext cx="300083" cy="230832"/>
          </a:xfrm>
          <a:prstGeom prst="rect">
            <a:avLst/>
          </a:prstGeom>
          <a:noFill/>
          <a:ln>
            <a:noFill/>
          </a:ln>
        </p:spPr>
        <p:txBody>
          <a:bodyPr wrap="none">
            <a:spAutoFit/>
          </a:bodyPr>
          <a:lstStyle/>
          <a:p>
            <a:pPr algn="ctr"/>
            <a:r>
              <a:rPr lang="en-CA" sz="900" b="1" dirty="0">
                <a:latin typeface="Calibri"/>
              </a:rPr>
              <a:t>12</a:t>
            </a:r>
            <a:endParaRPr sz="900" b="1" dirty="0">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8FA"/>
        </a:solidFill>
        <a:effectLst/>
      </p:bgPr>
    </p:bg>
    <p:spTree>
      <p:nvGrpSpPr>
        <p:cNvPr id="1" name="">
          <a:extLst>
            <a:ext uri="{FF2B5EF4-FFF2-40B4-BE49-F238E27FC236}">
              <a16:creationId xmlns:a16="http://schemas.microsoft.com/office/drawing/2014/main" id="{55C6A075-A48E-E31D-0111-F503DF2661F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6460B99-D771-932F-F546-10A0D7E04DC1}"/>
              </a:ext>
            </a:extLst>
          </p:cNvPr>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a:extLst>
              <a:ext uri="{FF2B5EF4-FFF2-40B4-BE49-F238E27FC236}">
                <a16:creationId xmlns:a16="http://schemas.microsoft.com/office/drawing/2014/main" id="{E58BD82F-4E98-F24B-C508-8A5AC680CBD0}"/>
              </a:ext>
            </a:extLst>
          </p:cNvPr>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a:extLst>
              <a:ext uri="{FF2B5EF4-FFF2-40B4-BE49-F238E27FC236}">
                <a16:creationId xmlns:a16="http://schemas.microsoft.com/office/drawing/2014/main" id="{E2EA8E42-B46C-248F-02A0-5F423E79BB0B}"/>
              </a:ext>
            </a:extLst>
          </p:cNvPr>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6" name="Text 4">
            <a:extLst>
              <a:ext uri="{FF2B5EF4-FFF2-40B4-BE49-F238E27FC236}">
                <a16:creationId xmlns:a16="http://schemas.microsoft.com/office/drawing/2014/main" id="{1D7BE0C4-FC88-BDB2-B48D-815E7A63DC01}"/>
              </a:ext>
            </a:extLst>
          </p:cNvPr>
          <p:cNvSpPr/>
          <p:nvPr/>
        </p:nvSpPr>
        <p:spPr>
          <a:xfrm>
            <a:off x="91440" y="219456"/>
            <a:ext cx="7324048" cy="411480"/>
          </a:xfrm>
          <a:prstGeom prst="rect">
            <a:avLst/>
          </a:prstGeom>
          <a:noFill/>
          <a:ln/>
        </p:spPr>
        <p:txBody>
          <a:bodyPr wrap="square" lIns="0" tIns="0" rIns="0" bIns="0" rtlCol="0" anchor="ctr"/>
          <a:lstStyle/>
          <a:p>
            <a:pPr algn="ctr"/>
            <a:r>
              <a:rPr lang="en-US" b="1" i="1" dirty="0"/>
              <a:t>Question - What percent of each group is growing, stable, and declining? (2/2)</a:t>
            </a:r>
            <a:endParaRPr lang="en-US" sz="2200" b="1" dirty="0">
              <a:solidFill>
                <a:srgbClr val="0D2137"/>
              </a:solidFill>
              <a:latin typeface="Calibri" pitchFamily="34" charset="0"/>
              <a:ea typeface="Calibri" pitchFamily="34" charset="-122"/>
              <a:cs typeface="Calibri" pitchFamily="34" charset="-120"/>
            </a:endParaRPr>
          </a:p>
          <a:p>
            <a:pPr marL="0" indent="0" algn="ctr">
              <a:buNone/>
            </a:pPr>
            <a:r>
              <a:rPr lang="en-US" sz="2000" b="1" dirty="0">
                <a:solidFill>
                  <a:srgbClr val="0D2137"/>
                </a:solidFill>
                <a:latin typeface="Calibri" pitchFamily="34" charset="0"/>
                <a:ea typeface="Calibri" pitchFamily="34" charset="-122"/>
                <a:cs typeface="Calibri" pitchFamily="34" charset="-120"/>
              </a:rPr>
              <a:t>Customer Health During COVID Observation Period (2/2)</a:t>
            </a:r>
            <a:endParaRPr lang="en-US" sz="2000" dirty="0"/>
          </a:p>
        </p:txBody>
      </p:sp>
      <p:sp>
        <p:nvSpPr>
          <p:cNvPr id="7" name="Shape 5">
            <a:extLst>
              <a:ext uri="{FF2B5EF4-FFF2-40B4-BE49-F238E27FC236}">
                <a16:creationId xmlns:a16="http://schemas.microsoft.com/office/drawing/2014/main" id="{F6C386B1-4DED-C362-5879-BCDDA4B88EB0}"/>
              </a:ext>
            </a:extLst>
          </p:cNvPr>
          <p:cNvSpPr/>
          <p:nvPr/>
        </p:nvSpPr>
        <p:spPr>
          <a:xfrm>
            <a:off x="7415488" y="137160"/>
            <a:ext cx="1454191" cy="411480"/>
          </a:xfrm>
          <a:prstGeom prst="rect">
            <a:avLst/>
          </a:prstGeom>
          <a:solidFill>
            <a:srgbClr val="0D2137"/>
          </a:solidFill>
          <a:ln w="12700">
            <a:solidFill>
              <a:srgbClr val="0D2137"/>
            </a:solidFill>
            <a:prstDash val="solid"/>
          </a:ln>
        </p:spPr>
        <p:txBody>
          <a:bodyPr/>
          <a:lstStyle/>
          <a:p>
            <a:endParaRPr lang="en-CA"/>
          </a:p>
        </p:txBody>
      </p:sp>
      <p:sp>
        <p:nvSpPr>
          <p:cNvPr id="8" name="Text 6">
            <a:extLst>
              <a:ext uri="{FF2B5EF4-FFF2-40B4-BE49-F238E27FC236}">
                <a16:creationId xmlns:a16="http://schemas.microsoft.com/office/drawing/2014/main" id="{A34BC64B-E439-3E22-E435-1CD23D0C0181}"/>
              </a:ext>
            </a:extLst>
          </p:cNvPr>
          <p:cNvSpPr/>
          <p:nvPr/>
        </p:nvSpPr>
        <p:spPr>
          <a:xfrm>
            <a:off x="7315200" y="137160"/>
            <a:ext cx="1554480" cy="411480"/>
          </a:xfrm>
          <a:prstGeom prst="rect">
            <a:avLst/>
          </a:prstGeom>
          <a:noFill/>
          <a:ln/>
        </p:spPr>
        <p:txBody>
          <a:bodyPr wrap="square" lIns="0" tIns="0" rIns="0" bIns="0" rtlCol="0" anchor="ctr"/>
          <a:lstStyle/>
          <a:p>
            <a:pPr marL="0" indent="0" algn="ctr">
              <a:buNone/>
            </a:pPr>
            <a:r>
              <a:rPr lang="en-US" sz="1100" b="1" dirty="0">
                <a:solidFill>
                  <a:srgbClr val="0891B2"/>
                </a:solidFill>
                <a:latin typeface="Calibri" pitchFamily="34" charset="0"/>
                <a:ea typeface="Calibri" pitchFamily="34" charset="-122"/>
                <a:cs typeface="Calibri" pitchFamily="34" charset="-120"/>
              </a:rPr>
              <a:t>ISGR: +11.4%</a:t>
            </a:r>
            <a:endParaRPr lang="en-US" sz="1100" dirty="0"/>
          </a:p>
        </p:txBody>
      </p:sp>
      <p:pic>
        <p:nvPicPr>
          <p:cNvPr id="15" name="Picture 14">
            <a:extLst>
              <a:ext uri="{FF2B5EF4-FFF2-40B4-BE49-F238E27FC236}">
                <a16:creationId xmlns:a16="http://schemas.microsoft.com/office/drawing/2014/main" id="{23679E69-2B03-0B19-D44D-D60FCD601385}"/>
              </a:ext>
            </a:extLst>
          </p:cNvPr>
          <p:cNvPicPr>
            <a:picLocks noChangeAspect="1"/>
          </p:cNvPicPr>
          <p:nvPr/>
        </p:nvPicPr>
        <p:blipFill>
          <a:blip r:embed="rId3"/>
          <a:stretch>
            <a:fillRect/>
          </a:stretch>
        </p:blipFill>
        <p:spPr>
          <a:xfrm>
            <a:off x="1746209" y="930622"/>
            <a:ext cx="5386111" cy="3947702"/>
          </a:xfrm>
          <a:prstGeom prst="rect">
            <a:avLst/>
          </a:prstGeom>
        </p:spPr>
      </p:pic>
      <p:sp>
        <p:nvSpPr>
          <p:cNvPr id="16" name="TextBox 15">
            <a:extLst>
              <a:ext uri="{FF2B5EF4-FFF2-40B4-BE49-F238E27FC236}">
                <a16:creationId xmlns:a16="http://schemas.microsoft.com/office/drawing/2014/main" id="{12514F15-2B60-C81D-3369-B1FAAF37C06B}"/>
              </a:ext>
            </a:extLst>
          </p:cNvPr>
          <p:cNvSpPr txBox="1"/>
          <p:nvPr/>
        </p:nvSpPr>
        <p:spPr>
          <a:xfrm>
            <a:off x="7132320" y="1581027"/>
            <a:ext cx="1737359" cy="1477328"/>
          </a:xfrm>
          <a:prstGeom prst="rect">
            <a:avLst/>
          </a:prstGeom>
          <a:noFill/>
        </p:spPr>
        <p:txBody>
          <a:bodyPr wrap="square" rtlCol="0">
            <a:spAutoFit/>
          </a:bodyPr>
          <a:lstStyle/>
          <a:p>
            <a:pPr algn="just"/>
            <a:r>
              <a:rPr lang="en-US" sz="900" dirty="0"/>
              <a:t>🔎 </a:t>
            </a:r>
            <a:r>
              <a:rPr lang="en-US" sz="900" b="1" dirty="0"/>
              <a:t>New Customers During COVID: 0% across all segments.</a:t>
            </a:r>
            <a:r>
              <a:rPr lang="en-US" sz="900" dirty="0"/>
              <a:t> Every customer active during the COVID observation period (W12–W53, 2020) was already an existing ABC Company account from 2019. COVID did not attract new clients; it deepened and accelerated existing relationships across all four segments.</a:t>
            </a:r>
            <a:endParaRPr lang="en-CA" sz="900" dirty="0"/>
          </a:p>
        </p:txBody>
      </p:sp>
      <p:sp>
        <p:nvSpPr>
          <p:cNvPr id="17" name="TextBox 16"/>
          <p:cNvSpPr txBox="1"/>
          <p:nvPr/>
        </p:nvSpPr>
        <p:spPr>
          <a:xfrm>
            <a:off x="8440747" y="4896612"/>
            <a:ext cx="300082" cy="230832"/>
          </a:xfrm>
          <a:prstGeom prst="rect">
            <a:avLst/>
          </a:prstGeom>
          <a:noFill/>
          <a:ln>
            <a:noFill/>
          </a:ln>
        </p:spPr>
        <p:txBody>
          <a:bodyPr wrap="none">
            <a:spAutoFit/>
          </a:bodyPr>
          <a:lstStyle/>
          <a:p>
            <a:pPr algn="ctr"/>
            <a:r>
              <a:rPr sz="900" b="1" dirty="0">
                <a:latin typeface="Calibri"/>
              </a:rPr>
              <a:t>13</a:t>
            </a:r>
          </a:p>
        </p:txBody>
      </p:sp>
    </p:spTree>
    <p:extLst>
      <p:ext uri="{BB962C8B-B14F-4D97-AF65-F5344CB8AC3E}">
        <p14:creationId xmlns:p14="http://schemas.microsoft.com/office/powerpoint/2010/main" val="121717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137160"/>
            <a:ext cx="8229600" cy="502920"/>
          </a:xfrm>
          <a:prstGeom prst="rect">
            <a:avLst/>
          </a:prstGeom>
          <a:noFill/>
          <a:ln/>
        </p:spPr>
        <p:txBody>
          <a:bodyPr wrap="square" lIns="0" tIns="0" rIns="0" bIns="0" rtlCol="0" anchor="ctr"/>
          <a:lstStyle/>
          <a:p>
            <a:pPr algn="ctr"/>
            <a:r>
              <a:rPr lang="en-US" b="1" i="1" dirty="0"/>
              <a:t>Question - What percent of 2019 customers did we lose during COVID?</a:t>
            </a:r>
            <a:endParaRPr lang="en-US" b="1" i="1" dirty="0">
              <a:solidFill>
                <a:srgbClr val="0D2137"/>
              </a:solidFill>
              <a:latin typeface="Calibri" pitchFamily="34" charset="0"/>
              <a:ea typeface="Calibri" pitchFamily="34" charset="-122"/>
              <a:cs typeface="Calibri" pitchFamily="34" charset="-120"/>
            </a:endParaRPr>
          </a:p>
          <a:p>
            <a:pPr marL="0" indent="0" algn="ctr">
              <a:buNone/>
            </a:pPr>
            <a:r>
              <a:rPr lang="en-US" sz="2000" b="1" dirty="0">
                <a:solidFill>
                  <a:srgbClr val="0D2137"/>
                </a:solidFill>
                <a:latin typeface="Calibri" pitchFamily="34" charset="0"/>
                <a:ea typeface="Calibri" pitchFamily="34" charset="-122"/>
                <a:cs typeface="Calibri" pitchFamily="34" charset="-120"/>
              </a:rPr>
              <a:t>Customer Retention Analysis</a:t>
            </a:r>
            <a:endParaRPr lang="en-US" sz="2000" dirty="0"/>
          </a:p>
        </p:txBody>
      </p:sp>
      <p:graphicFrame>
        <p:nvGraphicFramePr>
          <p:cNvPr id="7" name="Chart 0"/>
          <p:cNvGraphicFramePr/>
          <p:nvPr>
            <p:extLst>
              <p:ext uri="{D42A27DB-BD31-4B8C-83A1-F6EECF244321}">
                <p14:modId xmlns:p14="http://schemas.microsoft.com/office/powerpoint/2010/main" val="3425433600"/>
              </p:ext>
            </p:extLst>
          </p:nvPr>
        </p:nvGraphicFramePr>
        <p:xfrm>
          <a:off x="274320" y="777240"/>
          <a:ext cx="54864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6035040" y="777240"/>
            <a:ext cx="2834640" cy="71323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CA"/>
          </a:p>
        </p:txBody>
      </p:sp>
      <p:sp>
        <p:nvSpPr>
          <p:cNvPr id="9" name="Shape 6"/>
          <p:cNvSpPr/>
          <p:nvPr/>
        </p:nvSpPr>
        <p:spPr>
          <a:xfrm>
            <a:off x="6035040" y="777240"/>
            <a:ext cx="64008" cy="713232"/>
          </a:xfrm>
          <a:prstGeom prst="rect">
            <a:avLst/>
          </a:prstGeom>
          <a:solidFill>
            <a:srgbClr val="0891B2"/>
          </a:solidFill>
          <a:ln w="12700">
            <a:solidFill>
              <a:srgbClr val="0891B2"/>
            </a:solidFill>
            <a:prstDash val="solid"/>
          </a:ln>
        </p:spPr>
        <p:txBody>
          <a:bodyPr/>
          <a:lstStyle/>
          <a:p>
            <a:endParaRPr lang="en-CA"/>
          </a:p>
        </p:txBody>
      </p:sp>
      <p:sp>
        <p:nvSpPr>
          <p:cNvPr id="10" name="Text 7"/>
          <p:cNvSpPr/>
          <p:nvPr/>
        </p:nvSpPr>
        <p:spPr>
          <a:xfrm>
            <a:off x="6172200" y="822960"/>
            <a:ext cx="1371600" cy="228600"/>
          </a:xfrm>
          <a:prstGeom prst="rect">
            <a:avLst/>
          </a:prstGeom>
          <a:noFill/>
          <a:ln/>
        </p:spPr>
        <p:txBody>
          <a:bodyPr wrap="square" lIns="0" tIns="0" rIns="0" bIns="0" rtlCol="0" anchor="ctr"/>
          <a:lstStyle/>
          <a:p>
            <a:pPr marL="0" indent="0">
              <a:buNone/>
            </a:pPr>
            <a:r>
              <a:rPr lang="en-US" sz="1000" b="1" dirty="0">
                <a:solidFill>
                  <a:srgbClr val="0D2137"/>
                </a:solidFill>
                <a:latin typeface="Calibri" pitchFamily="34" charset="0"/>
                <a:ea typeface="Calibri" pitchFamily="34" charset="-122"/>
                <a:cs typeface="Calibri" pitchFamily="34" charset="-120"/>
              </a:rPr>
              <a:t>Enterprise</a:t>
            </a:r>
            <a:endParaRPr lang="en-US" sz="1000" dirty="0"/>
          </a:p>
        </p:txBody>
      </p:sp>
      <p:sp>
        <p:nvSpPr>
          <p:cNvPr id="11" name="Text 8"/>
          <p:cNvSpPr/>
          <p:nvPr/>
        </p:nvSpPr>
        <p:spPr>
          <a:xfrm>
            <a:off x="6172200" y="1051560"/>
            <a:ext cx="1463040" cy="228600"/>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100% retained</a:t>
            </a:r>
            <a:endParaRPr lang="en-US" sz="1000" dirty="0"/>
          </a:p>
        </p:txBody>
      </p:sp>
      <p:sp>
        <p:nvSpPr>
          <p:cNvPr id="12" name="Text 9"/>
          <p:cNvSpPr/>
          <p:nvPr/>
        </p:nvSpPr>
        <p:spPr>
          <a:xfrm>
            <a:off x="6172200" y="1252728"/>
            <a:ext cx="1645920" cy="18288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12 kept · 0 lost</a:t>
            </a:r>
            <a:endParaRPr lang="en-US" sz="900" dirty="0"/>
          </a:p>
        </p:txBody>
      </p:sp>
      <p:sp>
        <p:nvSpPr>
          <p:cNvPr id="13" name="Shape 10"/>
          <p:cNvSpPr/>
          <p:nvPr/>
        </p:nvSpPr>
        <p:spPr>
          <a:xfrm>
            <a:off x="6035040" y="1581912"/>
            <a:ext cx="2834640" cy="71323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CA"/>
          </a:p>
        </p:txBody>
      </p:sp>
      <p:sp>
        <p:nvSpPr>
          <p:cNvPr id="14" name="Shape 11"/>
          <p:cNvSpPr/>
          <p:nvPr/>
        </p:nvSpPr>
        <p:spPr>
          <a:xfrm>
            <a:off x="6035040" y="1581912"/>
            <a:ext cx="64008" cy="713232"/>
          </a:xfrm>
          <a:prstGeom prst="rect">
            <a:avLst/>
          </a:prstGeom>
          <a:solidFill>
            <a:srgbClr val="0891B2"/>
          </a:solidFill>
          <a:ln w="12700">
            <a:solidFill>
              <a:srgbClr val="0891B2"/>
            </a:solidFill>
            <a:prstDash val="solid"/>
          </a:ln>
        </p:spPr>
        <p:txBody>
          <a:bodyPr/>
          <a:lstStyle/>
          <a:p>
            <a:endParaRPr lang="en-CA"/>
          </a:p>
        </p:txBody>
      </p:sp>
      <p:sp>
        <p:nvSpPr>
          <p:cNvPr id="15" name="Text 12"/>
          <p:cNvSpPr/>
          <p:nvPr/>
        </p:nvSpPr>
        <p:spPr>
          <a:xfrm>
            <a:off x="6172200" y="1627632"/>
            <a:ext cx="1371600" cy="228600"/>
          </a:xfrm>
          <a:prstGeom prst="rect">
            <a:avLst/>
          </a:prstGeom>
          <a:noFill/>
          <a:ln/>
        </p:spPr>
        <p:txBody>
          <a:bodyPr wrap="square" lIns="0" tIns="0" rIns="0" bIns="0" rtlCol="0" anchor="ctr"/>
          <a:lstStyle/>
          <a:p>
            <a:pPr marL="0" indent="0">
              <a:buNone/>
            </a:pPr>
            <a:r>
              <a:rPr lang="en-US" sz="1000" b="1" dirty="0">
                <a:solidFill>
                  <a:srgbClr val="0D2137"/>
                </a:solidFill>
                <a:latin typeface="Calibri" pitchFamily="34" charset="0"/>
                <a:ea typeface="Calibri" pitchFamily="34" charset="-122"/>
                <a:cs typeface="Calibri" pitchFamily="34" charset="-120"/>
              </a:rPr>
              <a:t>Large</a:t>
            </a:r>
            <a:endParaRPr lang="en-US" sz="1000" dirty="0"/>
          </a:p>
        </p:txBody>
      </p:sp>
      <p:sp>
        <p:nvSpPr>
          <p:cNvPr id="16" name="Text 13"/>
          <p:cNvSpPr/>
          <p:nvPr/>
        </p:nvSpPr>
        <p:spPr>
          <a:xfrm>
            <a:off x="6172200" y="1856232"/>
            <a:ext cx="1463040" cy="228600"/>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100% retained</a:t>
            </a:r>
            <a:endParaRPr lang="en-US" sz="1000" dirty="0"/>
          </a:p>
        </p:txBody>
      </p:sp>
      <p:sp>
        <p:nvSpPr>
          <p:cNvPr id="17" name="Text 14"/>
          <p:cNvSpPr/>
          <p:nvPr/>
        </p:nvSpPr>
        <p:spPr>
          <a:xfrm>
            <a:off x="6172200" y="2057400"/>
            <a:ext cx="1645920" cy="18288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15 kept · 0 lost</a:t>
            </a:r>
            <a:endParaRPr lang="en-US" sz="900" dirty="0"/>
          </a:p>
        </p:txBody>
      </p:sp>
      <p:sp>
        <p:nvSpPr>
          <p:cNvPr id="18" name="Shape 15"/>
          <p:cNvSpPr/>
          <p:nvPr/>
        </p:nvSpPr>
        <p:spPr>
          <a:xfrm>
            <a:off x="6035040" y="2386584"/>
            <a:ext cx="2834640" cy="71323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CA"/>
          </a:p>
        </p:txBody>
      </p:sp>
      <p:sp>
        <p:nvSpPr>
          <p:cNvPr id="19" name="Shape 16"/>
          <p:cNvSpPr/>
          <p:nvPr/>
        </p:nvSpPr>
        <p:spPr>
          <a:xfrm>
            <a:off x="6035040" y="2386584"/>
            <a:ext cx="64008" cy="713232"/>
          </a:xfrm>
          <a:prstGeom prst="rect">
            <a:avLst/>
          </a:prstGeom>
          <a:solidFill>
            <a:srgbClr val="0891B2"/>
          </a:solidFill>
          <a:ln w="12700">
            <a:solidFill>
              <a:srgbClr val="0891B2"/>
            </a:solidFill>
            <a:prstDash val="solid"/>
          </a:ln>
        </p:spPr>
        <p:txBody>
          <a:bodyPr/>
          <a:lstStyle/>
          <a:p>
            <a:endParaRPr lang="en-CA"/>
          </a:p>
        </p:txBody>
      </p:sp>
      <p:sp>
        <p:nvSpPr>
          <p:cNvPr id="20" name="Text 17"/>
          <p:cNvSpPr/>
          <p:nvPr/>
        </p:nvSpPr>
        <p:spPr>
          <a:xfrm>
            <a:off x="6172200" y="2432304"/>
            <a:ext cx="1371600" cy="228600"/>
          </a:xfrm>
          <a:prstGeom prst="rect">
            <a:avLst/>
          </a:prstGeom>
          <a:noFill/>
          <a:ln/>
        </p:spPr>
        <p:txBody>
          <a:bodyPr wrap="square" lIns="0" tIns="0" rIns="0" bIns="0" rtlCol="0" anchor="ctr"/>
          <a:lstStyle/>
          <a:p>
            <a:pPr marL="0" indent="0">
              <a:buNone/>
            </a:pPr>
            <a:r>
              <a:rPr lang="en-US" sz="1000" b="1" dirty="0">
                <a:solidFill>
                  <a:srgbClr val="0D2137"/>
                </a:solidFill>
                <a:latin typeface="Calibri" pitchFamily="34" charset="0"/>
                <a:ea typeface="Calibri" pitchFamily="34" charset="-122"/>
                <a:cs typeface="Calibri" pitchFamily="34" charset="-120"/>
              </a:rPr>
              <a:t>Medium</a:t>
            </a:r>
            <a:endParaRPr lang="en-US" sz="1000" dirty="0"/>
          </a:p>
        </p:txBody>
      </p:sp>
      <p:sp>
        <p:nvSpPr>
          <p:cNvPr id="21" name="Text 18"/>
          <p:cNvSpPr/>
          <p:nvPr/>
        </p:nvSpPr>
        <p:spPr>
          <a:xfrm>
            <a:off x="6172200" y="2660904"/>
            <a:ext cx="1463040" cy="228600"/>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99.4% retained</a:t>
            </a:r>
            <a:endParaRPr lang="en-US" sz="1000" dirty="0"/>
          </a:p>
        </p:txBody>
      </p:sp>
      <p:sp>
        <p:nvSpPr>
          <p:cNvPr id="22" name="Text 19"/>
          <p:cNvSpPr/>
          <p:nvPr/>
        </p:nvSpPr>
        <p:spPr>
          <a:xfrm>
            <a:off x="6172200" y="2862072"/>
            <a:ext cx="1645920" cy="18288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173 kept · 1 lost</a:t>
            </a:r>
            <a:endParaRPr lang="en-US" sz="900" dirty="0"/>
          </a:p>
        </p:txBody>
      </p:sp>
      <p:sp>
        <p:nvSpPr>
          <p:cNvPr id="23" name="Shape 20"/>
          <p:cNvSpPr/>
          <p:nvPr/>
        </p:nvSpPr>
        <p:spPr>
          <a:xfrm>
            <a:off x="6035040" y="3191256"/>
            <a:ext cx="2834640" cy="71323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CA"/>
          </a:p>
        </p:txBody>
      </p:sp>
      <p:sp>
        <p:nvSpPr>
          <p:cNvPr id="24" name="Shape 21"/>
          <p:cNvSpPr/>
          <p:nvPr/>
        </p:nvSpPr>
        <p:spPr>
          <a:xfrm>
            <a:off x="6035040" y="3191256"/>
            <a:ext cx="64008" cy="713232"/>
          </a:xfrm>
          <a:prstGeom prst="rect">
            <a:avLst/>
          </a:prstGeom>
          <a:solidFill>
            <a:srgbClr val="0891B2"/>
          </a:solidFill>
          <a:ln w="12700">
            <a:solidFill>
              <a:srgbClr val="0891B2"/>
            </a:solidFill>
            <a:prstDash val="solid"/>
          </a:ln>
        </p:spPr>
        <p:txBody>
          <a:bodyPr/>
          <a:lstStyle/>
          <a:p>
            <a:endParaRPr lang="en-CA"/>
          </a:p>
        </p:txBody>
      </p:sp>
      <p:sp>
        <p:nvSpPr>
          <p:cNvPr id="25" name="Text 22"/>
          <p:cNvSpPr/>
          <p:nvPr/>
        </p:nvSpPr>
        <p:spPr>
          <a:xfrm>
            <a:off x="6172200" y="3236976"/>
            <a:ext cx="1371600" cy="228600"/>
          </a:xfrm>
          <a:prstGeom prst="rect">
            <a:avLst/>
          </a:prstGeom>
          <a:noFill/>
          <a:ln/>
        </p:spPr>
        <p:txBody>
          <a:bodyPr wrap="square" lIns="0" tIns="0" rIns="0" bIns="0" rtlCol="0" anchor="ctr"/>
          <a:lstStyle/>
          <a:p>
            <a:pPr marL="0" indent="0">
              <a:buNone/>
            </a:pPr>
            <a:r>
              <a:rPr lang="en-US" sz="1000" b="1" dirty="0">
                <a:solidFill>
                  <a:srgbClr val="0D2137"/>
                </a:solidFill>
                <a:latin typeface="Calibri" pitchFamily="34" charset="0"/>
                <a:ea typeface="Calibri" pitchFamily="34" charset="-122"/>
                <a:cs typeface="Calibri" pitchFamily="34" charset="-120"/>
              </a:rPr>
              <a:t>Small</a:t>
            </a:r>
            <a:endParaRPr lang="en-US" sz="1000" dirty="0"/>
          </a:p>
        </p:txBody>
      </p:sp>
      <p:sp>
        <p:nvSpPr>
          <p:cNvPr id="26" name="Text 23"/>
          <p:cNvSpPr/>
          <p:nvPr/>
        </p:nvSpPr>
        <p:spPr>
          <a:xfrm>
            <a:off x="6172200" y="3465576"/>
            <a:ext cx="1463040" cy="228600"/>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97.1% retained</a:t>
            </a:r>
            <a:endParaRPr lang="en-US" sz="1000" dirty="0"/>
          </a:p>
        </p:txBody>
      </p:sp>
      <p:sp>
        <p:nvSpPr>
          <p:cNvPr id="27" name="Text 24"/>
          <p:cNvSpPr/>
          <p:nvPr/>
        </p:nvSpPr>
        <p:spPr>
          <a:xfrm>
            <a:off x="6172200" y="3666744"/>
            <a:ext cx="1645920" cy="18288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835 kept · 25 lost</a:t>
            </a:r>
            <a:endParaRPr lang="en-US" sz="900" dirty="0"/>
          </a:p>
        </p:txBody>
      </p:sp>
      <p:sp>
        <p:nvSpPr>
          <p:cNvPr id="28" name="Shape 25"/>
          <p:cNvSpPr/>
          <p:nvPr/>
        </p:nvSpPr>
        <p:spPr>
          <a:xfrm>
            <a:off x="274320" y="4526280"/>
            <a:ext cx="8595360" cy="502920"/>
          </a:xfrm>
          <a:prstGeom prst="rect">
            <a:avLst/>
          </a:prstGeom>
          <a:solidFill>
            <a:srgbClr val="EFF6FF"/>
          </a:solidFill>
          <a:ln w="12700">
            <a:solidFill>
              <a:srgbClr val="BFDBFE"/>
            </a:solidFill>
            <a:prstDash val="solid"/>
          </a:ln>
        </p:spPr>
        <p:txBody>
          <a:bodyPr/>
          <a:lstStyle/>
          <a:p>
            <a:endParaRPr lang="en-CA"/>
          </a:p>
        </p:txBody>
      </p:sp>
      <p:sp>
        <p:nvSpPr>
          <p:cNvPr id="29" name="Shape 26"/>
          <p:cNvSpPr/>
          <p:nvPr/>
        </p:nvSpPr>
        <p:spPr>
          <a:xfrm>
            <a:off x="274320" y="4526280"/>
            <a:ext cx="64008" cy="502920"/>
          </a:xfrm>
          <a:prstGeom prst="rect">
            <a:avLst/>
          </a:prstGeom>
          <a:solidFill>
            <a:srgbClr val="0891B2"/>
          </a:solidFill>
          <a:ln w="12700">
            <a:solidFill>
              <a:srgbClr val="0891B2"/>
            </a:solidFill>
            <a:prstDash val="solid"/>
          </a:ln>
        </p:spPr>
        <p:txBody>
          <a:bodyPr/>
          <a:lstStyle/>
          <a:p>
            <a:endParaRPr lang="en-CA"/>
          </a:p>
        </p:txBody>
      </p:sp>
      <p:sp>
        <p:nvSpPr>
          <p:cNvPr id="30" name="Text 27"/>
          <p:cNvSpPr/>
          <p:nvPr/>
        </p:nvSpPr>
        <p:spPr>
          <a:xfrm>
            <a:off x="411480" y="4544568"/>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Enterprise and Large had perfect retention — not a single account was lost. Even Small customers, our most at-risk segment, retained 97.1% of their 2019 base. This tells us that while some customers declined in volume, very few stopped shipping entirely. ABC Company's client relationships held up well through the pandemic.</a:t>
            </a:r>
            <a:endParaRPr lang="en-US" sz="900" dirty="0"/>
          </a:p>
        </p:txBody>
      </p:sp>
      <p:sp>
        <p:nvSpPr>
          <p:cNvPr id="31" name="TextBox 30"/>
          <p:cNvSpPr txBox="1"/>
          <p:nvPr/>
        </p:nvSpPr>
        <p:spPr>
          <a:xfrm>
            <a:off x="8440747" y="4896612"/>
            <a:ext cx="300082" cy="230832"/>
          </a:xfrm>
          <a:prstGeom prst="rect">
            <a:avLst/>
          </a:prstGeom>
          <a:noFill/>
          <a:ln>
            <a:noFill/>
          </a:ln>
        </p:spPr>
        <p:txBody>
          <a:bodyPr wrap="none">
            <a:spAutoFit/>
          </a:bodyPr>
          <a:lstStyle/>
          <a:p>
            <a:pPr algn="ctr"/>
            <a:r>
              <a:rPr sz="900" b="1" dirty="0">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137160"/>
            <a:ext cx="8229600" cy="502920"/>
          </a:xfrm>
          <a:prstGeom prst="rect">
            <a:avLst/>
          </a:prstGeom>
          <a:noFill/>
          <a:ln/>
        </p:spPr>
        <p:txBody>
          <a:bodyPr wrap="square" lIns="0" tIns="0" rIns="0" bIns="0" rtlCol="0" anchor="ctr"/>
          <a:lstStyle/>
          <a:p>
            <a:pPr algn="ctr"/>
            <a:r>
              <a:rPr lang="en-US" b="1" i="1" dirty="0"/>
              <a:t>Question - What was the overall impact on volumes and revenue by customer group?</a:t>
            </a:r>
            <a:endParaRPr lang="en-US" b="1" i="1" dirty="0">
              <a:solidFill>
                <a:srgbClr val="0D2137"/>
              </a:solidFill>
              <a:latin typeface="Calibri" pitchFamily="34" charset="0"/>
              <a:ea typeface="Calibri" pitchFamily="34" charset="-122"/>
              <a:cs typeface="Calibri" pitchFamily="34" charset="-120"/>
            </a:endParaRPr>
          </a:p>
          <a:p>
            <a:pPr marL="0" indent="0" algn="ctr">
              <a:buNone/>
            </a:pPr>
            <a:r>
              <a:rPr lang="en-US" sz="2000" b="1" dirty="0">
                <a:solidFill>
                  <a:srgbClr val="0D2137"/>
                </a:solidFill>
                <a:latin typeface="Calibri" pitchFamily="34" charset="0"/>
                <a:ea typeface="Calibri" pitchFamily="34" charset="-122"/>
                <a:cs typeface="Calibri" pitchFamily="34" charset="-120"/>
              </a:rPr>
              <a:t>Revenue Impact by Customer Group (COVID Period)</a:t>
            </a:r>
            <a:endParaRPr lang="en-US" sz="2000" dirty="0"/>
          </a:p>
        </p:txBody>
      </p:sp>
      <p:graphicFrame>
        <p:nvGraphicFramePr>
          <p:cNvPr id="7" name="Chart 0"/>
          <p:cNvGraphicFramePr/>
          <p:nvPr>
            <p:extLst>
              <p:ext uri="{D42A27DB-BD31-4B8C-83A1-F6EECF244321}">
                <p14:modId xmlns:p14="http://schemas.microsoft.com/office/powerpoint/2010/main" val="3799207893"/>
              </p:ext>
            </p:extLst>
          </p:nvPr>
        </p:nvGraphicFramePr>
        <p:xfrm>
          <a:off x="274320" y="777240"/>
          <a:ext cx="54864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943600" y="777240"/>
            <a:ext cx="2926080" cy="1508760"/>
          </a:xfrm>
          <a:prstGeom prst="rect">
            <a:avLst/>
          </a:prstGeom>
          <a:solidFill>
            <a:srgbClr val="0D2137"/>
          </a:solidFill>
          <a:ln w="12700">
            <a:solidFill>
              <a:srgbClr val="0D2137"/>
            </a:solidFill>
            <a:prstDash val="solid"/>
          </a:ln>
          <a:effectLst>
            <a:outerShdw blurRad="101600" dist="38100" dir="8100000" algn="bl" rotWithShape="0">
              <a:srgbClr val="000000">
                <a:alpha val="12000"/>
              </a:srgbClr>
            </a:outerShdw>
          </a:effectLst>
        </p:spPr>
        <p:txBody>
          <a:bodyPr/>
          <a:lstStyle/>
          <a:p>
            <a:endParaRPr lang="en-CA"/>
          </a:p>
        </p:txBody>
      </p:sp>
      <p:sp>
        <p:nvSpPr>
          <p:cNvPr id="9" name="Text 6"/>
          <p:cNvSpPr/>
          <p:nvPr/>
        </p:nvSpPr>
        <p:spPr>
          <a:xfrm>
            <a:off x="5943600" y="804672"/>
            <a:ext cx="2926080" cy="502920"/>
          </a:xfrm>
          <a:prstGeom prst="rect">
            <a:avLst/>
          </a:prstGeom>
          <a:noFill/>
          <a:ln/>
        </p:spPr>
        <p:txBody>
          <a:bodyPr wrap="square" lIns="0" tIns="0" rIns="0" bIns="0" rtlCol="0" anchor="ctr"/>
          <a:lstStyle/>
          <a:p>
            <a:pPr marL="0" indent="0" algn="ctr">
              <a:buNone/>
            </a:pPr>
            <a:r>
              <a:rPr lang="en-US" sz="1100" dirty="0">
                <a:solidFill>
                  <a:srgbClr val="E0F7FA"/>
                </a:solidFill>
                <a:latin typeface="Calibri" pitchFamily="34" charset="0"/>
                <a:ea typeface="Calibri" pitchFamily="34" charset="-122"/>
                <a:cs typeface="Calibri" pitchFamily="34" charset="-120"/>
              </a:rPr>
              <a:t>Total Revenue</a:t>
            </a:r>
            <a:endParaRPr lang="en-US" sz="1100" dirty="0"/>
          </a:p>
          <a:p>
            <a:pPr marL="0" indent="0" algn="ctr">
              <a:buNone/>
            </a:pPr>
            <a:r>
              <a:rPr lang="en-US" sz="1100" dirty="0">
                <a:solidFill>
                  <a:srgbClr val="E0F7FA"/>
                </a:solidFill>
                <a:latin typeface="Calibri" pitchFamily="34" charset="0"/>
                <a:ea typeface="Calibri" pitchFamily="34" charset="-122"/>
                <a:cs typeface="Calibri" pitchFamily="34" charset="-120"/>
              </a:rPr>
              <a:t>(COVID Period)</a:t>
            </a:r>
            <a:endParaRPr lang="en-US" sz="1100" dirty="0"/>
          </a:p>
        </p:txBody>
      </p:sp>
      <p:sp>
        <p:nvSpPr>
          <p:cNvPr id="10" name="Text 7"/>
          <p:cNvSpPr/>
          <p:nvPr/>
        </p:nvSpPr>
        <p:spPr>
          <a:xfrm>
            <a:off x="5943600" y="1261872"/>
            <a:ext cx="2926080" cy="6400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$1.135B</a:t>
            </a:r>
            <a:endParaRPr lang="en-US" sz="3000" dirty="0"/>
          </a:p>
        </p:txBody>
      </p:sp>
      <p:sp>
        <p:nvSpPr>
          <p:cNvPr id="11" name="Text 8"/>
          <p:cNvSpPr/>
          <p:nvPr/>
        </p:nvSpPr>
        <p:spPr>
          <a:xfrm>
            <a:off x="5943600" y="1920240"/>
            <a:ext cx="2926080" cy="274320"/>
          </a:xfrm>
          <a:prstGeom prst="rect">
            <a:avLst/>
          </a:prstGeom>
          <a:noFill/>
          <a:ln/>
        </p:spPr>
        <p:txBody>
          <a:bodyPr wrap="square" lIns="0" tIns="0" rIns="0" bIns="0" rtlCol="0" anchor="ctr"/>
          <a:lstStyle/>
          <a:p>
            <a:pPr marL="0" indent="0" algn="ctr">
              <a:buNone/>
            </a:pPr>
            <a:r>
              <a:rPr lang="en-US" sz="1000" dirty="0">
                <a:solidFill>
                  <a:srgbClr val="10B981"/>
                </a:solidFill>
                <a:latin typeface="Calibri" pitchFamily="34" charset="0"/>
                <a:ea typeface="Calibri" pitchFamily="34" charset="-122"/>
                <a:cs typeface="Calibri" pitchFamily="34" charset="-120"/>
              </a:rPr>
              <a:t>vs $767M in 2019  (+48.0%)</a:t>
            </a:r>
            <a:endParaRPr lang="en-US" sz="1000" dirty="0"/>
          </a:p>
        </p:txBody>
      </p:sp>
      <p:sp>
        <p:nvSpPr>
          <p:cNvPr id="12" name="Shape 9"/>
          <p:cNvSpPr/>
          <p:nvPr/>
        </p:nvSpPr>
        <p:spPr>
          <a:xfrm>
            <a:off x="5943600" y="2377440"/>
            <a:ext cx="2926080" cy="457200"/>
          </a:xfrm>
          <a:prstGeom prst="rect">
            <a:avLst/>
          </a:prstGeom>
          <a:solidFill>
            <a:srgbClr val="FFFFFF"/>
          </a:solidFill>
          <a:ln w="12700">
            <a:solidFill>
              <a:srgbClr val="E2E8F0"/>
            </a:solidFill>
            <a:prstDash val="solid"/>
          </a:ln>
        </p:spPr>
        <p:txBody>
          <a:bodyPr/>
          <a:lstStyle/>
          <a:p>
            <a:endParaRPr lang="en-CA"/>
          </a:p>
        </p:txBody>
      </p:sp>
      <p:sp>
        <p:nvSpPr>
          <p:cNvPr id="13" name="Shape 10"/>
          <p:cNvSpPr/>
          <p:nvPr/>
        </p:nvSpPr>
        <p:spPr>
          <a:xfrm>
            <a:off x="5943600" y="2377440"/>
            <a:ext cx="64008" cy="457200"/>
          </a:xfrm>
          <a:prstGeom prst="rect">
            <a:avLst/>
          </a:prstGeom>
          <a:solidFill>
            <a:srgbClr val="0891B2"/>
          </a:solidFill>
          <a:ln w="12700">
            <a:solidFill>
              <a:srgbClr val="0891B2"/>
            </a:solidFill>
            <a:prstDash val="solid"/>
          </a:ln>
        </p:spPr>
        <p:txBody>
          <a:bodyPr/>
          <a:lstStyle/>
          <a:p>
            <a:endParaRPr lang="en-CA"/>
          </a:p>
        </p:txBody>
      </p:sp>
      <p:sp>
        <p:nvSpPr>
          <p:cNvPr id="14" name="Text 11"/>
          <p:cNvSpPr/>
          <p:nvPr/>
        </p:nvSpPr>
        <p:spPr>
          <a:xfrm>
            <a:off x="6080760" y="2395728"/>
            <a:ext cx="1097280" cy="201168"/>
          </a:xfrm>
          <a:prstGeom prst="rect">
            <a:avLst/>
          </a:prstGeom>
          <a:noFill/>
          <a:ln/>
        </p:spPr>
        <p:txBody>
          <a:bodyPr wrap="square" lIns="0" tIns="0" rIns="0" bIns="0" rtlCol="0" anchor="ctr"/>
          <a:lstStyle/>
          <a:p>
            <a:pPr marL="0" indent="0">
              <a:buNone/>
            </a:pPr>
            <a:r>
              <a:rPr lang="en-US" sz="900" b="1" dirty="0">
                <a:solidFill>
                  <a:srgbClr val="0D2137"/>
                </a:solidFill>
                <a:latin typeface="Calibri" pitchFamily="34" charset="0"/>
                <a:ea typeface="Calibri" pitchFamily="34" charset="-122"/>
                <a:cs typeface="Calibri" pitchFamily="34" charset="-120"/>
              </a:rPr>
              <a:t>Enterprise</a:t>
            </a:r>
            <a:endParaRPr lang="en-US" sz="900" dirty="0"/>
          </a:p>
        </p:txBody>
      </p:sp>
      <p:sp>
        <p:nvSpPr>
          <p:cNvPr id="15" name="Text 12"/>
          <p:cNvSpPr/>
          <p:nvPr/>
        </p:nvSpPr>
        <p:spPr>
          <a:xfrm>
            <a:off x="6080760" y="2615184"/>
            <a:ext cx="1463040" cy="164592"/>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$548.8M → $805.5M</a:t>
            </a:r>
            <a:endParaRPr lang="en-US" sz="800" dirty="0"/>
          </a:p>
        </p:txBody>
      </p:sp>
      <p:sp>
        <p:nvSpPr>
          <p:cNvPr id="16" name="Text 13"/>
          <p:cNvSpPr/>
          <p:nvPr/>
        </p:nvSpPr>
        <p:spPr>
          <a:xfrm>
            <a:off x="7955280" y="2423160"/>
            <a:ext cx="822960" cy="320040"/>
          </a:xfrm>
          <a:prstGeom prst="rect">
            <a:avLst/>
          </a:prstGeom>
          <a:noFill/>
          <a:ln/>
        </p:spPr>
        <p:txBody>
          <a:bodyPr wrap="square" lIns="0" tIns="0" rIns="0" bIns="0" rtlCol="0" anchor="ctr"/>
          <a:lstStyle/>
          <a:p>
            <a:pPr marL="0" indent="0" algn="r">
              <a:buNone/>
            </a:pPr>
            <a:r>
              <a:rPr lang="en-US" sz="1200" b="1" dirty="0">
                <a:solidFill>
                  <a:srgbClr val="10B981"/>
                </a:solidFill>
                <a:latin typeface="Calibri" pitchFamily="34" charset="0"/>
                <a:ea typeface="Calibri" pitchFamily="34" charset="-122"/>
                <a:cs typeface="Calibri" pitchFamily="34" charset="-120"/>
              </a:rPr>
              <a:t>+46.8%</a:t>
            </a:r>
            <a:endParaRPr lang="en-US" sz="1200" dirty="0"/>
          </a:p>
        </p:txBody>
      </p:sp>
      <p:sp>
        <p:nvSpPr>
          <p:cNvPr id="17" name="Shape 14"/>
          <p:cNvSpPr/>
          <p:nvPr/>
        </p:nvSpPr>
        <p:spPr>
          <a:xfrm>
            <a:off x="5943600" y="2926080"/>
            <a:ext cx="2926080" cy="457200"/>
          </a:xfrm>
          <a:prstGeom prst="rect">
            <a:avLst/>
          </a:prstGeom>
          <a:solidFill>
            <a:srgbClr val="FFFFFF"/>
          </a:solidFill>
          <a:ln w="12700">
            <a:solidFill>
              <a:srgbClr val="E2E8F0"/>
            </a:solidFill>
            <a:prstDash val="solid"/>
          </a:ln>
        </p:spPr>
        <p:txBody>
          <a:bodyPr/>
          <a:lstStyle/>
          <a:p>
            <a:endParaRPr lang="en-CA"/>
          </a:p>
        </p:txBody>
      </p:sp>
      <p:sp>
        <p:nvSpPr>
          <p:cNvPr id="18" name="Shape 15"/>
          <p:cNvSpPr/>
          <p:nvPr/>
        </p:nvSpPr>
        <p:spPr>
          <a:xfrm>
            <a:off x="5943600" y="2926080"/>
            <a:ext cx="64008" cy="457200"/>
          </a:xfrm>
          <a:prstGeom prst="rect">
            <a:avLst/>
          </a:prstGeom>
          <a:solidFill>
            <a:srgbClr val="0891B2"/>
          </a:solidFill>
          <a:ln w="12700">
            <a:solidFill>
              <a:srgbClr val="0891B2"/>
            </a:solidFill>
            <a:prstDash val="solid"/>
          </a:ln>
        </p:spPr>
        <p:txBody>
          <a:bodyPr/>
          <a:lstStyle/>
          <a:p>
            <a:endParaRPr lang="en-CA"/>
          </a:p>
        </p:txBody>
      </p:sp>
      <p:sp>
        <p:nvSpPr>
          <p:cNvPr id="19" name="Text 16"/>
          <p:cNvSpPr/>
          <p:nvPr/>
        </p:nvSpPr>
        <p:spPr>
          <a:xfrm>
            <a:off x="6080760" y="2944368"/>
            <a:ext cx="1097280" cy="201168"/>
          </a:xfrm>
          <a:prstGeom prst="rect">
            <a:avLst/>
          </a:prstGeom>
          <a:noFill/>
          <a:ln/>
        </p:spPr>
        <p:txBody>
          <a:bodyPr wrap="square" lIns="0" tIns="0" rIns="0" bIns="0" rtlCol="0" anchor="ctr"/>
          <a:lstStyle/>
          <a:p>
            <a:pPr marL="0" indent="0">
              <a:buNone/>
            </a:pPr>
            <a:r>
              <a:rPr lang="en-US" sz="900" b="1" dirty="0">
                <a:solidFill>
                  <a:srgbClr val="0D2137"/>
                </a:solidFill>
                <a:latin typeface="Calibri" pitchFamily="34" charset="0"/>
                <a:ea typeface="Calibri" pitchFamily="34" charset="-122"/>
                <a:cs typeface="Calibri" pitchFamily="34" charset="-120"/>
              </a:rPr>
              <a:t>Large</a:t>
            </a:r>
            <a:endParaRPr lang="en-US" sz="900" dirty="0"/>
          </a:p>
        </p:txBody>
      </p:sp>
      <p:sp>
        <p:nvSpPr>
          <p:cNvPr id="20" name="Text 17"/>
          <p:cNvSpPr/>
          <p:nvPr/>
        </p:nvSpPr>
        <p:spPr>
          <a:xfrm>
            <a:off x="6080760" y="3163824"/>
            <a:ext cx="1463040" cy="164592"/>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$60.6M → $88.6M</a:t>
            </a:r>
            <a:endParaRPr lang="en-US" sz="800" dirty="0"/>
          </a:p>
        </p:txBody>
      </p:sp>
      <p:sp>
        <p:nvSpPr>
          <p:cNvPr id="21" name="Text 18"/>
          <p:cNvSpPr/>
          <p:nvPr/>
        </p:nvSpPr>
        <p:spPr>
          <a:xfrm>
            <a:off x="7955280" y="2971800"/>
            <a:ext cx="822960" cy="320040"/>
          </a:xfrm>
          <a:prstGeom prst="rect">
            <a:avLst/>
          </a:prstGeom>
          <a:noFill/>
          <a:ln/>
        </p:spPr>
        <p:txBody>
          <a:bodyPr wrap="square" lIns="0" tIns="0" rIns="0" bIns="0" rtlCol="0" anchor="ctr"/>
          <a:lstStyle/>
          <a:p>
            <a:pPr marL="0" indent="0" algn="r">
              <a:buNone/>
            </a:pPr>
            <a:r>
              <a:rPr lang="en-US" sz="1200" b="1" dirty="0">
                <a:solidFill>
                  <a:srgbClr val="10B981"/>
                </a:solidFill>
                <a:latin typeface="Calibri" pitchFamily="34" charset="0"/>
                <a:ea typeface="Calibri" pitchFamily="34" charset="-122"/>
                <a:cs typeface="Calibri" pitchFamily="34" charset="-120"/>
              </a:rPr>
              <a:t>+46.2%</a:t>
            </a:r>
            <a:endParaRPr lang="en-US" sz="1200" dirty="0"/>
          </a:p>
        </p:txBody>
      </p:sp>
      <p:sp>
        <p:nvSpPr>
          <p:cNvPr id="22" name="Shape 19"/>
          <p:cNvSpPr/>
          <p:nvPr/>
        </p:nvSpPr>
        <p:spPr>
          <a:xfrm>
            <a:off x="5943600" y="3474720"/>
            <a:ext cx="2926080" cy="457200"/>
          </a:xfrm>
          <a:prstGeom prst="rect">
            <a:avLst/>
          </a:prstGeom>
          <a:solidFill>
            <a:srgbClr val="FFFFFF"/>
          </a:solidFill>
          <a:ln w="12700">
            <a:solidFill>
              <a:srgbClr val="E2E8F0"/>
            </a:solidFill>
            <a:prstDash val="solid"/>
          </a:ln>
        </p:spPr>
        <p:txBody>
          <a:bodyPr/>
          <a:lstStyle/>
          <a:p>
            <a:endParaRPr lang="en-CA"/>
          </a:p>
        </p:txBody>
      </p:sp>
      <p:sp>
        <p:nvSpPr>
          <p:cNvPr id="23" name="Shape 20"/>
          <p:cNvSpPr/>
          <p:nvPr/>
        </p:nvSpPr>
        <p:spPr>
          <a:xfrm>
            <a:off x="5943600" y="3474720"/>
            <a:ext cx="64008" cy="457200"/>
          </a:xfrm>
          <a:prstGeom prst="rect">
            <a:avLst/>
          </a:prstGeom>
          <a:solidFill>
            <a:srgbClr val="0891B2"/>
          </a:solidFill>
          <a:ln w="12700">
            <a:solidFill>
              <a:srgbClr val="0891B2"/>
            </a:solidFill>
            <a:prstDash val="solid"/>
          </a:ln>
        </p:spPr>
        <p:txBody>
          <a:bodyPr/>
          <a:lstStyle/>
          <a:p>
            <a:endParaRPr lang="en-CA"/>
          </a:p>
        </p:txBody>
      </p:sp>
      <p:sp>
        <p:nvSpPr>
          <p:cNvPr id="24" name="Text 21"/>
          <p:cNvSpPr/>
          <p:nvPr/>
        </p:nvSpPr>
        <p:spPr>
          <a:xfrm>
            <a:off x="6080760" y="3493008"/>
            <a:ext cx="1097280" cy="201168"/>
          </a:xfrm>
          <a:prstGeom prst="rect">
            <a:avLst/>
          </a:prstGeom>
          <a:noFill/>
          <a:ln/>
        </p:spPr>
        <p:txBody>
          <a:bodyPr wrap="square" lIns="0" tIns="0" rIns="0" bIns="0" rtlCol="0" anchor="ctr"/>
          <a:lstStyle/>
          <a:p>
            <a:pPr marL="0" indent="0">
              <a:buNone/>
            </a:pPr>
            <a:r>
              <a:rPr lang="en-US" sz="900" b="1" dirty="0">
                <a:solidFill>
                  <a:srgbClr val="0D2137"/>
                </a:solidFill>
                <a:latin typeface="Calibri" pitchFamily="34" charset="0"/>
                <a:ea typeface="Calibri" pitchFamily="34" charset="-122"/>
                <a:cs typeface="Calibri" pitchFamily="34" charset="-120"/>
              </a:rPr>
              <a:t>Medium</a:t>
            </a:r>
            <a:endParaRPr lang="en-US" sz="900" dirty="0"/>
          </a:p>
        </p:txBody>
      </p:sp>
      <p:sp>
        <p:nvSpPr>
          <p:cNvPr id="25" name="Text 22"/>
          <p:cNvSpPr/>
          <p:nvPr/>
        </p:nvSpPr>
        <p:spPr>
          <a:xfrm>
            <a:off x="6080760" y="3712464"/>
            <a:ext cx="1463040" cy="164592"/>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$111.5M → $166.4M</a:t>
            </a:r>
            <a:endParaRPr lang="en-US" sz="800" dirty="0"/>
          </a:p>
        </p:txBody>
      </p:sp>
      <p:sp>
        <p:nvSpPr>
          <p:cNvPr id="26" name="Text 23"/>
          <p:cNvSpPr/>
          <p:nvPr/>
        </p:nvSpPr>
        <p:spPr>
          <a:xfrm>
            <a:off x="7955280" y="3520440"/>
            <a:ext cx="822960" cy="320040"/>
          </a:xfrm>
          <a:prstGeom prst="rect">
            <a:avLst/>
          </a:prstGeom>
          <a:noFill/>
          <a:ln/>
        </p:spPr>
        <p:txBody>
          <a:bodyPr wrap="square" lIns="0" tIns="0" rIns="0" bIns="0" rtlCol="0" anchor="ctr"/>
          <a:lstStyle/>
          <a:p>
            <a:pPr marL="0" indent="0" algn="r">
              <a:buNone/>
            </a:pPr>
            <a:r>
              <a:rPr lang="en-US" sz="1200" b="1" dirty="0">
                <a:solidFill>
                  <a:srgbClr val="10B981"/>
                </a:solidFill>
                <a:latin typeface="Calibri" pitchFamily="34" charset="0"/>
                <a:ea typeface="Calibri" pitchFamily="34" charset="-122"/>
                <a:cs typeface="Calibri" pitchFamily="34" charset="-120"/>
              </a:rPr>
              <a:t>+49.2%</a:t>
            </a:r>
            <a:endParaRPr lang="en-US" sz="1200" dirty="0"/>
          </a:p>
        </p:txBody>
      </p:sp>
      <p:sp>
        <p:nvSpPr>
          <p:cNvPr id="27" name="Shape 24"/>
          <p:cNvSpPr/>
          <p:nvPr/>
        </p:nvSpPr>
        <p:spPr>
          <a:xfrm>
            <a:off x="5943600" y="4023360"/>
            <a:ext cx="2926080" cy="457200"/>
          </a:xfrm>
          <a:prstGeom prst="rect">
            <a:avLst/>
          </a:prstGeom>
          <a:solidFill>
            <a:srgbClr val="FFFFFF"/>
          </a:solidFill>
          <a:ln w="12700">
            <a:solidFill>
              <a:srgbClr val="E2E8F0"/>
            </a:solidFill>
            <a:prstDash val="solid"/>
          </a:ln>
        </p:spPr>
        <p:txBody>
          <a:bodyPr/>
          <a:lstStyle/>
          <a:p>
            <a:endParaRPr lang="en-CA"/>
          </a:p>
        </p:txBody>
      </p:sp>
      <p:sp>
        <p:nvSpPr>
          <p:cNvPr id="28" name="Shape 25"/>
          <p:cNvSpPr/>
          <p:nvPr/>
        </p:nvSpPr>
        <p:spPr>
          <a:xfrm>
            <a:off x="5943600" y="4023360"/>
            <a:ext cx="64008" cy="457200"/>
          </a:xfrm>
          <a:prstGeom prst="rect">
            <a:avLst/>
          </a:prstGeom>
          <a:solidFill>
            <a:srgbClr val="0891B2"/>
          </a:solidFill>
          <a:ln w="12700">
            <a:solidFill>
              <a:srgbClr val="0891B2"/>
            </a:solidFill>
            <a:prstDash val="solid"/>
          </a:ln>
        </p:spPr>
        <p:txBody>
          <a:bodyPr/>
          <a:lstStyle/>
          <a:p>
            <a:endParaRPr lang="en-CA"/>
          </a:p>
        </p:txBody>
      </p:sp>
      <p:sp>
        <p:nvSpPr>
          <p:cNvPr id="29" name="Text 26"/>
          <p:cNvSpPr/>
          <p:nvPr/>
        </p:nvSpPr>
        <p:spPr>
          <a:xfrm>
            <a:off x="6080760" y="4041648"/>
            <a:ext cx="1097280" cy="201168"/>
          </a:xfrm>
          <a:prstGeom prst="rect">
            <a:avLst/>
          </a:prstGeom>
          <a:noFill/>
          <a:ln/>
        </p:spPr>
        <p:txBody>
          <a:bodyPr wrap="square" lIns="0" tIns="0" rIns="0" bIns="0" rtlCol="0" anchor="ctr"/>
          <a:lstStyle/>
          <a:p>
            <a:pPr marL="0" indent="0">
              <a:buNone/>
            </a:pPr>
            <a:r>
              <a:rPr lang="en-US" sz="900" b="1" dirty="0">
                <a:solidFill>
                  <a:srgbClr val="0D2137"/>
                </a:solidFill>
                <a:latin typeface="Calibri" pitchFamily="34" charset="0"/>
                <a:ea typeface="Calibri" pitchFamily="34" charset="-122"/>
                <a:cs typeface="Calibri" pitchFamily="34" charset="-120"/>
              </a:rPr>
              <a:t>Small</a:t>
            </a:r>
            <a:endParaRPr lang="en-US" sz="900" dirty="0"/>
          </a:p>
        </p:txBody>
      </p:sp>
      <p:sp>
        <p:nvSpPr>
          <p:cNvPr id="30" name="Text 27"/>
          <p:cNvSpPr/>
          <p:nvPr/>
        </p:nvSpPr>
        <p:spPr>
          <a:xfrm>
            <a:off x="6080760" y="4261104"/>
            <a:ext cx="1463040" cy="164592"/>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$46.1M → $74.8M</a:t>
            </a:r>
            <a:endParaRPr lang="en-US" sz="800" dirty="0"/>
          </a:p>
        </p:txBody>
      </p:sp>
      <p:sp>
        <p:nvSpPr>
          <p:cNvPr id="31" name="Text 28"/>
          <p:cNvSpPr/>
          <p:nvPr/>
        </p:nvSpPr>
        <p:spPr>
          <a:xfrm>
            <a:off x="7955280" y="4069080"/>
            <a:ext cx="822960" cy="320040"/>
          </a:xfrm>
          <a:prstGeom prst="rect">
            <a:avLst/>
          </a:prstGeom>
          <a:noFill/>
          <a:ln/>
        </p:spPr>
        <p:txBody>
          <a:bodyPr wrap="square" lIns="0" tIns="0" rIns="0" bIns="0" rtlCol="0" anchor="ctr"/>
          <a:lstStyle/>
          <a:p>
            <a:pPr marL="0" indent="0" algn="r">
              <a:buNone/>
            </a:pPr>
            <a:r>
              <a:rPr lang="en-US" sz="1200" b="1" dirty="0">
                <a:solidFill>
                  <a:srgbClr val="10B981"/>
                </a:solidFill>
                <a:latin typeface="Calibri" pitchFamily="34" charset="0"/>
                <a:ea typeface="Calibri" pitchFamily="34" charset="-122"/>
                <a:cs typeface="Calibri" pitchFamily="34" charset="-120"/>
              </a:rPr>
              <a:t>+62.3%</a:t>
            </a:r>
            <a:endParaRPr lang="en-US" sz="1200" dirty="0"/>
          </a:p>
        </p:txBody>
      </p:sp>
      <p:sp>
        <p:nvSpPr>
          <p:cNvPr id="32" name="Shape 29"/>
          <p:cNvSpPr/>
          <p:nvPr/>
        </p:nvSpPr>
        <p:spPr>
          <a:xfrm>
            <a:off x="274320" y="4526280"/>
            <a:ext cx="8595360" cy="502920"/>
          </a:xfrm>
          <a:prstGeom prst="rect">
            <a:avLst/>
          </a:prstGeom>
          <a:solidFill>
            <a:srgbClr val="EFF6FF"/>
          </a:solidFill>
          <a:ln w="12700">
            <a:solidFill>
              <a:srgbClr val="BFDBFE"/>
            </a:solidFill>
            <a:prstDash val="solid"/>
          </a:ln>
        </p:spPr>
        <p:txBody>
          <a:bodyPr/>
          <a:lstStyle/>
          <a:p>
            <a:endParaRPr lang="en-CA"/>
          </a:p>
        </p:txBody>
      </p:sp>
      <p:sp>
        <p:nvSpPr>
          <p:cNvPr id="33" name="Shape 30"/>
          <p:cNvSpPr/>
          <p:nvPr/>
        </p:nvSpPr>
        <p:spPr>
          <a:xfrm>
            <a:off x="274320" y="4526280"/>
            <a:ext cx="64008" cy="502920"/>
          </a:xfrm>
          <a:prstGeom prst="rect">
            <a:avLst/>
          </a:prstGeom>
          <a:solidFill>
            <a:srgbClr val="0891B2"/>
          </a:solidFill>
          <a:ln w="12700">
            <a:solidFill>
              <a:srgbClr val="0891B2"/>
            </a:solidFill>
            <a:prstDash val="solid"/>
          </a:ln>
        </p:spPr>
        <p:txBody>
          <a:bodyPr/>
          <a:lstStyle/>
          <a:p>
            <a:endParaRPr lang="en-CA"/>
          </a:p>
        </p:txBody>
      </p:sp>
      <p:sp>
        <p:nvSpPr>
          <p:cNvPr id="34" name="Text 31"/>
          <p:cNvSpPr/>
          <p:nvPr/>
        </p:nvSpPr>
        <p:spPr>
          <a:xfrm>
            <a:off x="411480" y="4544568"/>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Total revenue grew by $368M — a 48% increase — in the COVID period alone. Small customers showed the highest growth rate at +62.3%, but in dollar terms Enterprise still accounts for the vast majority of that gain. This concentration means ABC's revenue is closely tied to the health of its 12 Enterprise accounts.</a:t>
            </a:r>
            <a:endParaRPr lang="en-US" sz="900" dirty="0"/>
          </a:p>
        </p:txBody>
      </p:sp>
      <p:sp>
        <p:nvSpPr>
          <p:cNvPr id="35" name="TextBox 34"/>
          <p:cNvSpPr txBox="1"/>
          <p:nvPr/>
        </p:nvSpPr>
        <p:spPr>
          <a:xfrm>
            <a:off x="8440747" y="4896612"/>
            <a:ext cx="300082" cy="230832"/>
          </a:xfrm>
          <a:prstGeom prst="rect">
            <a:avLst/>
          </a:prstGeom>
          <a:noFill/>
          <a:ln>
            <a:noFill/>
          </a:ln>
        </p:spPr>
        <p:txBody>
          <a:bodyPr wrap="none">
            <a:spAutoFit/>
          </a:bodyPr>
          <a:lstStyle/>
          <a:p>
            <a:pPr algn="ctr"/>
            <a:r>
              <a:rPr sz="900" b="1" dirty="0">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6400800" y="3200400"/>
            <a:ext cx="3657600" cy="3657600"/>
          </a:xfrm>
          <a:prstGeom prst="ellipse">
            <a:avLst/>
          </a:prstGeom>
          <a:solidFill>
            <a:srgbClr val="0891B2">
              <a:alpha val="10000"/>
            </a:srgbClr>
          </a:solidFill>
          <a:ln w="12700">
            <a:solidFill>
              <a:srgbClr val="0891B2">
                <a:alpha val="20000"/>
              </a:srgbClr>
            </a:solidFill>
            <a:prstDash val="solid"/>
          </a:ln>
        </p:spPr>
        <p:txBody>
          <a:bodyPr/>
          <a:lstStyle/>
          <a:p>
            <a:endParaRPr lang="en-CA"/>
          </a:p>
        </p:txBody>
      </p:sp>
      <p:sp>
        <p:nvSpPr>
          <p:cNvPr id="4" name="Text 2"/>
          <p:cNvSpPr/>
          <p:nvPr/>
        </p:nvSpPr>
        <p:spPr>
          <a:xfrm>
            <a:off x="365760" y="91440"/>
            <a:ext cx="841248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Conclusions &amp; Recommendations</a:t>
            </a:r>
            <a:endParaRPr lang="en-US" sz="2600" dirty="0"/>
          </a:p>
        </p:txBody>
      </p:sp>
      <p:sp>
        <p:nvSpPr>
          <p:cNvPr id="5" name="Shape 3"/>
          <p:cNvSpPr/>
          <p:nvPr/>
        </p:nvSpPr>
        <p:spPr>
          <a:xfrm>
            <a:off x="365760" y="777240"/>
            <a:ext cx="4114800" cy="1600200"/>
          </a:xfrm>
          <a:prstGeom prst="rect">
            <a:avLst/>
          </a:prstGeom>
          <a:solidFill>
            <a:srgbClr val="112233"/>
          </a:solidFill>
          <a:ln w="19050">
            <a:solidFill>
              <a:srgbClr val="0891B2"/>
            </a:solidFill>
            <a:prstDash val="solid"/>
          </a:ln>
        </p:spPr>
        <p:txBody>
          <a:bodyPr/>
          <a:lstStyle/>
          <a:p>
            <a:endParaRPr lang="en-CA"/>
          </a:p>
        </p:txBody>
      </p:sp>
      <p:sp>
        <p:nvSpPr>
          <p:cNvPr id="6" name="Shape 4"/>
          <p:cNvSpPr/>
          <p:nvPr/>
        </p:nvSpPr>
        <p:spPr>
          <a:xfrm>
            <a:off x="365760" y="777240"/>
            <a:ext cx="64008" cy="1600200"/>
          </a:xfrm>
          <a:prstGeom prst="rect">
            <a:avLst/>
          </a:prstGeom>
          <a:solidFill>
            <a:srgbClr val="0891B2"/>
          </a:solidFill>
          <a:ln w="12700">
            <a:solidFill>
              <a:srgbClr val="0891B2"/>
            </a:solidFill>
            <a:prstDash val="solid"/>
          </a:ln>
        </p:spPr>
        <p:txBody>
          <a:bodyPr/>
          <a:lstStyle/>
          <a:p>
            <a:endParaRPr lang="en-CA"/>
          </a:p>
        </p:txBody>
      </p:sp>
      <p:sp>
        <p:nvSpPr>
          <p:cNvPr id="7" name="Text 5"/>
          <p:cNvSpPr/>
          <p:nvPr/>
        </p:nvSpPr>
        <p:spPr>
          <a:xfrm>
            <a:off x="530352" y="822960"/>
            <a:ext cx="548640" cy="365760"/>
          </a:xfrm>
          <a:prstGeom prst="rect">
            <a:avLst/>
          </a:prstGeom>
          <a:noFill/>
          <a:ln/>
        </p:spPr>
        <p:txBody>
          <a:bodyPr wrap="square" lIns="0" tIns="0" rIns="0" bIns="0" rtlCol="0" anchor="ctr"/>
          <a:lstStyle/>
          <a:p>
            <a:pPr marL="0" indent="0">
              <a:buNone/>
            </a:pPr>
            <a:r>
              <a:rPr lang="en-US" sz="2200" b="1" dirty="0">
                <a:solidFill>
                  <a:srgbClr val="0891B2"/>
                </a:solidFill>
                <a:latin typeface="Calibri" pitchFamily="34" charset="0"/>
                <a:ea typeface="Calibri" pitchFamily="34" charset="-122"/>
                <a:cs typeface="Calibri" pitchFamily="34" charset="-120"/>
              </a:rPr>
              <a:t>01</a:t>
            </a:r>
            <a:endParaRPr lang="en-US" sz="2200" dirty="0"/>
          </a:p>
        </p:txBody>
      </p:sp>
      <p:sp>
        <p:nvSpPr>
          <p:cNvPr id="8" name="Text 6"/>
          <p:cNvSpPr/>
          <p:nvPr/>
        </p:nvSpPr>
        <p:spPr>
          <a:xfrm>
            <a:off x="530352" y="1161288"/>
            <a:ext cx="37490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COVID Accelerated E-Commerce</a:t>
            </a:r>
            <a:endParaRPr lang="en-US" sz="1200" dirty="0"/>
          </a:p>
        </p:txBody>
      </p:sp>
      <p:sp>
        <p:nvSpPr>
          <p:cNvPr id="9" name="Text 7"/>
          <p:cNvSpPr/>
          <p:nvPr/>
        </p:nvSpPr>
        <p:spPr>
          <a:xfrm>
            <a:off x="530352" y="1472184"/>
            <a:ext cx="3749040" cy="822960"/>
          </a:xfrm>
          <a:prstGeom prst="rect">
            <a:avLst/>
          </a:prstGeom>
          <a:noFill/>
          <a:ln/>
        </p:spPr>
        <p:txBody>
          <a:bodyPr wrap="square" lIns="0" tIns="0" rIns="0" bIns="0" rtlCol="0" anchor="ctr"/>
          <a:lstStyle/>
          <a:p>
            <a:pPr marL="0" indent="0">
              <a:buNone/>
            </a:pPr>
            <a:r>
              <a:rPr lang="en-US" sz="1000" dirty="0">
                <a:solidFill>
                  <a:srgbClr val="B0C4D8"/>
                </a:solidFill>
                <a:latin typeface="Calibri" pitchFamily="34" charset="0"/>
                <a:ea typeface="Calibri" pitchFamily="34" charset="-122"/>
                <a:cs typeface="Calibri" pitchFamily="34" charset="-120"/>
              </a:rPr>
              <a:t>2020 total volume surged +39% to 73.5M parcels. The surge began Week 12.</a:t>
            </a:r>
            <a:endParaRPr lang="en-US" sz="1000" dirty="0"/>
          </a:p>
        </p:txBody>
      </p:sp>
      <p:sp>
        <p:nvSpPr>
          <p:cNvPr id="10" name="Shape 8"/>
          <p:cNvSpPr/>
          <p:nvPr/>
        </p:nvSpPr>
        <p:spPr>
          <a:xfrm>
            <a:off x="4754880" y="777240"/>
            <a:ext cx="4114800" cy="1600200"/>
          </a:xfrm>
          <a:prstGeom prst="rect">
            <a:avLst/>
          </a:prstGeom>
          <a:solidFill>
            <a:srgbClr val="112233"/>
          </a:solidFill>
          <a:ln w="19050">
            <a:solidFill>
              <a:srgbClr val="0891B2"/>
            </a:solidFill>
            <a:prstDash val="solid"/>
          </a:ln>
        </p:spPr>
        <p:txBody>
          <a:bodyPr/>
          <a:lstStyle/>
          <a:p>
            <a:endParaRPr lang="en-CA"/>
          </a:p>
        </p:txBody>
      </p:sp>
      <p:sp>
        <p:nvSpPr>
          <p:cNvPr id="11" name="Shape 9"/>
          <p:cNvSpPr/>
          <p:nvPr/>
        </p:nvSpPr>
        <p:spPr>
          <a:xfrm>
            <a:off x="4754880" y="777240"/>
            <a:ext cx="64008" cy="1600200"/>
          </a:xfrm>
          <a:prstGeom prst="rect">
            <a:avLst/>
          </a:prstGeom>
          <a:solidFill>
            <a:srgbClr val="0891B2"/>
          </a:solidFill>
          <a:ln w="12700">
            <a:solidFill>
              <a:srgbClr val="0891B2"/>
            </a:solidFill>
            <a:prstDash val="solid"/>
          </a:ln>
        </p:spPr>
        <p:txBody>
          <a:bodyPr/>
          <a:lstStyle/>
          <a:p>
            <a:endParaRPr lang="en-CA"/>
          </a:p>
        </p:txBody>
      </p:sp>
      <p:sp>
        <p:nvSpPr>
          <p:cNvPr id="12" name="Text 10"/>
          <p:cNvSpPr/>
          <p:nvPr/>
        </p:nvSpPr>
        <p:spPr>
          <a:xfrm>
            <a:off x="4919472" y="822960"/>
            <a:ext cx="548640" cy="365760"/>
          </a:xfrm>
          <a:prstGeom prst="rect">
            <a:avLst/>
          </a:prstGeom>
          <a:noFill/>
          <a:ln/>
        </p:spPr>
        <p:txBody>
          <a:bodyPr wrap="square" lIns="0" tIns="0" rIns="0" bIns="0" rtlCol="0" anchor="ctr"/>
          <a:lstStyle/>
          <a:p>
            <a:pPr marL="0" indent="0">
              <a:buNone/>
            </a:pPr>
            <a:r>
              <a:rPr lang="en-US" sz="2200" b="1" dirty="0">
                <a:solidFill>
                  <a:srgbClr val="0891B2"/>
                </a:solidFill>
                <a:latin typeface="Calibri" pitchFamily="34" charset="0"/>
                <a:ea typeface="Calibri" pitchFamily="34" charset="-122"/>
                <a:cs typeface="Calibri" pitchFamily="34" charset="-120"/>
              </a:rPr>
              <a:t>02</a:t>
            </a:r>
            <a:endParaRPr lang="en-US" sz="2200" dirty="0"/>
          </a:p>
        </p:txBody>
      </p:sp>
      <p:sp>
        <p:nvSpPr>
          <p:cNvPr id="13" name="Text 11"/>
          <p:cNvSpPr/>
          <p:nvPr/>
        </p:nvSpPr>
        <p:spPr>
          <a:xfrm>
            <a:off x="4919472" y="1161288"/>
            <a:ext cx="37490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Record-Breaking Peak Season</a:t>
            </a:r>
            <a:endParaRPr lang="en-US" sz="1200" dirty="0"/>
          </a:p>
        </p:txBody>
      </p:sp>
      <p:sp>
        <p:nvSpPr>
          <p:cNvPr id="14" name="Text 12"/>
          <p:cNvSpPr/>
          <p:nvPr/>
        </p:nvSpPr>
        <p:spPr>
          <a:xfrm>
            <a:off x="4919472" y="1472184"/>
            <a:ext cx="3749040" cy="822960"/>
          </a:xfrm>
          <a:prstGeom prst="rect">
            <a:avLst/>
          </a:prstGeom>
          <a:noFill/>
          <a:ln/>
        </p:spPr>
        <p:txBody>
          <a:bodyPr wrap="square" lIns="0" tIns="0" rIns="0" bIns="0" rtlCol="0" anchor="ctr"/>
          <a:lstStyle/>
          <a:p>
            <a:pPr marL="0" indent="0">
              <a:buNone/>
            </a:pPr>
            <a:r>
              <a:rPr lang="en-US" sz="1000" dirty="0">
                <a:solidFill>
                  <a:srgbClr val="B0C4D8"/>
                </a:solidFill>
                <a:latin typeface="Calibri" pitchFamily="34" charset="0"/>
                <a:ea typeface="Calibri" pitchFamily="34" charset="-122"/>
                <a:cs typeface="Calibri" pitchFamily="34" charset="-120"/>
              </a:rPr>
              <a:t>2020 peak season delivered 19.4M parcels — a +26.5% increase over 2019's 15.4M. Every week outpaced the prior year.</a:t>
            </a:r>
            <a:endParaRPr lang="en-US" sz="1000" dirty="0"/>
          </a:p>
        </p:txBody>
      </p:sp>
      <p:sp>
        <p:nvSpPr>
          <p:cNvPr id="15" name="Shape 13"/>
          <p:cNvSpPr/>
          <p:nvPr/>
        </p:nvSpPr>
        <p:spPr>
          <a:xfrm>
            <a:off x="365760" y="2606040"/>
            <a:ext cx="4114800" cy="1600200"/>
          </a:xfrm>
          <a:prstGeom prst="rect">
            <a:avLst/>
          </a:prstGeom>
          <a:solidFill>
            <a:srgbClr val="112233"/>
          </a:solidFill>
          <a:ln w="19050">
            <a:solidFill>
              <a:srgbClr val="0891B2"/>
            </a:solidFill>
            <a:prstDash val="solid"/>
          </a:ln>
        </p:spPr>
        <p:txBody>
          <a:bodyPr/>
          <a:lstStyle/>
          <a:p>
            <a:endParaRPr lang="en-CA"/>
          </a:p>
        </p:txBody>
      </p:sp>
      <p:sp>
        <p:nvSpPr>
          <p:cNvPr id="16" name="Shape 14"/>
          <p:cNvSpPr/>
          <p:nvPr/>
        </p:nvSpPr>
        <p:spPr>
          <a:xfrm>
            <a:off x="365760" y="2606040"/>
            <a:ext cx="64008" cy="1600200"/>
          </a:xfrm>
          <a:prstGeom prst="rect">
            <a:avLst/>
          </a:prstGeom>
          <a:solidFill>
            <a:srgbClr val="0891B2"/>
          </a:solidFill>
          <a:ln w="12700">
            <a:solidFill>
              <a:srgbClr val="0891B2"/>
            </a:solidFill>
            <a:prstDash val="solid"/>
          </a:ln>
        </p:spPr>
        <p:txBody>
          <a:bodyPr/>
          <a:lstStyle/>
          <a:p>
            <a:endParaRPr lang="en-CA"/>
          </a:p>
        </p:txBody>
      </p:sp>
      <p:sp>
        <p:nvSpPr>
          <p:cNvPr id="17" name="Text 15"/>
          <p:cNvSpPr/>
          <p:nvPr/>
        </p:nvSpPr>
        <p:spPr>
          <a:xfrm>
            <a:off x="530352" y="2651760"/>
            <a:ext cx="548640" cy="365760"/>
          </a:xfrm>
          <a:prstGeom prst="rect">
            <a:avLst/>
          </a:prstGeom>
          <a:noFill/>
          <a:ln/>
        </p:spPr>
        <p:txBody>
          <a:bodyPr wrap="square" lIns="0" tIns="0" rIns="0" bIns="0" rtlCol="0" anchor="ctr"/>
          <a:lstStyle/>
          <a:p>
            <a:pPr marL="0" indent="0">
              <a:buNone/>
            </a:pPr>
            <a:r>
              <a:rPr lang="en-US" sz="2200" b="1" dirty="0">
                <a:solidFill>
                  <a:srgbClr val="0891B2"/>
                </a:solidFill>
                <a:latin typeface="Calibri" pitchFamily="34" charset="0"/>
                <a:ea typeface="Calibri" pitchFamily="34" charset="-122"/>
                <a:cs typeface="Calibri" pitchFamily="34" charset="-120"/>
              </a:rPr>
              <a:t>03</a:t>
            </a:r>
            <a:endParaRPr lang="en-US" sz="2200" dirty="0"/>
          </a:p>
        </p:txBody>
      </p:sp>
      <p:sp>
        <p:nvSpPr>
          <p:cNvPr id="18" name="Text 16"/>
          <p:cNvSpPr/>
          <p:nvPr/>
        </p:nvSpPr>
        <p:spPr>
          <a:xfrm>
            <a:off x="530352" y="2990088"/>
            <a:ext cx="37490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Strong Revenue Growth</a:t>
            </a:r>
            <a:endParaRPr lang="en-US" sz="1200" dirty="0"/>
          </a:p>
        </p:txBody>
      </p:sp>
      <p:sp>
        <p:nvSpPr>
          <p:cNvPr id="19" name="Text 17"/>
          <p:cNvSpPr/>
          <p:nvPr/>
        </p:nvSpPr>
        <p:spPr>
          <a:xfrm>
            <a:off x="530352" y="3300984"/>
            <a:ext cx="3749040" cy="822960"/>
          </a:xfrm>
          <a:prstGeom prst="rect">
            <a:avLst/>
          </a:prstGeom>
          <a:noFill/>
          <a:ln/>
        </p:spPr>
        <p:txBody>
          <a:bodyPr wrap="square" lIns="0" tIns="0" rIns="0" bIns="0" rtlCol="0" anchor="ctr"/>
          <a:lstStyle/>
          <a:p>
            <a:pPr marL="0" indent="0">
              <a:buNone/>
            </a:pPr>
            <a:r>
              <a:rPr lang="en-US" sz="1000" dirty="0">
                <a:solidFill>
                  <a:srgbClr val="B0C4D8"/>
                </a:solidFill>
                <a:latin typeface="Calibri" pitchFamily="34" charset="0"/>
                <a:ea typeface="Calibri" pitchFamily="34" charset="-122"/>
                <a:cs typeface="Calibri" pitchFamily="34" charset="-120"/>
              </a:rPr>
              <a:t>Total COVID-period revenue reached $1.135B — up +48% vs the same 2019 period. </a:t>
            </a:r>
            <a:endParaRPr lang="en-US" sz="1000" dirty="0"/>
          </a:p>
        </p:txBody>
      </p:sp>
      <p:sp>
        <p:nvSpPr>
          <p:cNvPr id="20" name="Shape 18"/>
          <p:cNvSpPr/>
          <p:nvPr/>
        </p:nvSpPr>
        <p:spPr>
          <a:xfrm>
            <a:off x="4754880" y="2606040"/>
            <a:ext cx="4114800" cy="1600200"/>
          </a:xfrm>
          <a:prstGeom prst="rect">
            <a:avLst/>
          </a:prstGeom>
          <a:solidFill>
            <a:srgbClr val="112233"/>
          </a:solidFill>
          <a:ln w="19050">
            <a:solidFill>
              <a:srgbClr val="0891B2"/>
            </a:solidFill>
            <a:prstDash val="solid"/>
          </a:ln>
        </p:spPr>
        <p:txBody>
          <a:bodyPr/>
          <a:lstStyle/>
          <a:p>
            <a:endParaRPr lang="en-CA"/>
          </a:p>
        </p:txBody>
      </p:sp>
      <p:sp>
        <p:nvSpPr>
          <p:cNvPr id="21" name="Shape 19"/>
          <p:cNvSpPr/>
          <p:nvPr/>
        </p:nvSpPr>
        <p:spPr>
          <a:xfrm>
            <a:off x="4754880" y="2606040"/>
            <a:ext cx="64008" cy="1600200"/>
          </a:xfrm>
          <a:prstGeom prst="rect">
            <a:avLst/>
          </a:prstGeom>
          <a:solidFill>
            <a:srgbClr val="0891B2"/>
          </a:solidFill>
          <a:ln w="12700">
            <a:solidFill>
              <a:srgbClr val="0891B2"/>
            </a:solidFill>
            <a:prstDash val="solid"/>
          </a:ln>
        </p:spPr>
        <p:txBody>
          <a:bodyPr/>
          <a:lstStyle/>
          <a:p>
            <a:endParaRPr lang="en-CA"/>
          </a:p>
        </p:txBody>
      </p:sp>
      <p:sp>
        <p:nvSpPr>
          <p:cNvPr id="22" name="Text 20"/>
          <p:cNvSpPr/>
          <p:nvPr/>
        </p:nvSpPr>
        <p:spPr>
          <a:xfrm>
            <a:off x="4919472" y="2651760"/>
            <a:ext cx="548640" cy="365760"/>
          </a:xfrm>
          <a:prstGeom prst="rect">
            <a:avLst/>
          </a:prstGeom>
          <a:noFill/>
          <a:ln/>
        </p:spPr>
        <p:txBody>
          <a:bodyPr wrap="square" lIns="0" tIns="0" rIns="0" bIns="0" rtlCol="0" anchor="ctr"/>
          <a:lstStyle/>
          <a:p>
            <a:pPr marL="0" indent="0">
              <a:buNone/>
            </a:pPr>
            <a:r>
              <a:rPr lang="en-US" sz="2200" b="1" dirty="0">
                <a:solidFill>
                  <a:srgbClr val="0891B2"/>
                </a:solidFill>
                <a:latin typeface="Calibri" pitchFamily="34" charset="0"/>
                <a:ea typeface="Calibri" pitchFamily="34" charset="-122"/>
                <a:cs typeface="Calibri" pitchFamily="34" charset="-120"/>
              </a:rPr>
              <a:t>04</a:t>
            </a:r>
            <a:endParaRPr lang="en-US" sz="2200" dirty="0"/>
          </a:p>
        </p:txBody>
      </p:sp>
      <p:sp>
        <p:nvSpPr>
          <p:cNvPr id="23" name="Text 21"/>
          <p:cNvSpPr/>
          <p:nvPr/>
        </p:nvSpPr>
        <p:spPr>
          <a:xfrm>
            <a:off x="4919472" y="2990088"/>
            <a:ext cx="37490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Most Customers Thrived</a:t>
            </a:r>
            <a:endParaRPr lang="en-US" sz="1200" dirty="0"/>
          </a:p>
        </p:txBody>
      </p:sp>
      <p:sp>
        <p:nvSpPr>
          <p:cNvPr id="24" name="Text 22"/>
          <p:cNvSpPr/>
          <p:nvPr/>
        </p:nvSpPr>
        <p:spPr>
          <a:xfrm>
            <a:off x="4919472" y="3300984"/>
            <a:ext cx="3749040" cy="822960"/>
          </a:xfrm>
          <a:prstGeom prst="rect">
            <a:avLst/>
          </a:prstGeom>
          <a:noFill/>
          <a:ln/>
        </p:spPr>
        <p:txBody>
          <a:bodyPr wrap="square" lIns="0" tIns="0" rIns="0" bIns="0" rtlCol="0" anchor="ctr"/>
          <a:lstStyle/>
          <a:p>
            <a:pPr marL="0" indent="0">
              <a:buNone/>
            </a:pPr>
            <a:r>
              <a:rPr lang="en-US" sz="1000" dirty="0">
                <a:solidFill>
                  <a:srgbClr val="B0C4D8"/>
                </a:solidFill>
                <a:latin typeface="Calibri" pitchFamily="34" charset="0"/>
                <a:ea typeface="Calibri" pitchFamily="34" charset="-122"/>
                <a:cs typeface="Calibri" pitchFamily="34" charset="-120"/>
              </a:rPr>
              <a:t>50–67% of customers in all segments were High Growth. </a:t>
            </a:r>
            <a:endParaRPr lang="en-US" sz="1000" dirty="0"/>
          </a:p>
        </p:txBody>
      </p:sp>
      <p:sp>
        <p:nvSpPr>
          <p:cNvPr id="25" name="Shape 23"/>
          <p:cNvSpPr/>
          <p:nvPr/>
        </p:nvSpPr>
        <p:spPr>
          <a:xfrm>
            <a:off x="365760" y="4462272"/>
            <a:ext cx="8412480" cy="502920"/>
          </a:xfrm>
          <a:prstGeom prst="rect">
            <a:avLst/>
          </a:prstGeom>
          <a:solidFill>
            <a:srgbClr val="0891B2"/>
          </a:solidFill>
          <a:ln w="12700">
            <a:solidFill>
              <a:srgbClr val="0891B2"/>
            </a:solidFill>
            <a:prstDash val="solid"/>
          </a:ln>
        </p:spPr>
        <p:txBody>
          <a:bodyPr/>
          <a:lstStyle/>
          <a:p>
            <a:endParaRPr lang="en-CA"/>
          </a:p>
        </p:txBody>
      </p:sp>
      <p:sp>
        <p:nvSpPr>
          <p:cNvPr id="26" name="Text 24"/>
          <p:cNvSpPr/>
          <p:nvPr/>
        </p:nvSpPr>
        <p:spPr>
          <a:xfrm>
            <a:off x="365760" y="4462272"/>
            <a:ext cx="8412480" cy="502920"/>
          </a:xfrm>
          <a:prstGeom prst="rect">
            <a:avLst/>
          </a:prstGeom>
          <a:noFill/>
          <a:ln/>
        </p:spPr>
        <p:txBody>
          <a:bodyPr wrap="square" lIns="50800" tIns="50800" rIns="50800" bIns="50800" rtlCol="0" anchor="ctr"/>
          <a:lstStyle/>
          <a:p>
            <a:r>
              <a:rPr lang="en-US" sz="900" b="1">
                <a:solidFill>
                  <a:srgbClr val="FFFFFF"/>
                </a:solidFill>
                <a:latin typeface="Calibri"/>
                <a:ea typeface="Calibri"/>
                <a:cs typeface="Calibri"/>
              </a:rPr>
              <a:t>Recommendations:  </a:t>
            </a:r>
            <a:r>
              <a:rPr lang="en-US" sz="900">
                <a:solidFill>
                  <a:srgbClr val="FFFFFF"/>
                </a:solidFill>
                <a:latin typeface="Calibri"/>
                <a:ea typeface="Calibri"/>
                <a:cs typeface="Calibri"/>
              </a:rPr>
              <a:t>① </a:t>
            </a:r>
            <a:r>
              <a:rPr lang="en-US" sz="900">
                <a:solidFill>
                  <a:srgbClr val="FFFFFF"/>
                </a:solidFill>
                <a:ea typeface="+mn-lt"/>
                <a:cs typeface="+mn-lt"/>
              </a:rPr>
              <a:t>Increase capacity to support higher post-COVID volumes</a:t>
            </a:r>
            <a:r>
              <a:rPr lang="en-US" sz="900">
                <a:solidFill>
                  <a:srgbClr val="FFFFFF"/>
                </a:solidFill>
                <a:latin typeface="Calibri"/>
                <a:ea typeface="Calibri"/>
                <a:cs typeface="Calibri"/>
              </a:rPr>
              <a:t>.  ②  Retention programs for declining Small/Medium clients  ③ </a:t>
            </a:r>
            <a:r>
              <a:rPr lang="en-US" sz="900">
                <a:solidFill>
                  <a:srgbClr val="FFFFFF"/>
                </a:solidFill>
                <a:ea typeface="+mn-lt"/>
                <a:cs typeface="+mn-lt"/>
              </a:rPr>
              <a:t>Continue monitoring 2021 trends as volumes normalized.</a:t>
            </a:r>
            <a:endParaRPr lang="en-US" sz="900">
              <a:solidFill>
                <a:srgbClr val="FFFFFF"/>
              </a:solidFill>
              <a:ea typeface="Calibri" panose="020F0502020204030204"/>
              <a:cs typeface="Calibri" panose="020F0502020204030204"/>
            </a:endParaRPr>
          </a:p>
        </p:txBody>
      </p:sp>
      <p:sp>
        <p:nvSpPr>
          <p:cNvPr id="27" name="Shape 25"/>
          <p:cNvSpPr/>
          <p:nvPr/>
        </p:nvSpPr>
        <p:spPr>
          <a:xfrm>
            <a:off x="0" y="5097780"/>
            <a:ext cx="9144000" cy="45720"/>
          </a:xfrm>
          <a:prstGeom prst="rect">
            <a:avLst/>
          </a:prstGeom>
          <a:solidFill>
            <a:srgbClr val="0891B2"/>
          </a:solidFill>
          <a:ln w="12700">
            <a:solidFill>
              <a:srgbClr val="0891B2"/>
            </a:solidFill>
            <a:prstDash val="solid"/>
          </a:ln>
        </p:spPr>
        <p:txBody>
          <a:bodyPr/>
          <a:lstStyle/>
          <a:p>
            <a:endParaRPr lang="en-CA"/>
          </a:p>
        </p:txBody>
      </p:sp>
      <p:sp>
        <p:nvSpPr>
          <p:cNvPr id="28" name="TextBox 27"/>
          <p:cNvSpPr txBox="1"/>
          <p:nvPr/>
        </p:nvSpPr>
        <p:spPr>
          <a:xfrm>
            <a:off x="8440747" y="4896612"/>
            <a:ext cx="300082" cy="230832"/>
          </a:xfrm>
          <a:prstGeom prst="rect">
            <a:avLst/>
          </a:prstGeom>
          <a:noFill/>
          <a:ln>
            <a:noFill/>
          </a:ln>
        </p:spPr>
        <p:txBody>
          <a:bodyPr wrap="none">
            <a:spAutoFit/>
          </a:bodyPr>
          <a:lstStyle/>
          <a:p>
            <a:pPr algn="ctr"/>
            <a:r>
              <a:rPr sz="900" b="1" dirty="0">
                <a:solidFill>
                  <a:schemeClr val="bg1"/>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1332</TotalTime>
  <Words>1799</Words>
  <Application>Microsoft Office PowerPoint</Application>
  <PresentationFormat>On-screen Show (16:9)</PresentationFormat>
  <Paragraphs>263</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of COVID-19 on ABC Company Parcel Business</dc:title>
  <dc:subject>PptxGenJS Presentation</dc:subject>
  <dc:creator>PptxGenJS</dc:creator>
  <cp:lastModifiedBy>James Tampanga</cp:lastModifiedBy>
  <cp:revision>5</cp:revision>
  <dcterms:created xsi:type="dcterms:W3CDTF">2026-04-21T18:44:22Z</dcterms:created>
  <dcterms:modified xsi:type="dcterms:W3CDTF">2026-04-25T03:09:52Z</dcterms:modified>
</cp:coreProperties>
</file>