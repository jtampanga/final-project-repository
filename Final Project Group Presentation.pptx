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drawings/drawing1.xml" ContentType="application/vnd.openxmlformats-officedocument.drawingml.chartshapes+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1.xml" ContentType="application/vnd.openxmlformats-officedocument.presentationml.notesSlide+xml"/>
  <Override PartName="/ppt/charts/chart9.xml" ContentType="application/vnd.openxmlformats-officedocument.drawingml.chart+xml"/>
  <Override PartName="/ppt/notesSlides/notesSlide12.xml" ContentType="application/vnd.openxmlformats-officedocument.presentationml.notesSlide+xml"/>
  <Override PartName="/ppt/charts/chart10.xml" ContentType="application/vnd.openxmlformats-officedocument.drawingml.chart+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73" r:id="rId8"/>
    <p:sldId id="264" r:id="rId9"/>
    <p:sldId id="265" r:id="rId10"/>
    <p:sldId id="266" r:id="rId11"/>
    <p:sldId id="267" r:id="rId12"/>
    <p:sldId id="268" r:id="rId13"/>
    <p:sldId id="270"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D6B2A2-A530-EE0C-EBB2-E01F423EAA40}" v="119" dt="2026-04-24T04:44:12.404"/>
    <p1510:client id="{D31C9819-C364-7691-83FA-7093FC38DC12}" v="2" dt="2026-04-24T04:42:41.392"/>
    <p1510:client id="{D9F49DC3-70CD-483B-8715-77BA7DAB0D79}" v="57" dt="2026-04-24T05:02:29.3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5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2019 Classification</c:v>
                </c:pt>
              </c:strCache>
            </c:strRef>
          </c:tx>
          <c:spPr>
            <a:solidFill>
              <a:srgbClr val="94A3B8"/>
            </a:solidFill>
            <a:effectLst/>
          </c:spPr>
          <c:invertIfNegative val="0"/>
          <c:dLbls>
            <c:numFmt formatCode="#,##0" sourceLinked="0"/>
            <c:spPr>
              <a:noFill/>
              <a:ln>
                <a:noFill/>
              </a:ln>
              <a:effectLst/>
            </c:spPr>
            <c:txPr>
              <a:bodyPr/>
              <a:lstStyle/>
              <a:p>
                <a:pPr>
                  <a:defRPr sz="9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Enterprise</c:v>
                </c:pt>
                <c:pt idx="1">
                  <c:v>Large</c:v>
                </c:pt>
                <c:pt idx="2">
                  <c:v>Medium</c:v>
                </c:pt>
                <c:pt idx="3">
                  <c:v>Small</c:v>
                </c:pt>
                <c:pt idx="4">
                  <c:v>Micro/Other</c:v>
                </c:pt>
              </c:strCache>
            </c:strRef>
          </c:cat>
          <c:val>
            <c:numRef>
              <c:f>Sheet1!$B$2:$B$6</c:f>
              <c:numCache>
                <c:formatCode>General</c:formatCode>
                <c:ptCount val="5"/>
                <c:pt idx="0">
                  <c:v>12</c:v>
                </c:pt>
                <c:pt idx="1">
                  <c:v>15</c:v>
                </c:pt>
                <c:pt idx="2">
                  <c:v>174</c:v>
                </c:pt>
                <c:pt idx="3">
                  <c:v>860</c:v>
                </c:pt>
                <c:pt idx="4">
                  <c:v>0</c:v>
                </c:pt>
              </c:numCache>
            </c:numRef>
          </c:val>
          <c:extLst>
            <c:ext xmlns:c16="http://schemas.microsoft.com/office/drawing/2014/chart" uri="{C3380CC4-5D6E-409C-BE32-E72D297353CC}">
              <c16:uniqueId val="{00000000-75F3-47B2-8285-6E3CC2AA20DF}"/>
            </c:ext>
          </c:extLst>
        </c:ser>
        <c:ser>
          <c:idx val="1"/>
          <c:order val="1"/>
          <c:tx>
            <c:strRef>
              <c:f>Sheet1!$C$1</c:f>
              <c:strCache>
                <c:ptCount val="1"/>
                <c:pt idx="0">
                  <c:v>2020 Classification</c:v>
                </c:pt>
              </c:strCache>
            </c:strRef>
          </c:tx>
          <c:spPr>
            <a:solidFill>
              <a:srgbClr val="0891B2"/>
            </a:solidFill>
            <a:effectLst/>
          </c:spPr>
          <c:invertIfNegative val="0"/>
          <c:dLbls>
            <c:numFmt formatCode="#,##0" sourceLinked="0"/>
            <c:spPr>
              <a:noFill/>
              <a:ln>
                <a:noFill/>
              </a:ln>
              <a:effectLst/>
            </c:spPr>
            <c:txPr>
              <a:bodyPr/>
              <a:lstStyle/>
              <a:p>
                <a:pPr>
                  <a:defRPr sz="9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Enterprise</c:v>
                </c:pt>
                <c:pt idx="1">
                  <c:v>Large</c:v>
                </c:pt>
                <c:pt idx="2">
                  <c:v>Medium</c:v>
                </c:pt>
                <c:pt idx="3">
                  <c:v>Small</c:v>
                </c:pt>
                <c:pt idx="4">
                  <c:v>Micro/Other</c:v>
                </c:pt>
              </c:strCache>
            </c:strRef>
          </c:cat>
          <c:val>
            <c:numRef>
              <c:f>Sheet1!$C$2:$C$6</c:f>
              <c:numCache>
                <c:formatCode>General</c:formatCode>
                <c:ptCount val="5"/>
                <c:pt idx="0">
                  <c:v>18</c:v>
                </c:pt>
                <c:pt idx="1">
                  <c:v>22</c:v>
                </c:pt>
                <c:pt idx="2">
                  <c:v>198</c:v>
                </c:pt>
                <c:pt idx="3">
                  <c:v>791</c:v>
                </c:pt>
                <c:pt idx="4">
                  <c:v>32</c:v>
                </c:pt>
              </c:numCache>
            </c:numRef>
          </c:val>
          <c:extLst>
            <c:ext xmlns:c16="http://schemas.microsoft.com/office/drawing/2014/chart" uri="{C3380CC4-5D6E-409C-BE32-E72D297353CC}">
              <c16:uniqueId val="{00000001-75F3-47B2-8285-6E3CC2AA20D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Annual Volume</c:v>
                </c:pt>
              </c:strCache>
            </c:strRef>
          </c:tx>
          <c:spPr>
            <a:solidFill>
              <a:srgbClr val="64748B"/>
            </a:solidFill>
            <a:effectLst/>
          </c:spPr>
          <c:invertIfNegative val="0"/>
          <c:dPt>
            <c:idx val="0"/>
            <c:invertIfNegative val="0"/>
            <c:bubble3D val="0"/>
            <c:extLst>
              <c:ext xmlns:c16="http://schemas.microsoft.com/office/drawing/2014/chart" uri="{C3380CC4-5D6E-409C-BE32-E72D297353CC}">
                <c16:uniqueId val="{00000001-B1AE-4FE7-A870-0EAA8160774F}"/>
              </c:ext>
            </c:extLst>
          </c:dPt>
          <c:dPt>
            <c:idx val="1"/>
            <c:invertIfNegative val="0"/>
            <c:bubble3D val="0"/>
            <c:extLst>
              <c:ext xmlns:c16="http://schemas.microsoft.com/office/drawing/2014/chart" uri="{C3380CC4-5D6E-409C-BE32-E72D297353CC}">
                <c16:uniqueId val="{00000003-B1AE-4FE7-A870-0EAA8160774F}"/>
              </c:ext>
            </c:extLst>
          </c:dPt>
          <c:dPt>
            <c:idx val="2"/>
            <c:invertIfNegative val="0"/>
            <c:bubble3D val="0"/>
            <c:spPr>
              <a:solidFill>
                <a:srgbClr val="0891B2"/>
              </a:solidFill>
              <a:effectLst/>
            </c:spPr>
            <c:extLst>
              <c:ext xmlns:c16="http://schemas.microsoft.com/office/drawing/2014/chart" uri="{C3380CC4-5D6E-409C-BE32-E72D297353CC}">
                <c16:uniqueId val="{00000005-B1AE-4FE7-A870-0EAA8160774F}"/>
              </c:ext>
            </c:extLst>
          </c:dPt>
          <c:dPt>
            <c:idx val="3"/>
            <c:invertIfNegative val="0"/>
            <c:bubble3D val="0"/>
            <c:spPr>
              <a:solidFill>
                <a:srgbClr val="94A3B8"/>
              </a:solidFill>
              <a:effectLst/>
            </c:spPr>
            <c:extLst>
              <c:ext xmlns:c16="http://schemas.microsoft.com/office/drawing/2014/chart" uri="{C3380CC4-5D6E-409C-BE32-E72D297353CC}">
                <c16:uniqueId val="{00000007-B1AE-4FE7-A870-0EAA8160774F}"/>
              </c:ext>
            </c:extLst>
          </c:dPt>
          <c:dLbls>
            <c:numFmt formatCode="#,##0" sourceLinked="0"/>
            <c:spPr>
              <a:noFill/>
              <a:ln>
                <a:noFill/>
              </a:ln>
              <a:effectLst/>
            </c:spPr>
            <c:txPr>
              <a:bodyPr/>
              <a:lstStyle/>
              <a:p>
                <a:pPr>
                  <a:defRPr sz="9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2018</c:v>
                </c:pt>
                <c:pt idx="1">
                  <c:v>2019</c:v>
                </c:pt>
                <c:pt idx="2">
                  <c:v>2020</c:v>
                </c:pt>
                <c:pt idx="3">
                  <c:v>2021</c:v>
                </c:pt>
              </c:strCache>
            </c:strRef>
          </c:cat>
          <c:val>
            <c:numRef>
              <c:f>Sheet1!$B$2:$B$5</c:f>
              <c:numCache>
                <c:formatCode>General</c:formatCode>
                <c:ptCount val="4"/>
                <c:pt idx="0">
                  <c:v>49099478</c:v>
                </c:pt>
                <c:pt idx="1">
                  <c:v>52823114</c:v>
                </c:pt>
                <c:pt idx="2">
                  <c:v>73475690</c:v>
                </c:pt>
                <c:pt idx="3">
                  <c:v>48679668</c:v>
                </c:pt>
              </c:numCache>
            </c:numRef>
          </c:val>
          <c:extLst>
            <c:ext xmlns:c16="http://schemas.microsoft.com/office/drawing/2014/chart" uri="{C3380CC4-5D6E-409C-BE32-E72D297353CC}">
              <c16:uniqueId val="{00000008-B1AE-4FE7-A870-0EAA8160774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2019</c:v>
                </c:pt>
              </c:strCache>
            </c:strRef>
          </c:tx>
          <c:spPr>
            <a:ln w="25400" cap="flat">
              <a:solidFill>
                <a:srgbClr val="64748B"/>
              </a:solidFill>
              <a:prstDash val="solid"/>
              <a:round/>
            </a:ln>
            <a:effectLst/>
          </c:spPr>
          <c:marker>
            <c:symbol val="none"/>
          </c:marker>
          <c:cat>
            <c:strRef>
              <c:f>Sheet1!$A$2:$A$54</c:f>
              <c:strCache>
                <c:ptCount val="53"/>
                <c:pt idx="0">
                  <c:v>W1</c:v>
                </c:pt>
                <c:pt idx="1">
                  <c:v>W2</c:v>
                </c:pt>
                <c:pt idx="2">
                  <c:v>W3</c:v>
                </c:pt>
                <c:pt idx="3">
                  <c:v>W4</c:v>
                </c:pt>
                <c:pt idx="4">
                  <c:v>W5</c:v>
                </c:pt>
                <c:pt idx="5">
                  <c:v>W6</c:v>
                </c:pt>
                <c:pt idx="6">
                  <c:v>W7</c:v>
                </c:pt>
                <c:pt idx="7">
                  <c:v>W8</c:v>
                </c:pt>
                <c:pt idx="8">
                  <c:v>W9</c:v>
                </c:pt>
                <c:pt idx="9">
                  <c:v>W10</c:v>
                </c:pt>
                <c:pt idx="10">
                  <c:v>W11</c:v>
                </c:pt>
                <c:pt idx="11">
                  <c:v>W12</c:v>
                </c:pt>
                <c:pt idx="12">
                  <c:v>W13</c:v>
                </c:pt>
                <c:pt idx="13">
                  <c:v>W14</c:v>
                </c:pt>
                <c:pt idx="14">
                  <c:v>W15</c:v>
                </c:pt>
                <c:pt idx="15">
                  <c:v>W16</c:v>
                </c:pt>
                <c:pt idx="16">
                  <c:v>W17</c:v>
                </c:pt>
                <c:pt idx="17">
                  <c:v>W18</c:v>
                </c:pt>
                <c:pt idx="18">
                  <c:v>W19</c:v>
                </c:pt>
                <c:pt idx="19">
                  <c:v>W20</c:v>
                </c:pt>
                <c:pt idx="20">
                  <c:v>W21</c:v>
                </c:pt>
                <c:pt idx="21">
                  <c:v>W22</c:v>
                </c:pt>
                <c:pt idx="22">
                  <c:v>W23</c:v>
                </c:pt>
                <c:pt idx="23">
                  <c:v>W24</c:v>
                </c:pt>
                <c:pt idx="24">
                  <c:v>W25</c:v>
                </c:pt>
                <c:pt idx="25">
                  <c:v>W26</c:v>
                </c:pt>
                <c:pt idx="26">
                  <c:v>W27</c:v>
                </c:pt>
                <c:pt idx="27">
                  <c:v>W28</c:v>
                </c:pt>
                <c:pt idx="28">
                  <c:v>W29</c:v>
                </c:pt>
                <c:pt idx="29">
                  <c:v>W30</c:v>
                </c:pt>
                <c:pt idx="30">
                  <c:v>W31</c:v>
                </c:pt>
                <c:pt idx="31">
                  <c:v>W32</c:v>
                </c:pt>
                <c:pt idx="32">
                  <c:v>W33</c:v>
                </c:pt>
                <c:pt idx="33">
                  <c:v>W34</c:v>
                </c:pt>
                <c:pt idx="34">
                  <c:v>W35</c:v>
                </c:pt>
                <c:pt idx="35">
                  <c:v>W36</c:v>
                </c:pt>
                <c:pt idx="36">
                  <c:v>W37</c:v>
                </c:pt>
                <c:pt idx="37">
                  <c:v>W38</c:v>
                </c:pt>
                <c:pt idx="38">
                  <c:v>W39</c:v>
                </c:pt>
                <c:pt idx="39">
                  <c:v>W40</c:v>
                </c:pt>
                <c:pt idx="40">
                  <c:v>W41</c:v>
                </c:pt>
                <c:pt idx="41">
                  <c:v>W42</c:v>
                </c:pt>
                <c:pt idx="42">
                  <c:v>W43</c:v>
                </c:pt>
                <c:pt idx="43">
                  <c:v>W44</c:v>
                </c:pt>
                <c:pt idx="44">
                  <c:v>W45</c:v>
                </c:pt>
                <c:pt idx="45">
                  <c:v>W46</c:v>
                </c:pt>
                <c:pt idx="46">
                  <c:v>W47</c:v>
                </c:pt>
                <c:pt idx="47">
                  <c:v>W48</c:v>
                </c:pt>
                <c:pt idx="48">
                  <c:v>W49</c:v>
                </c:pt>
                <c:pt idx="49">
                  <c:v>W50</c:v>
                </c:pt>
                <c:pt idx="50">
                  <c:v>W51</c:v>
                </c:pt>
                <c:pt idx="51">
                  <c:v>W52</c:v>
                </c:pt>
                <c:pt idx="52">
                  <c:v>W53</c:v>
                </c:pt>
              </c:strCache>
            </c:strRef>
          </c:cat>
          <c:val>
            <c:numRef>
              <c:f>Sheet1!$B$2:$B$54</c:f>
              <c:numCache>
                <c:formatCode>General</c:formatCode>
                <c:ptCount val="53"/>
                <c:pt idx="0">
                  <c:v>814361</c:v>
                </c:pt>
                <c:pt idx="1">
                  <c:v>1048800</c:v>
                </c:pt>
                <c:pt idx="2">
                  <c:v>1073634</c:v>
                </c:pt>
                <c:pt idx="3">
                  <c:v>937502</c:v>
                </c:pt>
                <c:pt idx="4">
                  <c:v>870849</c:v>
                </c:pt>
                <c:pt idx="5">
                  <c:v>788670</c:v>
                </c:pt>
                <c:pt idx="6">
                  <c:v>938386</c:v>
                </c:pt>
                <c:pt idx="7">
                  <c:v>764078</c:v>
                </c:pt>
                <c:pt idx="8">
                  <c:v>803745</c:v>
                </c:pt>
                <c:pt idx="9">
                  <c:v>792805</c:v>
                </c:pt>
                <c:pt idx="10">
                  <c:v>879574</c:v>
                </c:pt>
                <c:pt idx="11">
                  <c:v>864583</c:v>
                </c:pt>
                <c:pt idx="12">
                  <c:v>853762</c:v>
                </c:pt>
                <c:pt idx="13">
                  <c:v>817979</c:v>
                </c:pt>
                <c:pt idx="14">
                  <c:v>874088</c:v>
                </c:pt>
                <c:pt idx="15">
                  <c:v>879169</c:v>
                </c:pt>
                <c:pt idx="16">
                  <c:v>912863</c:v>
                </c:pt>
                <c:pt idx="17">
                  <c:v>1059240</c:v>
                </c:pt>
                <c:pt idx="18">
                  <c:v>1102598</c:v>
                </c:pt>
                <c:pt idx="19">
                  <c:v>951212</c:v>
                </c:pt>
                <c:pt idx="20">
                  <c:v>874423</c:v>
                </c:pt>
                <c:pt idx="21">
                  <c:v>881149</c:v>
                </c:pt>
                <c:pt idx="22">
                  <c:v>883913</c:v>
                </c:pt>
                <c:pt idx="23">
                  <c:v>958393</c:v>
                </c:pt>
                <c:pt idx="24">
                  <c:v>913925</c:v>
                </c:pt>
                <c:pt idx="25">
                  <c:v>860909</c:v>
                </c:pt>
                <c:pt idx="26">
                  <c:v>813454</c:v>
                </c:pt>
                <c:pt idx="27">
                  <c:v>980602</c:v>
                </c:pt>
                <c:pt idx="28">
                  <c:v>935925</c:v>
                </c:pt>
                <c:pt idx="29">
                  <c:v>883204</c:v>
                </c:pt>
                <c:pt idx="30">
                  <c:v>886248</c:v>
                </c:pt>
                <c:pt idx="31">
                  <c:v>815116</c:v>
                </c:pt>
                <c:pt idx="32">
                  <c:v>847028</c:v>
                </c:pt>
                <c:pt idx="33">
                  <c:v>977478</c:v>
                </c:pt>
                <c:pt idx="34">
                  <c:v>965679</c:v>
                </c:pt>
                <c:pt idx="35">
                  <c:v>856524</c:v>
                </c:pt>
                <c:pt idx="36">
                  <c:v>917470</c:v>
                </c:pt>
                <c:pt idx="37">
                  <c:v>962901</c:v>
                </c:pt>
                <c:pt idx="38">
                  <c:v>957015</c:v>
                </c:pt>
                <c:pt idx="39">
                  <c:v>889764</c:v>
                </c:pt>
                <c:pt idx="40">
                  <c:v>926572</c:v>
                </c:pt>
                <c:pt idx="41">
                  <c:v>1012358</c:v>
                </c:pt>
                <c:pt idx="42">
                  <c:v>1026545</c:v>
                </c:pt>
                <c:pt idx="43">
                  <c:v>1037382</c:v>
                </c:pt>
                <c:pt idx="44">
                  <c:v>1238944</c:v>
                </c:pt>
                <c:pt idx="45">
                  <c:v>1296707</c:v>
                </c:pt>
                <c:pt idx="46">
                  <c:v>1331492</c:v>
                </c:pt>
                <c:pt idx="47">
                  <c:v>1790660</c:v>
                </c:pt>
                <c:pt idx="48">
                  <c:v>2506405</c:v>
                </c:pt>
                <c:pt idx="49">
                  <c:v>1736772</c:v>
                </c:pt>
                <c:pt idx="50">
                  <c:v>1321183</c:v>
                </c:pt>
                <c:pt idx="51">
                  <c:v>916585</c:v>
                </c:pt>
                <c:pt idx="52">
                  <c:v>592491</c:v>
                </c:pt>
              </c:numCache>
            </c:numRef>
          </c:val>
          <c:smooth val="0"/>
          <c:extLst>
            <c:ext xmlns:c16="http://schemas.microsoft.com/office/drawing/2014/chart" uri="{C3380CC4-5D6E-409C-BE32-E72D297353CC}">
              <c16:uniqueId val="{00000000-38A1-4BF2-9593-14515144A806}"/>
            </c:ext>
          </c:extLst>
        </c:ser>
        <c:ser>
          <c:idx val="1"/>
          <c:order val="1"/>
          <c:tx>
            <c:strRef>
              <c:f>Sheet1!$C$1</c:f>
              <c:strCache>
                <c:ptCount val="1"/>
                <c:pt idx="0">
                  <c:v>2020 (COVID)</c:v>
                </c:pt>
              </c:strCache>
            </c:strRef>
          </c:tx>
          <c:spPr>
            <a:ln w="25400" cap="flat">
              <a:solidFill>
                <a:srgbClr val="0891B2"/>
              </a:solidFill>
              <a:prstDash val="solid"/>
              <a:round/>
            </a:ln>
            <a:effectLst/>
          </c:spPr>
          <c:marker>
            <c:symbol val="none"/>
          </c:marker>
          <c:cat>
            <c:strRef>
              <c:f>Sheet1!$A$2:$A$54</c:f>
              <c:strCache>
                <c:ptCount val="53"/>
                <c:pt idx="0">
                  <c:v>W1</c:v>
                </c:pt>
                <c:pt idx="1">
                  <c:v>W2</c:v>
                </c:pt>
                <c:pt idx="2">
                  <c:v>W3</c:v>
                </c:pt>
                <c:pt idx="3">
                  <c:v>W4</c:v>
                </c:pt>
                <c:pt idx="4">
                  <c:v>W5</c:v>
                </c:pt>
                <c:pt idx="5">
                  <c:v>W6</c:v>
                </c:pt>
                <c:pt idx="6">
                  <c:v>W7</c:v>
                </c:pt>
                <c:pt idx="7">
                  <c:v>W8</c:v>
                </c:pt>
                <c:pt idx="8">
                  <c:v>W9</c:v>
                </c:pt>
                <c:pt idx="9">
                  <c:v>W10</c:v>
                </c:pt>
                <c:pt idx="10">
                  <c:v>W11</c:v>
                </c:pt>
                <c:pt idx="11">
                  <c:v>W12</c:v>
                </c:pt>
                <c:pt idx="12">
                  <c:v>W13</c:v>
                </c:pt>
                <c:pt idx="13">
                  <c:v>W14</c:v>
                </c:pt>
                <c:pt idx="14">
                  <c:v>W15</c:v>
                </c:pt>
                <c:pt idx="15">
                  <c:v>W16</c:v>
                </c:pt>
                <c:pt idx="16">
                  <c:v>W17</c:v>
                </c:pt>
                <c:pt idx="17">
                  <c:v>W18</c:v>
                </c:pt>
                <c:pt idx="18">
                  <c:v>W19</c:v>
                </c:pt>
                <c:pt idx="19">
                  <c:v>W20</c:v>
                </c:pt>
                <c:pt idx="20">
                  <c:v>W21</c:v>
                </c:pt>
                <c:pt idx="21">
                  <c:v>W22</c:v>
                </c:pt>
                <c:pt idx="22">
                  <c:v>W23</c:v>
                </c:pt>
                <c:pt idx="23">
                  <c:v>W24</c:v>
                </c:pt>
                <c:pt idx="24">
                  <c:v>W25</c:v>
                </c:pt>
                <c:pt idx="25">
                  <c:v>W26</c:v>
                </c:pt>
                <c:pt idx="26">
                  <c:v>W27</c:v>
                </c:pt>
                <c:pt idx="27">
                  <c:v>W28</c:v>
                </c:pt>
                <c:pt idx="28">
                  <c:v>W29</c:v>
                </c:pt>
                <c:pt idx="29">
                  <c:v>W30</c:v>
                </c:pt>
                <c:pt idx="30">
                  <c:v>W31</c:v>
                </c:pt>
                <c:pt idx="31">
                  <c:v>W32</c:v>
                </c:pt>
                <c:pt idx="32">
                  <c:v>W33</c:v>
                </c:pt>
                <c:pt idx="33">
                  <c:v>W34</c:v>
                </c:pt>
                <c:pt idx="34">
                  <c:v>W35</c:v>
                </c:pt>
                <c:pt idx="35">
                  <c:v>W36</c:v>
                </c:pt>
                <c:pt idx="36">
                  <c:v>W37</c:v>
                </c:pt>
                <c:pt idx="37">
                  <c:v>W38</c:v>
                </c:pt>
                <c:pt idx="38">
                  <c:v>W39</c:v>
                </c:pt>
                <c:pt idx="39">
                  <c:v>W40</c:v>
                </c:pt>
                <c:pt idx="40">
                  <c:v>W41</c:v>
                </c:pt>
                <c:pt idx="41">
                  <c:v>W42</c:v>
                </c:pt>
                <c:pt idx="42">
                  <c:v>W43</c:v>
                </c:pt>
                <c:pt idx="43">
                  <c:v>W44</c:v>
                </c:pt>
                <c:pt idx="44">
                  <c:v>W45</c:v>
                </c:pt>
                <c:pt idx="45">
                  <c:v>W46</c:v>
                </c:pt>
                <c:pt idx="46">
                  <c:v>W47</c:v>
                </c:pt>
                <c:pt idx="47">
                  <c:v>W48</c:v>
                </c:pt>
                <c:pt idx="48">
                  <c:v>W49</c:v>
                </c:pt>
                <c:pt idx="49">
                  <c:v>W50</c:v>
                </c:pt>
                <c:pt idx="50">
                  <c:v>W51</c:v>
                </c:pt>
                <c:pt idx="51">
                  <c:v>W52</c:v>
                </c:pt>
                <c:pt idx="52">
                  <c:v>W53</c:v>
                </c:pt>
              </c:strCache>
            </c:strRef>
          </c:cat>
          <c:val>
            <c:numRef>
              <c:f>Sheet1!$C$2:$C$54</c:f>
              <c:numCache>
                <c:formatCode>General</c:formatCode>
                <c:ptCount val="53"/>
                <c:pt idx="0">
                  <c:v>554951</c:v>
                </c:pt>
                <c:pt idx="1">
                  <c:v>1078417</c:v>
                </c:pt>
                <c:pt idx="2">
                  <c:v>1008084</c:v>
                </c:pt>
                <c:pt idx="3">
                  <c:v>934713</c:v>
                </c:pt>
                <c:pt idx="4">
                  <c:v>938521</c:v>
                </c:pt>
                <c:pt idx="5">
                  <c:v>873763</c:v>
                </c:pt>
                <c:pt idx="6">
                  <c:v>786626</c:v>
                </c:pt>
                <c:pt idx="7">
                  <c:v>882633</c:v>
                </c:pt>
                <c:pt idx="8">
                  <c:v>903362</c:v>
                </c:pt>
                <c:pt idx="9">
                  <c:v>891398</c:v>
                </c:pt>
                <c:pt idx="10">
                  <c:v>887335</c:v>
                </c:pt>
                <c:pt idx="11">
                  <c:v>967436</c:v>
                </c:pt>
                <c:pt idx="12">
                  <c:v>1084829</c:v>
                </c:pt>
                <c:pt idx="13">
                  <c:v>1346802</c:v>
                </c:pt>
                <c:pt idx="14">
                  <c:v>1480147</c:v>
                </c:pt>
                <c:pt idx="15">
                  <c:v>2003866</c:v>
                </c:pt>
                <c:pt idx="16">
                  <c:v>1914740</c:v>
                </c:pt>
                <c:pt idx="17">
                  <c:v>1964582</c:v>
                </c:pt>
                <c:pt idx="18">
                  <c:v>2016316</c:v>
                </c:pt>
                <c:pt idx="19">
                  <c:v>2048931</c:v>
                </c:pt>
                <c:pt idx="20">
                  <c:v>1842820</c:v>
                </c:pt>
                <c:pt idx="21">
                  <c:v>1749399</c:v>
                </c:pt>
                <c:pt idx="22">
                  <c:v>1672111</c:v>
                </c:pt>
                <c:pt idx="23">
                  <c:v>1598331</c:v>
                </c:pt>
                <c:pt idx="24">
                  <c:v>1454647</c:v>
                </c:pt>
                <c:pt idx="25">
                  <c:v>1426303</c:v>
                </c:pt>
                <c:pt idx="26">
                  <c:v>1306604</c:v>
                </c:pt>
                <c:pt idx="27">
                  <c:v>1371776</c:v>
                </c:pt>
                <c:pt idx="28">
                  <c:v>1269835</c:v>
                </c:pt>
                <c:pt idx="29">
                  <c:v>1319267</c:v>
                </c:pt>
                <c:pt idx="30">
                  <c:v>1205036</c:v>
                </c:pt>
                <c:pt idx="31">
                  <c:v>1250590</c:v>
                </c:pt>
                <c:pt idx="32">
                  <c:v>1228359</c:v>
                </c:pt>
                <c:pt idx="33">
                  <c:v>1286856</c:v>
                </c:pt>
                <c:pt idx="34">
                  <c:v>1240796</c:v>
                </c:pt>
                <c:pt idx="35">
                  <c:v>1273737</c:v>
                </c:pt>
                <c:pt idx="36">
                  <c:v>1135972</c:v>
                </c:pt>
                <c:pt idx="37">
                  <c:v>1285061</c:v>
                </c:pt>
                <c:pt idx="38">
                  <c:v>1214387</c:v>
                </c:pt>
                <c:pt idx="39">
                  <c:v>1108258</c:v>
                </c:pt>
                <c:pt idx="40">
                  <c:v>1275676</c:v>
                </c:pt>
                <c:pt idx="41">
                  <c:v>1240437</c:v>
                </c:pt>
                <c:pt idx="42">
                  <c:v>1379348</c:v>
                </c:pt>
                <c:pt idx="43">
                  <c:v>1370162</c:v>
                </c:pt>
                <c:pt idx="44">
                  <c:v>1451789</c:v>
                </c:pt>
                <c:pt idx="45">
                  <c:v>1600614</c:v>
                </c:pt>
                <c:pt idx="46">
                  <c:v>1792533</c:v>
                </c:pt>
                <c:pt idx="47">
                  <c:v>2302321</c:v>
                </c:pt>
                <c:pt idx="48">
                  <c:v>2952342</c:v>
                </c:pt>
                <c:pt idx="49">
                  <c:v>2104379</c:v>
                </c:pt>
                <c:pt idx="50">
                  <c:v>1714827</c:v>
                </c:pt>
                <c:pt idx="51">
                  <c:v>1063727</c:v>
                </c:pt>
                <c:pt idx="52">
                  <c:v>1419938</c:v>
                </c:pt>
              </c:numCache>
            </c:numRef>
          </c:val>
          <c:smooth val="0"/>
          <c:extLst>
            <c:ext xmlns:c16="http://schemas.microsoft.com/office/drawing/2014/chart" uri="{C3380CC4-5D6E-409C-BE32-E72D297353CC}">
              <c16:uniqueId val="{00000001-38A1-4BF2-9593-14515144A806}"/>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2019 Peak</c:v>
                </c:pt>
              </c:strCache>
            </c:strRef>
          </c:tx>
          <c:spPr>
            <a:solidFill>
              <a:srgbClr val="64748B"/>
            </a:solidFill>
            <a:effectLst/>
          </c:spPr>
          <c:invertIfNegative val="0"/>
          <c:cat>
            <c:strRef>
              <c:f>Sheet1!$A$2:$A$13</c:f>
              <c:strCache>
                <c:ptCount val="12"/>
                <c:pt idx="0">
                  <c:v>W45</c:v>
                </c:pt>
                <c:pt idx="1">
                  <c:v>W46</c:v>
                </c:pt>
                <c:pt idx="2">
                  <c:v>W47</c:v>
                </c:pt>
                <c:pt idx="3">
                  <c:v>W48</c:v>
                </c:pt>
                <c:pt idx="4">
                  <c:v>W49</c:v>
                </c:pt>
                <c:pt idx="5">
                  <c:v>W50</c:v>
                </c:pt>
                <c:pt idx="6">
                  <c:v>W51</c:v>
                </c:pt>
                <c:pt idx="7">
                  <c:v>W52</c:v>
                </c:pt>
                <c:pt idx="8">
                  <c:v>W53</c:v>
                </c:pt>
                <c:pt idx="9">
                  <c:v>W1</c:v>
                </c:pt>
                <c:pt idx="10">
                  <c:v>W2</c:v>
                </c:pt>
                <c:pt idx="11">
                  <c:v>W3</c:v>
                </c:pt>
              </c:strCache>
            </c:strRef>
          </c:cat>
          <c:val>
            <c:numRef>
              <c:f>Sheet1!$B$2:$B$13</c:f>
              <c:numCache>
                <c:formatCode>General</c:formatCode>
                <c:ptCount val="12"/>
                <c:pt idx="0">
                  <c:v>1238944</c:v>
                </c:pt>
                <c:pt idx="1">
                  <c:v>1296707</c:v>
                </c:pt>
                <c:pt idx="2">
                  <c:v>1331492</c:v>
                </c:pt>
                <c:pt idx="3">
                  <c:v>1790660</c:v>
                </c:pt>
                <c:pt idx="4">
                  <c:v>2506405</c:v>
                </c:pt>
                <c:pt idx="5">
                  <c:v>1736772</c:v>
                </c:pt>
                <c:pt idx="6">
                  <c:v>1321183</c:v>
                </c:pt>
                <c:pt idx="7">
                  <c:v>916585</c:v>
                </c:pt>
                <c:pt idx="8">
                  <c:v>592491</c:v>
                </c:pt>
                <c:pt idx="9">
                  <c:v>554951</c:v>
                </c:pt>
                <c:pt idx="10">
                  <c:v>1078417</c:v>
                </c:pt>
                <c:pt idx="11">
                  <c:v>1008084</c:v>
                </c:pt>
              </c:numCache>
            </c:numRef>
          </c:val>
          <c:extLst>
            <c:ext xmlns:c16="http://schemas.microsoft.com/office/drawing/2014/chart" uri="{C3380CC4-5D6E-409C-BE32-E72D297353CC}">
              <c16:uniqueId val="{00000000-28B1-4D5F-B052-543A454CA0C0}"/>
            </c:ext>
          </c:extLst>
        </c:ser>
        <c:ser>
          <c:idx val="1"/>
          <c:order val="1"/>
          <c:tx>
            <c:strRef>
              <c:f>Sheet1!$C$1</c:f>
              <c:strCache>
                <c:ptCount val="1"/>
                <c:pt idx="0">
                  <c:v>2020 Peak</c:v>
                </c:pt>
              </c:strCache>
            </c:strRef>
          </c:tx>
          <c:spPr>
            <a:solidFill>
              <a:srgbClr val="0891B2"/>
            </a:solidFill>
            <a:effectLst/>
          </c:spPr>
          <c:invertIfNegative val="0"/>
          <c:cat>
            <c:strRef>
              <c:f>Sheet1!$A$2:$A$13</c:f>
              <c:strCache>
                <c:ptCount val="12"/>
                <c:pt idx="0">
                  <c:v>W45</c:v>
                </c:pt>
                <c:pt idx="1">
                  <c:v>W46</c:v>
                </c:pt>
                <c:pt idx="2">
                  <c:v>W47</c:v>
                </c:pt>
                <c:pt idx="3">
                  <c:v>W48</c:v>
                </c:pt>
                <c:pt idx="4">
                  <c:v>W49</c:v>
                </c:pt>
                <c:pt idx="5">
                  <c:v>W50</c:v>
                </c:pt>
                <c:pt idx="6">
                  <c:v>W51</c:v>
                </c:pt>
                <c:pt idx="7">
                  <c:v>W52</c:v>
                </c:pt>
                <c:pt idx="8">
                  <c:v>W53</c:v>
                </c:pt>
                <c:pt idx="9">
                  <c:v>W1</c:v>
                </c:pt>
                <c:pt idx="10">
                  <c:v>W2</c:v>
                </c:pt>
                <c:pt idx="11">
                  <c:v>W3</c:v>
                </c:pt>
              </c:strCache>
            </c:strRef>
          </c:cat>
          <c:val>
            <c:numRef>
              <c:f>Sheet1!$C$2:$C$13</c:f>
              <c:numCache>
                <c:formatCode>General</c:formatCode>
                <c:ptCount val="12"/>
                <c:pt idx="0">
                  <c:v>1451789</c:v>
                </c:pt>
                <c:pt idx="1">
                  <c:v>1600614</c:v>
                </c:pt>
                <c:pt idx="2">
                  <c:v>1792533</c:v>
                </c:pt>
                <c:pt idx="3">
                  <c:v>2302321</c:v>
                </c:pt>
                <c:pt idx="4">
                  <c:v>2952342</c:v>
                </c:pt>
                <c:pt idx="5">
                  <c:v>2104379</c:v>
                </c:pt>
                <c:pt idx="6">
                  <c:v>1714827</c:v>
                </c:pt>
                <c:pt idx="7">
                  <c:v>1063727</c:v>
                </c:pt>
                <c:pt idx="8">
                  <c:v>1419938</c:v>
                </c:pt>
                <c:pt idx="9">
                  <c:v>0</c:v>
                </c:pt>
                <c:pt idx="10">
                  <c:v>0</c:v>
                </c:pt>
                <c:pt idx="11">
                  <c:v>0</c:v>
                </c:pt>
              </c:numCache>
            </c:numRef>
          </c:val>
          <c:extLst>
            <c:ext xmlns:c16="http://schemas.microsoft.com/office/drawing/2014/chart" uri="{C3380CC4-5D6E-409C-BE32-E72D297353CC}">
              <c16:uniqueId val="{00000001-28B1-4D5F-B052-543A454CA0C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2019</c:v>
                </c:pt>
              </c:strCache>
            </c:strRef>
          </c:tx>
          <c:spPr>
            <a:solidFill>
              <a:srgbClr val="94A3B8"/>
            </a:solidFill>
            <a:effectLst/>
          </c:spPr>
          <c:invertIfNegative val="0"/>
          <c:cat>
            <c:strRef>
              <c:f>Sheet1!$A$2:$A$5</c:f>
              <c:strCache>
                <c:ptCount val="4"/>
                <c:pt idx="0">
                  <c:v>Enterprise</c:v>
                </c:pt>
                <c:pt idx="1">
                  <c:v>Large</c:v>
                </c:pt>
                <c:pt idx="2">
                  <c:v>Medium</c:v>
                </c:pt>
                <c:pt idx="3">
                  <c:v>Small</c:v>
                </c:pt>
              </c:strCache>
            </c:strRef>
          </c:cat>
          <c:val>
            <c:numRef>
              <c:f>Sheet1!$B$2:$B$5</c:f>
              <c:numCache>
                <c:formatCode>General</c:formatCode>
                <c:ptCount val="4"/>
                <c:pt idx="0">
                  <c:v>38910324</c:v>
                </c:pt>
                <c:pt idx="1">
                  <c:v>4191621</c:v>
                </c:pt>
                <c:pt idx="2">
                  <c:v>7027575</c:v>
                </c:pt>
                <c:pt idx="3">
                  <c:v>2693594</c:v>
                </c:pt>
              </c:numCache>
            </c:numRef>
          </c:val>
          <c:extLst>
            <c:ext xmlns:c16="http://schemas.microsoft.com/office/drawing/2014/chart" uri="{C3380CC4-5D6E-409C-BE32-E72D297353CC}">
              <c16:uniqueId val="{00000000-1C13-4315-8905-5C21C5F6FF78}"/>
            </c:ext>
          </c:extLst>
        </c:ser>
        <c:ser>
          <c:idx val="1"/>
          <c:order val="1"/>
          <c:tx>
            <c:strRef>
              <c:f>Sheet1!$C$1</c:f>
              <c:strCache>
                <c:ptCount val="1"/>
                <c:pt idx="0">
                  <c:v>2020</c:v>
                </c:pt>
              </c:strCache>
            </c:strRef>
          </c:tx>
          <c:spPr>
            <a:solidFill>
              <a:srgbClr val="0891B2"/>
            </a:solidFill>
            <a:effectLst/>
          </c:spPr>
          <c:invertIfNegative val="0"/>
          <c:cat>
            <c:strRef>
              <c:f>Sheet1!$A$2:$A$5</c:f>
              <c:strCache>
                <c:ptCount val="4"/>
                <c:pt idx="0">
                  <c:v>Enterprise</c:v>
                </c:pt>
                <c:pt idx="1">
                  <c:v>Large</c:v>
                </c:pt>
                <c:pt idx="2">
                  <c:v>Medium</c:v>
                </c:pt>
                <c:pt idx="3">
                  <c:v>Small</c:v>
                </c:pt>
              </c:strCache>
            </c:strRef>
          </c:cat>
          <c:val>
            <c:numRef>
              <c:f>Sheet1!$C$2:$C$5</c:f>
              <c:numCache>
                <c:formatCode>General</c:formatCode>
                <c:ptCount val="4"/>
                <c:pt idx="0">
                  <c:v>53794064</c:v>
                </c:pt>
                <c:pt idx="1">
                  <c:v>5625310</c:v>
                </c:pt>
                <c:pt idx="2">
                  <c:v>9965816</c:v>
                </c:pt>
                <c:pt idx="3">
                  <c:v>4090500</c:v>
                </c:pt>
              </c:numCache>
            </c:numRef>
          </c:val>
          <c:extLst>
            <c:ext xmlns:c16="http://schemas.microsoft.com/office/drawing/2014/chart" uri="{C3380CC4-5D6E-409C-BE32-E72D297353CC}">
              <c16:uniqueId val="{00000001-1C13-4315-8905-5C21C5F6FF7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00000"/>
                </a:solidFill>
                <a:latin typeface="Arial"/>
              </a:defRPr>
            </a:pPr>
            <a:r>
              <a:rPr lang="en-CA" sz="1100" b="0" i="0" u="none" strike="noStrike">
                <a:solidFill>
                  <a:srgbClr val="000000"/>
                </a:solidFill>
                <a:latin typeface="Arial"/>
              </a:rPr>
              <a:t>2020 Volume Share</a:t>
            </a:r>
          </a:p>
        </c:rich>
      </c:tx>
      <c:overlay val="0"/>
    </c:title>
    <c:autoTitleDeleted val="0"/>
    <c:plotArea>
      <c:layout/>
      <c:pieChart>
        <c:varyColors val="1"/>
        <c:ser>
          <c:idx val="0"/>
          <c:order val="0"/>
          <c:tx>
            <c:strRef>
              <c:f>Sheet1!$B$1</c:f>
              <c:strCache>
                <c:ptCount val="1"/>
                <c:pt idx="0">
                  <c:v>2020 Volume Share</c:v>
                </c:pt>
              </c:strCache>
            </c:strRef>
          </c:tx>
          <c:spPr>
            <a:solidFill>
              <a:schemeClr val="accent1"/>
            </a:solidFill>
            <a:ln w="9525" cap="flat">
              <a:solidFill>
                <a:srgbClr val="F9F9F9"/>
              </a:solidFill>
              <a:prstDash val="solid"/>
              <a:round/>
            </a:ln>
            <a:effectLst/>
          </c:spPr>
          <c:dPt>
            <c:idx val="0"/>
            <c:bubble3D val="0"/>
            <c:spPr>
              <a:solidFill>
                <a:srgbClr val="0891B2"/>
              </a:solidFill>
              <a:effectLst/>
            </c:spPr>
            <c:extLst>
              <c:ext xmlns:c16="http://schemas.microsoft.com/office/drawing/2014/chart" uri="{C3380CC4-5D6E-409C-BE32-E72D297353CC}">
                <c16:uniqueId val="{00000001-70D9-4E3D-A661-F31ED98F52A0}"/>
              </c:ext>
            </c:extLst>
          </c:dPt>
          <c:dPt>
            <c:idx val="1"/>
            <c:bubble3D val="0"/>
            <c:spPr>
              <a:solidFill>
                <a:srgbClr val="06B6D4"/>
              </a:solidFill>
              <a:effectLst/>
            </c:spPr>
            <c:extLst>
              <c:ext xmlns:c16="http://schemas.microsoft.com/office/drawing/2014/chart" uri="{C3380CC4-5D6E-409C-BE32-E72D297353CC}">
                <c16:uniqueId val="{00000003-70D9-4E3D-A661-F31ED98F52A0}"/>
              </c:ext>
            </c:extLst>
          </c:dPt>
          <c:dPt>
            <c:idx val="2"/>
            <c:bubble3D val="0"/>
            <c:spPr>
              <a:solidFill>
                <a:srgbClr val="22D3EE"/>
              </a:solidFill>
              <a:effectLst/>
            </c:spPr>
            <c:extLst>
              <c:ext xmlns:c16="http://schemas.microsoft.com/office/drawing/2014/chart" uri="{C3380CC4-5D6E-409C-BE32-E72D297353CC}">
                <c16:uniqueId val="{00000005-70D9-4E3D-A661-F31ED98F52A0}"/>
              </c:ext>
            </c:extLst>
          </c:dPt>
          <c:dPt>
            <c:idx val="3"/>
            <c:bubble3D val="0"/>
            <c:spPr>
              <a:solidFill>
                <a:srgbClr val="67E8F9"/>
              </a:solidFill>
              <a:effectLst/>
            </c:spPr>
            <c:extLst>
              <c:ext xmlns:c16="http://schemas.microsoft.com/office/drawing/2014/chart" uri="{C3380CC4-5D6E-409C-BE32-E72D297353CC}">
                <c16:uniqueId val="{00000007-70D9-4E3D-A661-F31ED98F52A0}"/>
              </c:ext>
            </c:extLst>
          </c:dPt>
          <c:cat>
            <c:strRef>
              <c:f>Sheet1!$A$2:$A$5</c:f>
              <c:strCache>
                <c:ptCount val="4"/>
                <c:pt idx="0">
                  <c:v>Enterprise (73.2%)</c:v>
                </c:pt>
                <c:pt idx="1">
                  <c:v>Medium (13.6%)</c:v>
                </c:pt>
                <c:pt idx="2">
                  <c:v>Large (7.7%)</c:v>
                </c:pt>
                <c:pt idx="3">
                  <c:v>Small (5.6%)</c:v>
                </c:pt>
              </c:strCache>
            </c:strRef>
          </c:cat>
          <c:val>
            <c:numRef>
              <c:f>Sheet1!$B$2:$B$5</c:f>
              <c:numCache>
                <c:formatCode>General</c:formatCode>
                <c:ptCount val="4"/>
                <c:pt idx="0">
                  <c:v>53794064</c:v>
                </c:pt>
                <c:pt idx="1">
                  <c:v>9965816</c:v>
                </c:pt>
                <c:pt idx="2">
                  <c:v>5625310</c:v>
                </c:pt>
                <c:pt idx="3">
                  <c:v>4090500</c:v>
                </c:pt>
              </c:numCache>
            </c:numRef>
          </c:val>
          <c:extLst>
            <c:ext xmlns:c16="http://schemas.microsoft.com/office/drawing/2014/chart" uri="{C3380CC4-5D6E-409C-BE32-E72D297353CC}">
              <c16:uniqueId val="{00000008-70D9-4E3D-A661-F31ED98F52A0}"/>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8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High Growth</c:v>
                </c:pt>
              </c:strCache>
            </c:strRef>
          </c:tx>
          <c:spPr>
            <a:solidFill>
              <a:srgbClr val="10B981"/>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Sheet1!$B$2:$B$5</c:f>
              <c:numCache>
                <c:formatCode>General</c:formatCode>
                <c:ptCount val="4"/>
                <c:pt idx="0">
                  <c:v>66.7</c:v>
                </c:pt>
                <c:pt idx="1">
                  <c:v>66.7</c:v>
                </c:pt>
                <c:pt idx="2">
                  <c:v>50.6</c:v>
                </c:pt>
                <c:pt idx="3">
                  <c:v>56</c:v>
                </c:pt>
              </c:numCache>
            </c:numRef>
          </c:val>
          <c:extLst>
            <c:ext xmlns:c16="http://schemas.microsoft.com/office/drawing/2014/chart" uri="{C3380CC4-5D6E-409C-BE32-E72D297353CC}">
              <c16:uniqueId val="{00000000-DE01-461C-BF5E-44C944B18AC0}"/>
            </c:ext>
          </c:extLst>
        </c:ser>
        <c:ser>
          <c:idx val="1"/>
          <c:order val="1"/>
          <c:tx>
            <c:strRef>
              <c:f>Sheet1!$C$1</c:f>
              <c:strCache>
                <c:ptCount val="1"/>
                <c:pt idx="0">
                  <c:v>Stable</c:v>
                </c:pt>
              </c:strCache>
            </c:strRef>
          </c:tx>
          <c:spPr>
            <a:solidFill>
              <a:srgbClr val="0891B2"/>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Sheet1!$C$2:$C$5</c:f>
              <c:numCache>
                <c:formatCode>General</c:formatCode>
                <c:ptCount val="4"/>
                <c:pt idx="0">
                  <c:v>8.3000000000000007</c:v>
                </c:pt>
                <c:pt idx="1">
                  <c:v>20</c:v>
                </c:pt>
                <c:pt idx="2">
                  <c:v>10.9</c:v>
                </c:pt>
                <c:pt idx="3">
                  <c:v>6.3</c:v>
                </c:pt>
              </c:numCache>
            </c:numRef>
          </c:val>
          <c:extLst>
            <c:ext xmlns:c16="http://schemas.microsoft.com/office/drawing/2014/chart" uri="{C3380CC4-5D6E-409C-BE32-E72D297353CC}">
              <c16:uniqueId val="{00000001-DE01-461C-BF5E-44C944B18AC0}"/>
            </c:ext>
          </c:extLst>
        </c:ser>
        <c:ser>
          <c:idx val="2"/>
          <c:order val="2"/>
          <c:tx>
            <c:strRef>
              <c:f>Sheet1!$D$1</c:f>
              <c:strCache>
                <c:ptCount val="1"/>
                <c:pt idx="0">
                  <c:v>Declining</c:v>
                </c:pt>
              </c:strCache>
            </c:strRef>
          </c:tx>
          <c:spPr>
            <a:solidFill>
              <a:srgbClr val="EF4444"/>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Sheet1!$D$2:$D$5</c:f>
              <c:numCache>
                <c:formatCode>General</c:formatCode>
                <c:ptCount val="4"/>
                <c:pt idx="0">
                  <c:v>25</c:v>
                </c:pt>
                <c:pt idx="1">
                  <c:v>13.3</c:v>
                </c:pt>
                <c:pt idx="2">
                  <c:v>37.9</c:v>
                </c:pt>
                <c:pt idx="3">
                  <c:v>34.799999999999997</c:v>
                </c:pt>
              </c:numCache>
            </c:numRef>
          </c:val>
          <c:extLst>
            <c:ext xmlns:c16="http://schemas.microsoft.com/office/drawing/2014/chart" uri="{C3380CC4-5D6E-409C-BE32-E72D297353CC}">
              <c16:uniqueId val="{00000002-DE01-461C-BF5E-44C944B18AC0}"/>
            </c:ext>
          </c:extLst>
        </c:ser>
        <c:ser>
          <c:idx val="3"/>
          <c:order val="3"/>
          <c:tx>
            <c:strRef>
              <c:f>Sheet1!$E$1</c:f>
              <c:strCache>
                <c:ptCount val="1"/>
                <c:pt idx="0">
                  <c:v>Lost</c:v>
                </c:pt>
              </c:strCache>
            </c:strRef>
          </c:tx>
          <c:spPr>
            <a:solidFill>
              <a:srgbClr val="64748B"/>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Sheet1!$E$2:$E$5</c:f>
              <c:numCache>
                <c:formatCode>General</c:formatCode>
                <c:ptCount val="4"/>
                <c:pt idx="0">
                  <c:v>0</c:v>
                </c:pt>
                <c:pt idx="1">
                  <c:v>0</c:v>
                </c:pt>
                <c:pt idx="2">
                  <c:v>0.6</c:v>
                </c:pt>
                <c:pt idx="3">
                  <c:v>2.9</c:v>
                </c:pt>
              </c:numCache>
            </c:numRef>
          </c:val>
          <c:extLst>
            <c:ext xmlns:c16="http://schemas.microsoft.com/office/drawing/2014/chart" uri="{C3380CC4-5D6E-409C-BE32-E72D297353CC}">
              <c16:uniqueId val="{00000003-DE01-461C-BF5E-44C944B18AC0}"/>
            </c:ext>
          </c:extLst>
        </c:ser>
        <c:dLbls>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00000"/>
                </a:solidFill>
                <a:latin typeface="Arial"/>
              </a:defRPr>
            </a:pPr>
            <a:r>
              <a:rPr lang="en-CA" sz="1000" b="0" i="0" u="none" strike="noStrike">
                <a:solidFill>
                  <a:srgbClr val="000000"/>
                </a:solidFill>
                <a:latin typeface="Arial"/>
              </a:rPr>
              <a:t>Actual Counts</a:t>
            </a:r>
          </a:p>
        </c:rich>
      </c:tx>
      <c:overlay val="0"/>
    </c:title>
    <c:autoTitleDeleted val="0"/>
    <c:plotArea>
      <c:layout/>
      <c:barChart>
        <c:barDir val="col"/>
        <c:grouping val="clustered"/>
        <c:varyColors val="0"/>
        <c:ser>
          <c:idx val="0"/>
          <c:order val="0"/>
          <c:tx>
            <c:strRef>
              <c:f>Sheet1!$B$1</c:f>
              <c:strCache>
                <c:ptCount val="1"/>
                <c:pt idx="0">
                  <c:v>High Growth</c:v>
                </c:pt>
              </c:strCache>
            </c:strRef>
          </c:tx>
          <c:spPr>
            <a:solidFill>
              <a:srgbClr val="10B981"/>
            </a:solidFill>
            <a:effectLst/>
          </c:spPr>
          <c:invertIfNegative val="0"/>
          <c:dLbls>
            <c:numFmt formatCode="#,##0" sourceLinked="0"/>
            <c:spPr>
              <a:noFill/>
              <a:ln>
                <a:noFill/>
              </a:ln>
              <a:effectLst/>
            </c:spPr>
            <c:txPr>
              <a:bodyPr/>
              <a:lstStyle/>
              <a:p>
                <a:pPr>
                  <a:defRPr sz="7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Sheet1!$B$2:$B$5</c:f>
              <c:numCache>
                <c:formatCode>General</c:formatCode>
                <c:ptCount val="4"/>
                <c:pt idx="0">
                  <c:v>8</c:v>
                </c:pt>
                <c:pt idx="1">
                  <c:v>10</c:v>
                </c:pt>
                <c:pt idx="2">
                  <c:v>88</c:v>
                </c:pt>
                <c:pt idx="3">
                  <c:v>482</c:v>
                </c:pt>
              </c:numCache>
            </c:numRef>
          </c:val>
          <c:extLst>
            <c:ext xmlns:c16="http://schemas.microsoft.com/office/drawing/2014/chart" uri="{C3380CC4-5D6E-409C-BE32-E72D297353CC}">
              <c16:uniqueId val="{00000000-B587-4C86-B1BB-F767779236F4}"/>
            </c:ext>
          </c:extLst>
        </c:ser>
        <c:ser>
          <c:idx val="1"/>
          <c:order val="1"/>
          <c:tx>
            <c:strRef>
              <c:f>Sheet1!$C$1</c:f>
              <c:strCache>
                <c:ptCount val="1"/>
                <c:pt idx="0">
                  <c:v>Stable</c:v>
                </c:pt>
              </c:strCache>
            </c:strRef>
          </c:tx>
          <c:spPr>
            <a:solidFill>
              <a:srgbClr val="0891B2"/>
            </a:solidFill>
            <a:effectLst/>
          </c:spPr>
          <c:invertIfNegative val="0"/>
          <c:dLbls>
            <c:numFmt formatCode="#,##0" sourceLinked="0"/>
            <c:spPr>
              <a:noFill/>
              <a:ln>
                <a:noFill/>
              </a:ln>
              <a:effectLst/>
            </c:spPr>
            <c:txPr>
              <a:bodyPr/>
              <a:lstStyle/>
              <a:p>
                <a:pPr>
                  <a:defRPr sz="7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Sheet1!$C$2:$C$5</c:f>
              <c:numCache>
                <c:formatCode>General</c:formatCode>
                <c:ptCount val="4"/>
                <c:pt idx="0">
                  <c:v>1</c:v>
                </c:pt>
                <c:pt idx="1">
                  <c:v>3</c:v>
                </c:pt>
                <c:pt idx="2">
                  <c:v>19</c:v>
                </c:pt>
                <c:pt idx="3">
                  <c:v>54</c:v>
                </c:pt>
              </c:numCache>
            </c:numRef>
          </c:val>
          <c:extLst>
            <c:ext xmlns:c16="http://schemas.microsoft.com/office/drawing/2014/chart" uri="{C3380CC4-5D6E-409C-BE32-E72D297353CC}">
              <c16:uniqueId val="{00000001-B587-4C86-B1BB-F767779236F4}"/>
            </c:ext>
          </c:extLst>
        </c:ser>
        <c:ser>
          <c:idx val="2"/>
          <c:order val="2"/>
          <c:tx>
            <c:strRef>
              <c:f>Sheet1!$D$1</c:f>
              <c:strCache>
                <c:ptCount val="1"/>
                <c:pt idx="0">
                  <c:v>Declining</c:v>
                </c:pt>
              </c:strCache>
            </c:strRef>
          </c:tx>
          <c:spPr>
            <a:solidFill>
              <a:srgbClr val="EF4444"/>
            </a:solidFill>
            <a:effectLst/>
          </c:spPr>
          <c:invertIfNegative val="0"/>
          <c:dLbls>
            <c:numFmt formatCode="#,##0" sourceLinked="0"/>
            <c:spPr>
              <a:noFill/>
              <a:ln>
                <a:noFill/>
              </a:ln>
              <a:effectLst/>
            </c:spPr>
            <c:txPr>
              <a:bodyPr/>
              <a:lstStyle/>
              <a:p>
                <a:pPr>
                  <a:defRPr sz="7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Sheet1!$D$2:$D$5</c:f>
              <c:numCache>
                <c:formatCode>General</c:formatCode>
                <c:ptCount val="4"/>
                <c:pt idx="0">
                  <c:v>3</c:v>
                </c:pt>
                <c:pt idx="1">
                  <c:v>2</c:v>
                </c:pt>
                <c:pt idx="2">
                  <c:v>66</c:v>
                </c:pt>
                <c:pt idx="3">
                  <c:v>299</c:v>
                </c:pt>
              </c:numCache>
            </c:numRef>
          </c:val>
          <c:extLst>
            <c:ext xmlns:c16="http://schemas.microsoft.com/office/drawing/2014/chart" uri="{C3380CC4-5D6E-409C-BE32-E72D297353CC}">
              <c16:uniqueId val="{00000002-B587-4C86-B1BB-F767779236F4}"/>
            </c:ext>
          </c:extLst>
        </c:ser>
        <c:ser>
          <c:idx val="3"/>
          <c:order val="3"/>
          <c:tx>
            <c:strRef>
              <c:f>Sheet1!$E$1</c:f>
              <c:strCache>
                <c:ptCount val="1"/>
                <c:pt idx="0">
                  <c:v>Lost</c:v>
                </c:pt>
              </c:strCache>
            </c:strRef>
          </c:tx>
          <c:spPr>
            <a:solidFill>
              <a:srgbClr val="64748B"/>
            </a:solidFill>
            <a:effectLst/>
          </c:spPr>
          <c:invertIfNegative val="0"/>
          <c:dLbls>
            <c:numFmt formatCode="#,##0" sourceLinked="0"/>
            <c:spPr>
              <a:noFill/>
              <a:ln>
                <a:noFill/>
              </a:ln>
              <a:effectLst/>
            </c:spPr>
            <c:txPr>
              <a:bodyPr/>
              <a:lstStyle/>
              <a:p>
                <a:pPr>
                  <a:defRPr sz="7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Sheet1!$E$2:$E$5</c:f>
              <c:numCache>
                <c:formatCode>General</c:formatCode>
                <c:ptCount val="4"/>
                <c:pt idx="0">
                  <c:v>0</c:v>
                </c:pt>
                <c:pt idx="1">
                  <c:v>0</c:v>
                </c:pt>
                <c:pt idx="2">
                  <c:v>1</c:v>
                </c:pt>
                <c:pt idx="3">
                  <c:v>25</c:v>
                </c:pt>
              </c:numCache>
            </c:numRef>
          </c:val>
          <c:extLst>
            <c:ext xmlns:c16="http://schemas.microsoft.com/office/drawing/2014/chart" uri="{C3380CC4-5D6E-409C-BE32-E72D297353CC}">
              <c16:uniqueId val="{00000003-B587-4C86-B1BB-F767779236F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Retention Rate (%)</c:v>
                </c:pt>
              </c:strCache>
            </c:strRef>
          </c:tx>
          <c:spPr>
            <a:solidFill>
              <a:srgbClr val="0891B2"/>
            </a:solidFill>
            <a:effectLst/>
          </c:spPr>
          <c:invertIfNegative val="0"/>
          <c:dPt>
            <c:idx val="0"/>
            <c:invertIfNegative val="0"/>
            <c:bubble3D val="0"/>
            <c:extLst>
              <c:ext xmlns:c16="http://schemas.microsoft.com/office/drawing/2014/chart" uri="{C3380CC4-5D6E-409C-BE32-E72D297353CC}">
                <c16:uniqueId val="{00000001-8CDC-4339-B6F0-0952024061DC}"/>
              </c:ext>
            </c:extLst>
          </c:dPt>
          <c:dPt>
            <c:idx val="1"/>
            <c:invertIfNegative val="0"/>
            <c:bubble3D val="0"/>
            <c:extLst>
              <c:ext xmlns:c16="http://schemas.microsoft.com/office/drawing/2014/chart" uri="{C3380CC4-5D6E-409C-BE32-E72D297353CC}">
                <c16:uniqueId val="{00000003-8CDC-4339-B6F0-0952024061DC}"/>
              </c:ext>
            </c:extLst>
          </c:dPt>
          <c:dPt>
            <c:idx val="2"/>
            <c:invertIfNegative val="0"/>
            <c:bubble3D val="0"/>
            <c:extLst>
              <c:ext xmlns:c16="http://schemas.microsoft.com/office/drawing/2014/chart" uri="{C3380CC4-5D6E-409C-BE32-E72D297353CC}">
                <c16:uniqueId val="{00000005-8CDC-4339-B6F0-0952024061DC}"/>
              </c:ext>
            </c:extLst>
          </c:dPt>
          <c:dPt>
            <c:idx val="3"/>
            <c:invertIfNegative val="0"/>
            <c:bubble3D val="0"/>
            <c:spPr>
              <a:solidFill>
                <a:srgbClr val="22D3EE"/>
              </a:solidFill>
              <a:effectLst/>
            </c:spPr>
            <c:extLst>
              <c:ext xmlns:c16="http://schemas.microsoft.com/office/drawing/2014/chart" uri="{C3380CC4-5D6E-409C-BE32-E72D297353CC}">
                <c16:uniqueId val="{00000007-8CDC-4339-B6F0-0952024061DC}"/>
              </c:ext>
            </c:extLst>
          </c:dPt>
          <c:dLbls>
            <c:numFmt formatCode="#,##0" sourceLinked="0"/>
            <c:spPr>
              <a:noFill/>
              <a:ln>
                <a:noFill/>
              </a:ln>
              <a:effectLst/>
            </c:spPr>
            <c:txPr>
              <a:bodyPr/>
              <a:lstStyle/>
              <a:p>
                <a:pPr>
                  <a:defRPr sz="11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Sheet1!$B$2:$B$5</c:f>
              <c:numCache>
                <c:formatCode>General</c:formatCode>
                <c:ptCount val="4"/>
                <c:pt idx="0">
                  <c:v>100</c:v>
                </c:pt>
                <c:pt idx="1">
                  <c:v>100</c:v>
                </c:pt>
                <c:pt idx="2">
                  <c:v>99.4</c:v>
                </c:pt>
                <c:pt idx="3">
                  <c:v>97.1</c:v>
                </c:pt>
              </c:numCache>
            </c:numRef>
          </c:val>
          <c:extLst>
            <c:ext xmlns:c16="http://schemas.microsoft.com/office/drawing/2014/chart" uri="{C3380CC4-5D6E-409C-BE32-E72D297353CC}">
              <c16:uniqueId val="{00000008-8CDC-4339-B6F0-0952024061D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02"/>
          <c:min val="9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2019 (COVID period)</c:v>
                </c:pt>
              </c:strCache>
            </c:strRef>
          </c:tx>
          <c:spPr>
            <a:solidFill>
              <a:srgbClr val="94A3B8"/>
            </a:solidFill>
            <a:effectLst/>
          </c:spPr>
          <c:invertIfNegative val="0"/>
          <c:dLbls>
            <c:numFmt formatCode="#,##0" sourceLinked="0"/>
            <c:spPr>
              <a:noFill/>
              <a:ln>
                <a:noFill/>
              </a:ln>
              <a:effectLst/>
            </c:spPr>
            <c:txPr>
              <a:bodyPr/>
              <a:lstStyle/>
              <a:p>
                <a:pPr>
                  <a:defRPr sz="8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Sheet1!$B$2:$B$5</c:f>
              <c:numCache>
                <c:formatCode>General</c:formatCode>
                <c:ptCount val="4"/>
                <c:pt idx="0">
                  <c:v>548.79999999999995</c:v>
                </c:pt>
                <c:pt idx="1">
                  <c:v>60.6</c:v>
                </c:pt>
                <c:pt idx="2">
                  <c:v>111.5</c:v>
                </c:pt>
                <c:pt idx="3">
                  <c:v>46.1</c:v>
                </c:pt>
              </c:numCache>
            </c:numRef>
          </c:val>
          <c:extLst>
            <c:ext xmlns:c16="http://schemas.microsoft.com/office/drawing/2014/chart" uri="{C3380CC4-5D6E-409C-BE32-E72D297353CC}">
              <c16:uniqueId val="{00000000-2BE2-4594-B380-8095372B59A7}"/>
            </c:ext>
          </c:extLst>
        </c:ser>
        <c:ser>
          <c:idx val="1"/>
          <c:order val="1"/>
          <c:tx>
            <c:strRef>
              <c:f>Sheet1!$C$1</c:f>
              <c:strCache>
                <c:ptCount val="1"/>
                <c:pt idx="0">
                  <c:v>2020 (COVID period)</c:v>
                </c:pt>
              </c:strCache>
            </c:strRef>
          </c:tx>
          <c:spPr>
            <a:solidFill>
              <a:srgbClr val="0891B2"/>
            </a:solidFill>
            <a:effectLst/>
          </c:spPr>
          <c:invertIfNegative val="0"/>
          <c:dLbls>
            <c:numFmt formatCode="#,##0" sourceLinked="0"/>
            <c:spPr>
              <a:noFill/>
              <a:ln>
                <a:noFill/>
              </a:ln>
              <a:effectLst/>
            </c:spPr>
            <c:txPr>
              <a:bodyPr/>
              <a:lstStyle/>
              <a:p>
                <a:pPr>
                  <a:defRPr sz="8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c:v>
                </c:pt>
                <c:pt idx="1">
                  <c:v>Large</c:v>
                </c:pt>
                <c:pt idx="2">
                  <c:v>Medium</c:v>
                </c:pt>
                <c:pt idx="3">
                  <c:v>Small</c:v>
                </c:pt>
              </c:strCache>
            </c:strRef>
          </c:cat>
          <c:val>
            <c:numRef>
              <c:f>Sheet1!$C$2:$C$5</c:f>
              <c:numCache>
                <c:formatCode>General</c:formatCode>
                <c:ptCount val="4"/>
                <c:pt idx="0">
                  <c:v>805.5</c:v>
                </c:pt>
                <c:pt idx="1">
                  <c:v>88.6</c:v>
                </c:pt>
                <c:pt idx="2">
                  <c:v>166.4</c:v>
                </c:pt>
                <c:pt idx="3">
                  <c:v>74.8</c:v>
                </c:pt>
              </c:numCache>
            </c:numRef>
          </c:val>
          <c:extLst>
            <c:ext xmlns:c16="http://schemas.microsoft.com/office/drawing/2014/chart" uri="{C3380CC4-5D6E-409C-BE32-E72D297353CC}">
              <c16:uniqueId val="{00000001-2BE2-4594-B380-8095372B59A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0.82823</cdr:x>
      <cdr:y>0</cdr:y>
    </cdr:from>
    <cdr:to>
      <cdr:x>0.83032</cdr:x>
      <cdr:y>0.86184</cdr:y>
    </cdr:to>
    <cdr:sp macro="" textlink="">
      <cdr:nvSpPr>
        <cdr:cNvPr id="2" name="Shape 5">
          <a:extLst xmlns:a="http://schemas.openxmlformats.org/drawingml/2006/main">
            <a:ext uri="{FF2B5EF4-FFF2-40B4-BE49-F238E27FC236}">
              <a16:creationId xmlns:a16="http://schemas.microsoft.com/office/drawing/2014/main" id="{CA227AA2-22E1-4F1F-7DBE-6C515016C467}"/>
            </a:ext>
          </a:extLst>
        </cdr:cNvPr>
        <cdr:cNvSpPr/>
      </cdr:nvSpPr>
      <cdr:spPr>
        <a:xfrm xmlns:a="http://schemas.openxmlformats.org/drawingml/2006/main">
          <a:off x="7118935" y="0"/>
          <a:ext cx="18000" cy="2994653"/>
        </a:xfrm>
        <a:prstGeom xmlns:a="http://schemas.openxmlformats.org/drawingml/2006/main" prst="rect">
          <a:avLst/>
        </a:prstGeom>
        <a:solidFill xmlns:a="http://schemas.openxmlformats.org/drawingml/2006/main">
          <a:srgbClr val="EF4444"/>
        </a:solidFill>
        <a:ln xmlns:a="http://schemas.openxmlformats.org/drawingml/2006/main" w="6350">
          <a:solidFill>
            <a:srgbClr val="EF4444"/>
          </a:solidFill>
          <a:prstDash val="sysDot"/>
        </a:ln>
      </cdr:spPr>
      <cdr:txBody>
        <a:bodyPr xmlns:a="http://schemas.openxmlformats.org/drawingml/2006/main"/>
        <a:lstStyle xmlns:a="http://schemas.openxmlformats.org/drawingml/2006/main">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endParaRPr lang="en-CA"/>
        </a:p>
      </cdr:txBody>
    </cdr:sp>
  </cdr:relSizeAnchor>
  <cdr:relSizeAnchor xmlns:cdr="http://schemas.openxmlformats.org/drawingml/2006/chartDrawing">
    <cdr:from>
      <cdr:x>0.75664</cdr:x>
      <cdr:y>0.02985</cdr:y>
    </cdr:from>
    <cdr:to>
      <cdr:x>0.90558</cdr:x>
      <cdr:y>0.09476</cdr:y>
    </cdr:to>
    <cdr:sp macro="" textlink="">
      <cdr:nvSpPr>
        <cdr:cNvPr id="3" name="Shape 6">
          <a:extLst xmlns:a="http://schemas.openxmlformats.org/drawingml/2006/main">
            <a:ext uri="{FF2B5EF4-FFF2-40B4-BE49-F238E27FC236}">
              <a16:creationId xmlns:a16="http://schemas.microsoft.com/office/drawing/2014/main" id="{619387EA-BBD4-3F4A-E493-C39EFD690740}"/>
            </a:ext>
          </a:extLst>
        </cdr:cNvPr>
        <cdr:cNvSpPr/>
      </cdr:nvSpPr>
      <cdr:spPr>
        <a:xfrm xmlns:a="http://schemas.openxmlformats.org/drawingml/2006/main">
          <a:off x="6503593" y="103720"/>
          <a:ext cx="1280193" cy="225541"/>
        </a:xfrm>
        <a:prstGeom xmlns:a="http://schemas.openxmlformats.org/drawingml/2006/main" prst="rect">
          <a:avLst/>
        </a:prstGeom>
        <a:solidFill xmlns:a="http://schemas.openxmlformats.org/drawingml/2006/main">
          <a:srgbClr val="EF4444"/>
        </a:solidFill>
        <a:ln xmlns:a="http://schemas.openxmlformats.org/drawingml/2006/main" w="12700">
          <a:solidFill>
            <a:srgbClr val="EF4444"/>
          </a:solidFill>
          <a:prstDash val="solid"/>
        </a:ln>
      </cdr:spPr>
      <cdr:txBody>
        <a:bodyPr xmlns:a="http://schemas.openxmlformats.org/drawingml/2006/main"/>
        <a:lstStyle xmlns:a="http://schemas.openxmlformats.org/drawingml/2006/main">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US" sz="800" b="1" dirty="0">
              <a:solidFill>
                <a:srgbClr val="FFFFFF"/>
              </a:solidFill>
              <a:latin typeface="Calibri" pitchFamily="34" charset="0"/>
              <a:ea typeface="Calibri" pitchFamily="34" charset="-122"/>
              <a:cs typeface="Calibri" pitchFamily="34" charset="-120"/>
            </a:rPr>
            <a:t>⚑ W45: Peak Season</a:t>
          </a:r>
          <a:endParaRPr lang="en-US" sz="800" dirty="0"/>
        </a:p>
        <a:p xmlns:a="http://schemas.openxmlformats.org/drawingml/2006/main">
          <a:endParaRPr lang="en-CA" sz="800" dirty="0"/>
        </a:p>
      </cdr:txBody>
    </cdr:sp>
  </cdr:relSizeAnchor>
  <cdr:relSizeAnchor xmlns:cdr="http://schemas.openxmlformats.org/drawingml/2006/chartDrawing">
    <cdr:from>
      <cdr:x>0.40949</cdr:x>
      <cdr:y>0</cdr:y>
    </cdr:from>
    <cdr:to>
      <cdr:x>0.41158</cdr:x>
      <cdr:y>0.87368</cdr:y>
    </cdr:to>
    <cdr:sp macro="" textlink="">
      <cdr:nvSpPr>
        <cdr:cNvPr id="4" name="Shape 5">
          <a:extLst xmlns:a="http://schemas.openxmlformats.org/drawingml/2006/main">
            <a:ext uri="{FF2B5EF4-FFF2-40B4-BE49-F238E27FC236}">
              <a16:creationId xmlns:a16="http://schemas.microsoft.com/office/drawing/2014/main" id="{640A5757-451D-9FBE-E55C-1E3ED7F8153E}"/>
            </a:ext>
          </a:extLst>
        </cdr:cNvPr>
        <cdr:cNvSpPr/>
      </cdr:nvSpPr>
      <cdr:spPr>
        <a:xfrm xmlns:a="http://schemas.openxmlformats.org/drawingml/2006/main">
          <a:off x="3519683" y="0"/>
          <a:ext cx="18000" cy="3035809"/>
        </a:xfrm>
        <a:prstGeom xmlns:a="http://schemas.openxmlformats.org/drawingml/2006/main" prst="rect">
          <a:avLst/>
        </a:prstGeom>
        <a:solidFill xmlns:a="http://schemas.openxmlformats.org/drawingml/2006/main">
          <a:srgbClr val="EF4444"/>
        </a:solidFill>
        <a:ln xmlns:a="http://schemas.openxmlformats.org/drawingml/2006/main" w="6350">
          <a:solidFill>
            <a:srgbClr val="EF4444"/>
          </a:solidFill>
          <a:prstDash val="sysDot"/>
        </a:ln>
      </cdr:spPr>
      <cdr:txBody>
        <a:bodyPr xmlns:a="http://schemas.openxmlformats.org/drawingml/2006/main"/>
        <a:lstStyle xmlns:a="http://schemas.openxmlformats.org/drawingml/2006/main">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endParaRPr lang="en-CA"/>
        </a:p>
      </cdr:txBody>
    </cdr:sp>
  </cdr:relSizeAnchor>
  <cdr:relSizeAnchor xmlns:cdr="http://schemas.openxmlformats.org/drawingml/2006/chartDrawing">
    <cdr:from>
      <cdr:x>0.35638</cdr:x>
      <cdr:y>0.09611</cdr:y>
    </cdr:from>
    <cdr:to>
      <cdr:x>0.50532</cdr:x>
      <cdr:y>0.15532</cdr:y>
    </cdr:to>
    <cdr:sp macro="" textlink="">
      <cdr:nvSpPr>
        <cdr:cNvPr id="6" name="Shape 6">
          <a:extLst xmlns:a="http://schemas.openxmlformats.org/drawingml/2006/main">
            <a:ext uri="{FF2B5EF4-FFF2-40B4-BE49-F238E27FC236}">
              <a16:creationId xmlns:a16="http://schemas.microsoft.com/office/drawing/2014/main" id="{EAC8B3B1-4A7D-370A-D4F2-6A904A3B8E54}"/>
            </a:ext>
          </a:extLst>
        </cdr:cNvPr>
        <cdr:cNvSpPr/>
      </cdr:nvSpPr>
      <cdr:spPr>
        <a:xfrm xmlns:a="http://schemas.openxmlformats.org/drawingml/2006/main">
          <a:off x="3063240" y="333967"/>
          <a:ext cx="1280160" cy="205740"/>
        </a:xfrm>
        <a:prstGeom xmlns:a="http://schemas.openxmlformats.org/drawingml/2006/main" prst="rect">
          <a:avLst/>
        </a:prstGeom>
        <a:solidFill xmlns:a="http://schemas.openxmlformats.org/drawingml/2006/main">
          <a:srgbClr val="EF4444"/>
        </a:solidFill>
        <a:ln xmlns:a="http://schemas.openxmlformats.org/drawingml/2006/main" w="12700">
          <a:solidFill>
            <a:srgbClr val="EF4444"/>
          </a:solidFill>
          <a:prstDash val="solid"/>
        </a:ln>
      </cdr:spPr>
      <cdr:txBody>
        <a:bodyPr xmlns:a="http://schemas.openxmlformats.org/drawingml/2006/main"/>
        <a:lstStyle xmlns:a="http://schemas.openxmlformats.org/drawingml/2006/main">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US" sz="800" b="1" dirty="0">
              <a:solidFill>
                <a:srgbClr val="FFFFFF"/>
              </a:solidFill>
              <a:latin typeface="Calibri" pitchFamily="34" charset="0"/>
              <a:ea typeface="Calibri" pitchFamily="34" charset="-122"/>
              <a:cs typeface="Calibri" pitchFamily="34" charset="-120"/>
            </a:rPr>
            <a:t>W20: Lockdowns Ease</a:t>
          </a:r>
          <a:endParaRPr lang="en-US" sz="800" dirty="0"/>
        </a:p>
      </cdr:txBody>
    </cdr:sp>
  </cdr:relSizeAnchor>
  <cdr:relSizeAnchor xmlns:cdr="http://schemas.openxmlformats.org/drawingml/2006/chartDrawing">
    <cdr:from>
      <cdr:x>0.28707</cdr:x>
      <cdr:y>0.19114</cdr:y>
    </cdr:from>
    <cdr:to>
      <cdr:x>0.40611</cdr:x>
      <cdr:y>0.39551</cdr:y>
    </cdr:to>
    <cdr:sp macro="" textlink="">
      <cdr:nvSpPr>
        <cdr:cNvPr id="7" name="Shape 12">
          <a:extLst xmlns:a="http://schemas.openxmlformats.org/drawingml/2006/main">
            <a:ext uri="{FF2B5EF4-FFF2-40B4-BE49-F238E27FC236}">
              <a16:creationId xmlns:a16="http://schemas.microsoft.com/office/drawing/2014/main" id="{DE0CF843-20D9-CA5E-6DEB-E43DE520F715}"/>
            </a:ext>
          </a:extLst>
        </cdr:cNvPr>
        <cdr:cNvSpPr/>
      </cdr:nvSpPr>
      <cdr:spPr>
        <a:xfrm xmlns:a="http://schemas.openxmlformats.org/drawingml/2006/main">
          <a:off x="2467439" y="664169"/>
          <a:ext cx="1023207" cy="710120"/>
        </a:xfrm>
        <a:prstGeom xmlns:a="http://schemas.openxmlformats.org/drawingml/2006/main" prst="rect">
          <a:avLst/>
        </a:prstGeom>
        <a:solidFill xmlns:a="http://schemas.openxmlformats.org/drawingml/2006/main">
          <a:schemeClr val="bg1"/>
        </a:solidFill>
        <a:ln xmlns:a="http://schemas.openxmlformats.org/drawingml/2006/main" w="19050">
          <a:solidFill>
            <a:srgbClr val="0891B2"/>
          </a:solidFill>
          <a:prstDash val="solid"/>
        </a:ln>
        <a:effectLst xmlns:a="http://schemas.openxmlformats.org/drawingml/2006/main">
          <a:outerShdw blurRad="63500" dist="25400" dir="8100000" algn="bl" rotWithShape="0">
            <a:srgbClr val="000000">
              <a:alpha val="20000"/>
            </a:srgbClr>
          </a:outerShdw>
        </a:effectLst>
      </cdr:spPr>
      <cdr:txBody>
        <a:bodyPr xmlns:a="http://schemas.openxmlformats.org/drawingml/2006/main"/>
        <a:lstStyle xmlns:a="http://schemas.openxmlformats.org/drawingml/2006/main">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US" sz="800" b="1" dirty="0">
              <a:latin typeface="Calibri" pitchFamily="34" charset="0"/>
              <a:ea typeface="Calibri" pitchFamily="34" charset="-122"/>
              <a:cs typeface="Calibri" pitchFamily="34" charset="-120"/>
            </a:rPr>
            <a:t>COVID Surge Period</a:t>
          </a:r>
          <a:endParaRPr lang="en-US" sz="800" dirty="0"/>
        </a:p>
        <a:p xmlns:a="http://schemas.openxmlformats.org/drawingml/2006/main">
          <a:pPr algn="ctr"/>
          <a:r>
            <a:rPr lang="en-US" sz="800" b="1" dirty="0">
              <a:latin typeface="Calibri" pitchFamily="34" charset="0"/>
              <a:ea typeface="Calibri" pitchFamily="34" charset="-122"/>
              <a:cs typeface="Calibri" pitchFamily="34" charset="-120"/>
            </a:rPr>
            <a:t>W12 → W20</a:t>
          </a:r>
          <a:endParaRPr lang="en-US" sz="800" b="1" dirty="0">
            <a:solidFill>
              <a:srgbClr val="E0F7FA"/>
            </a:solidFill>
            <a:highlight>
              <a:srgbClr val="000000"/>
            </a:highlight>
            <a:latin typeface="Calibri" pitchFamily="34" charset="0"/>
            <a:ea typeface="Calibri" pitchFamily="34" charset="-122"/>
            <a:cs typeface="Calibri" pitchFamily="34" charset="-120"/>
          </a:endParaRPr>
        </a:p>
        <a:p xmlns:a="http://schemas.openxmlformats.org/drawingml/2006/main">
          <a:pPr algn="ctr"/>
          <a:r>
            <a:rPr lang="en-US" sz="800" b="1" dirty="0">
              <a:solidFill>
                <a:srgbClr val="10B981"/>
              </a:solidFill>
              <a:latin typeface="Calibri" pitchFamily="34" charset="0"/>
              <a:ea typeface="Calibri" pitchFamily="34" charset="-122"/>
              <a:cs typeface="Calibri" pitchFamily="34" charset="-120"/>
            </a:rPr>
            <a:t>+78.3% vs 2019</a:t>
          </a:r>
          <a:endParaRPr lang="en-US" sz="800" dirty="0"/>
        </a:p>
        <a:p xmlns:a="http://schemas.openxmlformats.org/drawingml/2006/main">
          <a:pPr algn="ctr"/>
          <a:r>
            <a:rPr lang="en-US" sz="800" b="1" dirty="0">
              <a:solidFill>
                <a:srgbClr val="10B981"/>
              </a:solidFill>
              <a:latin typeface="Calibri" pitchFamily="34" charset="0"/>
              <a:ea typeface="Calibri" pitchFamily="34" charset="-122"/>
              <a:cs typeface="Calibri" pitchFamily="34" charset="-120"/>
            </a:rPr>
            <a:t>(+115% peak at W20)</a:t>
          </a:r>
          <a:endParaRPr lang="en-US" sz="800" dirty="0"/>
        </a:p>
        <a:p xmlns:a="http://schemas.openxmlformats.org/drawingml/2006/main">
          <a:pPr algn="ctr"/>
          <a:endParaRPr lang="en-US" sz="800" b="1" dirty="0">
            <a:solidFill>
              <a:srgbClr val="E0F7FA"/>
            </a:solidFill>
            <a:highlight>
              <a:srgbClr val="000000"/>
            </a:highlight>
            <a:latin typeface="Calibri" pitchFamily="34" charset="0"/>
            <a:ea typeface="Calibri" pitchFamily="34" charset="-122"/>
            <a:cs typeface="Calibri" pitchFamily="34" charset="-120"/>
          </a:endParaRPr>
        </a:p>
        <a:p xmlns:a="http://schemas.openxmlformats.org/drawingml/2006/main">
          <a:pPr algn="ctr"/>
          <a:endParaRPr lang="en-US" sz="800" dirty="0">
            <a:highlight>
              <a:srgbClr val="000000"/>
            </a:highlight>
          </a:endParaRPr>
        </a:p>
        <a:p xmlns:a="http://schemas.openxmlformats.org/drawingml/2006/main">
          <a:endParaRPr lang="en-CA" dirty="0"/>
        </a:p>
      </cdr:txBody>
    </cdr:sp>
  </cdr:relSizeAnchor>
  <cdr:relSizeAnchor xmlns:cdr="http://schemas.openxmlformats.org/drawingml/2006/chartDrawing">
    <cdr:from>
      <cdr:x>0.69884</cdr:x>
      <cdr:y>0.13621</cdr:y>
    </cdr:from>
    <cdr:to>
      <cdr:x>0.81788</cdr:x>
      <cdr:y>0.34058</cdr:y>
    </cdr:to>
    <cdr:sp macro="" textlink="">
      <cdr:nvSpPr>
        <cdr:cNvPr id="8" name="Shape 12">
          <a:extLst xmlns:a="http://schemas.openxmlformats.org/drawingml/2006/main">
            <a:ext uri="{FF2B5EF4-FFF2-40B4-BE49-F238E27FC236}">
              <a16:creationId xmlns:a16="http://schemas.microsoft.com/office/drawing/2014/main" id="{EDF947F1-D601-8311-7E12-24712B17A706}"/>
            </a:ext>
          </a:extLst>
        </cdr:cNvPr>
        <cdr:cNvSpPr/>
      </cdr:nvSpPr>
      <cdr:spPr>
        <a:xfrm xmlns:a="http://schemas.openxmlformats.org/drawingml/2006/main">
          <a:off x="6006790" y="473298"/>
          <a:ext cx="1023207" cy="710120"/>
        </a:xfrm>
        <a:prstGeom xmlns:a="http://schemas.openxmlformats.org/drawingml/2006/main" prst="rect">
          <a:avLst/>
        </a:prstGeom>
        <a:solidFill xmlns:a="http://schemas.openxmlformats.org/drawingml/2006/main">
          <a:schemeClr val="bg1"/>
        </a:solidFill>
        <a:ln xmlns:a="http://schemas.openxmlformats.org/drawingml/2006/main" w="19050">
          <a:solidFill>
            <a:srgbClr val="0891B2"/>
          </a:solidFill>
          <a:prstDash val="solid"/>
        </a:ln>
        <a:effectLst xmlns:a="http://schemas.openxmlformats.org/drawingml/2006/main">
          <a:outerShdw blurRad="63500" dist="25400" dir="8100000" algn="bl" rotWithShape="0">
            <a:srgbClr val="000000">
              <a:alpha val="20000"/>
            </a:srgbClr>
          </a:outerShdw>
        </a:effectLst>
      </cdr:spPr>
      <cdr:txBody>
        <a:bodyPr xmlns:a="http://schemas.openxmlformats.org/drawingml/2006/main"/>
        <a:lstStyle xmlns:a="http://schemas.openxmlformats.org/drawingml/2006/main">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en-US" sz="800" b="1" dirty="0">
              <a:latin typeface="Calibri" pitchFamily="34" charset="0"/>
              <a:ea typeface="Calibri" pitchFamily="34" charset="-122"/>
              <a:cs typeface="Calibri" pitchFamily="34" charset="-120"/>
            </a:rPr>
            <a:t>Peak Season</a:t>
          </a:r>
          <a:endParaRPr lang="en-US" sz="800" dirty="0"/>
        </a:p>
        <a:p xmlns:a="http://schemas.openxmlformats.org/drawingml/2006/main">
          <a:pPr algn="ctr"/>
          <a:r>
            <a:rPr lang="en-US" sz="800" b="1" dirty="0">
              <a:latin typeface="Calibri" pitchFamily="34" charset="0"/>
              <a:ea typeface="Calibri" pitchFamily="34" charset="-122"/>
              <a:cs typeface="Calibri" pitchFamily="34" charset="-120"/>
            </a:rPr>
            <a:t>W45 → W53</a:t>
          </a:r>
          <a:endParaRPr lang="en-US" sz="800" dirty="0"/>
        </a:p>
        <a:p xmlns:a="http://schemas.openxmlformats.org/drawingml/2006/main">
          <a:pPr algn="ctr"/>
          <a:r>
            <a:rPr lang="en-US" sz="800" b="1" dirty="0">
              <a:solidFill>
                <a:srgbClr val="10B981"/>
              </a:solidFill>
              <a:latin typeface="Calibri" pitchFamily="34" charset="0"/>
              <a:ea typeface="Calibri" pitchFamily="34" charset="-122"/>
              <a:cs typeface="Calibri" pitchFamily="34" charset="-120"/>
            </a:rPr>
            <a:t>+28.8% vs 2019</a:t>
          </a:r>
          <a:endParaRPr lang="en-US" sz="800" dirty="0"/>
        </a:p>
        <a:p xmlns:a="http://schemas.openxmlformats.org/drawingml/2006/main">
          <a:pPr algn="ctr"/>
          <a:r>
            <a:rPr lang="en-US" sz="800" b="1" dirty="0">
              <a:solidFill>
                <a:srgbClr val="10B981"/>
              </a:solidFill>
              <a:latin typeface="Calibri" pitchFamily="34" charset="0"/>
              <a:ea typeface="Calibri" pitchFamily="34" charset="-122"/>
              <a:cs typeface="Calibri" pitchFamily="34" charset="-120"/>
            </a:rPr>
            <a:t>(+17.8% peak at W49)</a:t>
          </a:r>
          <a:endParaRPr lang="en-US" sz="800" dirty="0"/>
        </a:p>
        <a:p xmlns:a="http://schemas.openxmlformats.org/drawingml/2006/main">
          <a:pPr algn="ctr"/>
          <a:endParaRPr lang="en-US" sz="800" b="1" dirty="0">
            <a:solidFill>
              <a:srgbClr val="E0F7FA"/>
            </a:solidFill>
            <a:highlight>
              <a:srgbClr val="000000"/>
            </a:highlight>
            <a:latin typeface="Calibri" pitchFamily="34" charset="0"/>
            <a:ea typeface="Calibri" pitchFamily="34" charset="-122"/>
            <a:cs typeface="Calibri" pitchFamily="34" charset="-120"/>
          </a:endParaRPr>
        </a:p>
        <a:p xmlns:a="http://schemas.openxmlformats.org/drawingml/2006/main">
          <a:pPr algn="ctr"/>
          <a:endParaRPr lang="en-US" sz="800" dirty="0">
            <a:highlight>
              <a:srgbClr val="000000"/>
            </a:highlight>
          </a:endParaRPr>
        </a:p>
        <a:p xmlns:a="http://schemas.openxmlformats.org/drawingml/2006/main">
          <a:endParaRPr lang="en-CA"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103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1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5943600" y="-1371600"/>
            <a:ext cx="4572000" cy="4572000"/>
          </a:xfrm>
          <a:prstGeom prst="ellipse">
            <a:avLst/>
          </a:prstGeom>
          <a:solidFill>
            <a:srgbClr val="0891B2">
              <a:alpha val="12000"/>
            </a:srgbClr>
          </a:solidFill>
          <a:ln w="12700">
            <a:solidFill>
              <a:srgbClr val="0891B2">
                <a:alpha val="30000"/>
              </a:srgbClr>
            </a:solidFill>
            <a:prstDash val="solid"/>
          </a:ln>
        </p:spPr>
        <p:txBody>
          <a:bodyPr/>
          <a:lstStyle/>
          <a:p>
            <a:endParaRPr lang="en-CA"/>
          </a:p>
        </p:txBody>
      </p:sp>
      <p:sp>
        <p:nvSpPr>
          <p:cNvPr id="4" name="Shape 2"/>
          <p:cNvSpPr/>
          <p:nvPr/>
        </p:nvSpPr>
        <p:spPr>
          <a:xfrm>
            <a:off x="6583680" y="-731520"/>
            <a:ext cx="3200400" cy="3200400"/>
          </a:xfrm>
          <a:prstGeom prst="ellipse">
            <a:avLst/>
          </a:prstGeom>
          <a:solidFill>
            <a:srgbClr val="06B6D4">
              <a:alpha val="15000"/>
            </a:srgbClr>
          </a:solidFill>
          <a:ln w="12700">
            <a:solidFill>
              <a:srgbClr val="06B6D4">
                <a:alpha val="30000"/>
              </a:srgbClr>
            </a:solidFill>
            <a:prstDash val="solid"/>
          </a:ln>
        </p:spPr>
        <p:txBody>
          <a:bodyPr/>
          <a:lstStyle/>
          <a:p>
            <a:endParaRPr lang="en-CA"/>
          </a:p>
        </p:txBody>
      </p:sp>
      <p:sp>
        <p:nvSpPr>
          <p:cNvPr id="5" name="Text 3"/>
          <p:cNvSpPr/>
          <p:nvPr/>
        </p:nvSpPr>
        <p:spPr>
          <a:xfrm>
            <a:off x="640080" y="1188720"/>
            <a:ext cx="7315200" cy="640080"/>
          </a:xfrm>
          <a:prstGeom prst="rect">
            <a:avLst/>
          </a:prstGeom>
          <a:noFill/>
          <a:ln/>
        </p:spPr>
        <p:txBody>
          <a:bodyPr wrap="square" lIns="0" tIns="0" rIns="0" bIns="0" rtlCol="0" anchor="ctr"/>
          <a:lstStyle/>
          <a:p>
            <a:pPr marL="0" indent="0" algn="l">
              <a:buNone/>
            </a:pPr>
            <a:r>
              <a:rPr lang="en-US" sz="2800" dirty="0">
                <a:solidFill>
                  <a:srgbClr val="06B6D4"/>
                </a:solidFill>
                <a:latin typeface="Calibri" pitchFamily="34" charset="0"/>
                <a:ea typeface="Calibri" pitchFamily="34" charset="-122"/>
                <a:cs typeface="Calibri" pitchFamily="34" charset="-120"/>
              </a:rPr>
              <a:t>Impact of COVID-19 on</a:t>
            </a:r>
            <a:endParaRPr lang="en-US" sz="2800" dirty="0"/>
          </a:p>
        </p:txBody>
      </p:sp>
      <p:sp>
        <p:nvSpPr>
          <p:cNvPr id="6" name="Text 4"/>
          <p:cNvSpPr/>
          <p:nvPr/>
        </p:nvSpPr>
        <p:spPr>
          <a:xfrm>
            <a:off x="640080" y="1783080"/>
            <a:ext cx="822960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ABC Company's Parcel Business</a:t>
            </a:r>
            <a:endParaRPr lang="en-US" sz="4000" dirty="0"/>
          </a:p>
        </p:txBody>
      </p:sp>
      <p:sp>
        <p:nvSpPr>
          <p:cNvPr id="7" name="Shape 5"/>
          <p:cNvSpPr/>
          <p:nvPr/>
        </p:nvSpPr>
        <p:spPr>
          <a:xfrm>
            <a:off x="640080" y="2834640"/>
            <a:ext cx="2286000" cy="36576"/>
          </a:xfrm>
          <a:prstGeom prst="rect">
            <a:avLst/>
          </a:prstGeom>
          <a:solidFill>
            <a:srgbClr val="0891B2"/>
          </a:solidFill>
          <a:ln w="12700">
            <a:solidFill>
              <a:srgbClr val="0891B2"/>
            </a:solidFill>
            <a:prstDash val="solid"/>
          </a:ln>
        </p:spPr>
        <p:txBody>
          <a:bodyPr/>
          <a:lstStyle/>
          <a:p>
            <a:endParaRPr lang="en-CA"/>
          </a:p>
        </p:txBody>
      </p:sp>
      <p:sp>
        <p:nvSpPr>
          <p:cNvPr id="8" name="Text 6"/>
          <p:cNvSpPr/>
          <p:nvPr/>
        </p:nvSpPr>
        <p:spPr>
          <a:xfrm>
            <a:off x="640080" y="3017520"/>
            <a:ext cx="7315200" cy="365760"/>
          </a:xfrm>
          <a:prstGeom prst="rect">
            <a:avLst/>
          </a:prstGeom>
          <a:noFill/>
          <a:ln/>
        </p:spPr>
        <p:txBody>
          <a:bodyPr wrap="square" lIns="0" tIns="0" rIns="0" bIns="0" rtlCol="0" anchor="ctr"/>
          <a:lstStyle/>
          <a:p>
            <a:pPr marL="0" indent="0" algn="l">
              <a:buNone/>
            </a:pPr>
            <a:r>
              <a:rPr lang="en-US" sz="1300" dirty="0">
                <a:solidFill>
                  <a:srgbClr val="E2E8F0"/>
                </a:solidFill>
                <a:latin typeface="Calibri" pitchFamily="34" charset="0"/>
                <a:ea typeface="Calibri" pitchFamily="34" charset="-122"/>
                <a:cs typeface="Calibri" pitchFamily="34" charset="-120"/>
              </a:rPr>
              <a:t>Executive Presentation  |  </a:t>
            </a:r>
            <a:r>
              <a:rPr lang="en-US" sz="1300" b="1" dirty="0">
                <a:solidFill>
                  <a:srgbClr val="06B6D4"/>
                </a:solidFill>
                <a:latin typeface="Calibri" pitchFamily="34" charset="0"/>
                <a:ea typeface="Calibri" pitchFamily="34" charset="-122"/>
                <a:cs typeface="Calibri" pitchFamily="34" charset="-120"/>
              </a:rPr>
              <a:t>Programming for Data Science Final Project</a:t>
            </a:r>
            <a:endParaRPr lang="en-US" sz="1300" dirty="0"/>
          </a:p>
        </p:txBody>
      </p:sp>
      <p:sp>
        <p:nvSpPr>
          <p:cNvPr id="9" name="Text 7"/>
          <p:cNvSpPr/>
          <p:nvPr/>
        </p:nvSpPr>
        <p:spPr>
          <a:xfrm>
            <a:off x="640080" y="4480560"/>
            <a:ext cx="8229600" cy="365760"/>
          </a:xfrm>
          <a:prstGeom prst="rect">
            <a:avLst/>
          </a:prstGeom>
          <a:noFill/>
          <a:ln/>
        </p:spPr>
        <p:txBody>
          <a:bodyPr wrap="square" lIns="0" tIns="0" rIns="0" bIns="0" rtlCol="0" anchor="ctr"/>
          <a:lstStyle/>
          <a:p>
            <a:r>
              <a:rPr lang="en-US" sz="1100">
                <a:solidFill>
                  <a:srgbClr val="64748B"/>
                </a:solidFill>
                <a:latin typeface="Calibri"/>
                <a:ea typeface="Calibri"/>
                <a:cs typeface="Calibri"/>
              </a:rPr>
              <a:t>James </a:t>
            </a:r>
            <a:r>
              <a:rPr lang="en-US" sz="1100" err="1">
                <a:solidFill>
                  <a:srgbClr val="64748B"/>
                </a:solidFill>
                <a:latin typeface="Calibri"/>
                <a:ea typeface="Calibri"/>
                <a:cs typeface="Calibri"/>
              </a:rPr>
              <a:t>Tampanga</a:t>
            </a:r>
            <a:r>
              <a:rPr lang="en-US" sz="1100">
                <a:solidFill>
                  <a:srgbClr val="64748B"/>
                </a:solidFill>
                <a:latin typeface="Calibri"/>
                <a:ea typeface="Calibri"/>
                <a:cs typeface="Calibri"/>
              </a:rPr>
              <a:t> &amp; Wilfred </a:t>
            </a:r>
            <a:r>
              <a:rPr lang="en-US" sz="1100" err="1">
                <a:solidFill>
                  <a:srgbClr val="64748B"/>
                </a:solidFill>
                <a:latin typeface="Calibri"/>
                <a:ea typeface="Calibri"/>
                <a:cs typeface="Calibri"/>
              </a:rPr>
              <a:t>Nnamuchi</a:t>
            </a:r>
            <a:r>
              <a:rPr lang="en-US" sz="1100">
                <a:solidFill>
                  <a:srgbClr val="64748B"/>
                </a:solidFill>
                <a:latin typeface="Calibri"/>
                <a:ea typeface="Calibri"/>
                <a:cs typeface="Calibri"/>
              </a:rPr>
              <a:t> S.  |  Saskatchewan Polytechnic  |  2026</a:t>
            </a:r>
            <a:endParaRPr lang="en-US" sz="1100">
              <a:latin typeface="Calibri"/>
              <a:ea typeface="Calibri"/>
              <a:cs typeface="Calibri"/>
            </a:endParaRPr>
          </a:p>
        </p:txBody>
      </p:sp>
      <p:sp>
        <p:nvSpPr>
          <p:cNvPr id="10" name="Shape 8"/>
          <p:cNvSpPr/>
          <p:nvPr/>
        </p:nvSpPr>
        <p:spPr>
          <a:xfrm>
            <a:off x="0" y="5097780"/>
            <a:ext cx="9144000" cy="45720"/>
          </a:xfrm>
          <a:prstGeom prst="rect">
            <a:avLst/>
          </a:prstGeom>
          <a:solidFill>
            <a:srgbClr val="0891B2"/>
          </a:solidFill>
          <a:ln w="12700">
            <a:solidFill>
              <a:srgbClr val="0891B2"/>
            </a:solidFill>
            <a:prstDash val="solid"/>
          </a:ln>
        </p:spPr>
        <p:txBody>
          <a:bodyPr/>
          <a:lstStyle/>
          <a:p>
            <a:endParaRPr lang="en-CA"/>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229600" cy="502920"/>
          </a:xfrm>
          <a:prstGeom prst="rect">
            <a:avLst/>
          </a:prstGeom>
          <a:noFill/>
          <a:ln/>
        </p:spPr>
        <p:txBody>
          <a:bodyPr wrap="square" lIns="0" tIns="0" rIns="0" bIns="0" rtlCol="0" anchor="ctr"/>
          <a:lstStyle/>
          <a:p>
            <a:pPr marL="0" indent="0">
              <a:buNone/>
            </a:pPr>
            <a:r>
              <a:rPr lang="en-US" sz="2800" b="1" dirty="0">
                <a:solidFill>
                  <a:srgbClr val="0D2137"/>
                </a:solidFill>
                <a:latin typeface="Calibri" pitchFamily="34" charset="0"/>
                <a:ea typeface="Calibri" pitchFamily="34" charset="-122"/>
                <a:cs typeface="Calibri" pitchFamily="34" charset="-120"/>
              </a:rPr>
              <a:t>Study Objectives</a:t>
            </a:r>
            <a:endParaRPr lang="en-US" sz="2800" dirty="0"/>
          </a:p>
        </p:txBody>
      </p:sp>
      <p:sp>
        <p:nvSpPr>
          <p:cNvPr id="7" name="Shape 5"/>
          <p:cNvSpPr/>
          <p:nvPr/>
        </p:nvSpPr>
        <p:spPr>
          <a:xfrm>
            <a:off x="274320" y="914400"/>
            <a:ext cx="420624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8" name="Shape 6"/>
          <p:cNvSpPr/>
          <p:nvPr/>
        </p:nvSpPr>
        <p:spPr>
          <a:xfrm>
            <a:off x="274320" y="914400"/>
            <a:ext cx="64008" cy="1691640"/>
          </a:xfrm>
          <a:prstGeom prst="rect">
            <a:avLst/>
          </a:prstGeom>
          <a:solidFill>
            <a:srgbClr val="0891B2"/>
          </a:solidFill>
          <a:ln w="12700">
            <a:solidFill>
              <a:srgbClr val="0891B2"/>
            </a:solidFill>
            <a:prstDash val="solid"/>
          </a:ln>
        </p:spPr>
        <p:txBody>
          <a:bodyPr/>
          <a:lstStyle/>
          <a:p>
            <a:endParaRPr lang="en-CA"/>
          </a:p>
        </p:txBody>
      </p:sp>
      <p:sp>
        <p:nvSpPr>
          <p:cNvPr id="9" name="Text 7"/>
          <p:cNvSpPr/>
          <p:nvPr/>
        </p:nvSpPr>
        <p:spPr>
          <a:xfrm>
            <a:off x="457200" y="1051560"/>
            <a:ext cx="3840480" cy="365760"/>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  Main Question</a:t>
            </a:r>
            <a:endParaRPr lang="en-US" sz="1300" dirty="0"/>
          </a:p>
        </p:txBody>
      </p:sp>
      <p:sp>
        <p:nvSpPr>
          <p:cNvPr id="10" name="Text 8"/>
          <p:cNvSpPr/>
          <p:nvPr/>
        </p:nvSpPr>
        <p:spPr>
          <a:xfrm>
            <a:off x="457200" y="1463040"/>
            <a:ext cx="3840480" cy="10058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How did COVID-19 impact ABC Company's parcel delivery volumes and revenue?</a:t>
            </a:r>
            <a:endParaRPr lang="en-US" sz="1100" dirty="0"/>
          </a:p>
        </p:txBody>
      </p:sp>
      <p:sp>
        <p:nvSpPr>
          <p:cNvPr id="11" name="Shape 9"/>
          <p:cNvSpPr/>
          <p:nvPr/>
        </p:nvSpPr>
        <p:spPr>
          <a:xfrm>
            <a:off x="4709160" y="914400"/>
            <a:ext cx="420624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12" name="Shape 10"/>
          <p:cNvSpPr/>
          <p:nvPr/>
        </p:nvSpPr>
        <p:spPr>
          <a:xfrm>
            <a:off x="4709160" y="914400"/>
            <a:ext cx="64008" cy="1691640"/>
          </a:xfrm>
          <a:prstGeom prst="rect">
            <a:avLst/>
          </a:prstGeom>
          <a:solidFill>
            <a:srgbClr val="0891B2"/>
          </a:solidFill>
          <a:ln w="12700">
            <a:solidFill>
              <a:srgbClr val="0891B2"/>
            </a:solidFill>
            <a:prstDash val="solid"/>
          </a:ln>
        </p:spPr>
        <p:txBody>
          <a:bodyPr/>
          <a:lstStyle/>
          <a:p>
            <a:endParaRPr lang="en-CA"/>
          </a:p>
        </p:txBody>
      </p:sp>
      <p:sp>
        <p:nvSpPr>
          <p:cNvPr id="13" name="Text 11"/>
          <p:cNvSpPr/>
          <p:nvPr/>
        </p:nvSpPr>
        <p:spPr>
          <a:xfrm>
            <a:off x="4892040" y="1051560"/>
            <a:ext cx="3840480" cy="365760"/>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  COVID Timeline</a:t>
            </a:r>
            <a:endParaRPr lang="en-US" sz="1300" dirty="0"/>
          </a:p>
        </p:txBody>
      </p:sp>
      <p:sp>
        <p:nvSpPr>
          <p:cNvPr id="14" name="Text 12"/>
          <p:cNvSpPr/>
          <p:nvPr/>
        </p:nvSpPr>
        <p:spPr>
          <a:xfrm>
            <a:off x="4892040" y="1463040"/>
            <a:ext cx="3840480" cy="10058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When were volumes first impacted? What Canadian events drove the changes?</a:t>
            </a:r>
            <a:endParaRPr lang="en-US" sz="1100" dirty="0"/>
          </a:p>
        </p:txBody>
      </p:sp>
      <p:sp>
        <p:nvSpPr>
          <p:cNvPr id="15" name="Shape 13"/>
          <p:cNvSpPr/>
          <p:nvPr/>
        </p:nvSpPr>
        <p:spPr>
          <a:xfrm>
            <a:off x="274320" y="2834640"/>
            <a:ext cx="420624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16" name="Shape 14"/>
          <p:cNvSpPr/>
          <p:nvPr/>
        </p:nvSpPr>
        <p:spPr>
          <a:xfrm>
            <a:off x="274320" y="2834640"/>
            <a:ext cx="64008" cy="1691640"/>
          </a:xfrm>
          <a:prstGeom prst="rect">
            <a:avLst/>
          </a:prstGeom>
          <a:solidFill>
            <a:srgbClr val="0891B2"/>
          </a:solidFill>
          <a:ln w="12700">
            <a:solidFill>
              <a:srgbClr val="0891B2"/>
            </a:solidFill>
            <a:prstDash val="solid"/>
          </a:ln>
        </p:spPr>
        <p:txBody>
          <a:bodyPr/>
          <a:lstStyle/>
          <a:p>
            <a:endParaRPr lang="en-CA"/>
          </a:p>
        </p:txBody>
      </p:sp>
      <p:sp>
        <p:nvSpPr>
          <p:cNvPr id="17" name="Text 15"/>
          <p:cNvSpPr/>
          <p:nvPr/>
        </p:nvSpPr>
        <p:spPr>
          <a:xfrm>
            <a:off x="457200" y="2971800"/>
            <a:ext cx="3840480" cy="365760"/>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  Peak Season</a:t>
            </a:r>
            <a:endParaRPr lang="en-US" sz="1300" dirty="0"/>
          </a:p>
        </p:txBody>
      </p:sp>
      <p:sp>
        <p:nvSpPr>
          <p:cNvPr id="18" name="Text 16"/>
          <p:cNvSpPr/>
          <p:nvPr/>
        </p:nvSpPr>
        <p:spPr>
          <a:xfrm>
            <a:off x="457200" y="3383280"/>
            <a:ext cx="3840480" cy="10058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How did the unprecedented 2020 peak season compare to 2019?</a:t>
            </a:r>
            <a:endParaRPr lang="en-US" sz="1100" dirty="0"/>
          </a:p>
        </p:txBody>
      </p:sp>
      <p:sp>
        <p:nvSpPr>
          <p:cNvPr id="19" name="Shape 17"/>
          <p:cNvSpPr/>
          <p:nvPr/>
        </p:nvSpPr>
        <p:spPr>
          <a:xfrm>
            <a:off x="4709160" y="2834640"/>
            <a:ext cx="4206240" cy="1691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20" name="Shape 18"/>
          <p:cNvSpPr/>
          <p:nvPr/>
        </p:nvSpPr>
        <p:spPr>
          <a:xfrm>
            <a:off x="4709160" y="2834640"/>
            <a:ext cx="64008" cy="1691640"/>
          </a:xfrm>
          <a:prstGeom prst="rect">
            <a:avLst/>
          </a:prstGeom>
          <a:solidFill>
            <a:srgbClr val="0891B2"/>
          </a:solidFill>
          <a:ln w="12700">
            <a:solidFill>
              <a:srgbClr val="0891B2"/>
            </a:solidFill>
            <a:prstDash val="solid"/>
          </a:ln>
        </p:spPr>
        <p:txBody>
          <a:bodyPr/>
          <a:lstStyle/>
          <a:p>
            <a:endParaRPr lang="en-CA"/>
          </a:p>
        </p:txBody>
      </p:sp>
      <p:sp>
        <p:nvSpPr>
          <p:cNvPr id="21" name="Text 19"/>
          <p:cNvSpPr/>
          <p:nvPr/>
        </p:nvSpPr>
        <p:spPr>
          <a:xfrm>
            <a:off x="4892040" y="2971800"/>
            <a:ext cx="3840480" cy="365760"/>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  Customer Segments</a:t>
            </a:r>
            <a:endParaRPr lang="en-US" sz="1300" dirty="0"/>
          </a:p>
        </p:txBody>
      </p:sp>
      <p:sp>
        <p:nvSpPr>
          <p:cNvPr id="22" name="Text 20"/>
          <p:cNvSpPr/>
          <p:nvPr/>
        </p:nvSpPr>
        <p:spPr>
          <a:xfrm>
            <a:off x="4892040" y="3383280"/>
            <a:ext cx="3840480" cy="10058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How were Enterprise, Large, Medium, and Small clients affected differently?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229600" cy="502920"/>
          </a:xfrm>
          <a:prstGeom prst="rect">
            <a:avLst/>
          </a:prstGeom>
          <a:noFill/>
          <a:ln/>
        </p:spPr>
        <p:txBody>
          <a:bodyPr wrap="square" lIns="0" tIns="0" rIns="0" bIns="0" rtlCol="0" anchor="ctr"/>
          <a:lstStyle/>
          <a:p>
            <a:pPr marL="0" indent="0">
              <a:buNone/>
            </a:pPr>
            <a:r>
              <a:rPr lang="en-US" sz="2600" b="1" dirty="0">
                <a:solidFill>
                  <a:srgbClr val="0D2137"/>
                </a:solidFill>
                <a:latin typeface="Calibri" pitchFamily="34" charset="0"/>
                <a:ea typeface="Calibri" pitchFamily="34" charset="-122"/>
                <a:cs typeface="Calibri" pitchFamily="34" charset="-120"/>
              </a:rPr>
              <a:t>Dataset &amp; Customer Segmentation</a:t>
            </a:r>
            <a:endParaRPr lang="en-US" sz="2600" dirty="0"/>
          </a:p>
        </p:txBody>
      </p:sp>
      <p:sp>
        <p:nvSpPr>
          <p:cNvPr id="7" name="Shape 5"/>
          <p:cNvSpPr/>
          <p:nvPr/>
        </p:nvSpPr>
        <p:spPr>
          <a:xfrm>
            <a:off x="274320" y="777240"/>
            <a:ext cx="1920240" cy="91440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8" name="Text 6"/>
          <p:cNvSpPr/>
          <p:nvPr/>
        </p:nvSpPr>
        <p:spPr>
          <a:xfrm>
            <a:off x="274320" y="804672"/>
            <a:ext cx="19202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190,719</a:t>
            </a:r>
            <a:endParaRPr lang="en-US" sz="2200" dirty="0"/>
          </a:p>
        </p:txBody>
      </p:sp>
      <p:sp>
        <p:nvSpPr>
          <p:cNvPr id="9" name="Text 7"/>
          <p:cNvSpPr/>
          <p:nvPr/>
        </p:nvSpPr>
        <p:spPr>
          <a:xfrm>
            <a:off x="274320" y="1280160"/>
            <a:ext cx="1920240" cy="320040"/>
          </a:xfrm>
          <a:prstGeom prst="rect">
            <a:avLst/>
          </a:prstGeom>
          <a:noFill/>
          <a:ln/>
        </p:spPr>
        <p:txBody>
          <a:bodyPr wrap="square" lIns="0" tIns="0" rIns="0" bIns="0" rtlCol="0" anchor="ctr"/>
          <a:lstStyle/>
          <a:p>
            <a:pPr marL="0" indent="0" algn="ctr">
              <a:buNone/>
            </a:pPr>
            <a:r>
              <a:rPr lang="en-US" sz="950" dirty="0">
                <a:solidFill>
                  <a:srgbClr val="E0F7FA"/>
                </a:solidFill>
                <a:latin typeface="Calibri" pitchFamily="34" charset="0"/>
                <a:ea typeface="Calibri" pitchFamily="34" charset="-122"/>
                <a:cs typeface="Calibri" pitchFamily="34" charset="-120"/>
              </a:rPr>
              <a:t>Total Records</a:t>
            </a:r>
            <a:endParaRPr lang="en-US" sz="950" dirty="0"/>
          </a:p>
        </p:txBody>
      </p:sp>
      <p:sp>
        <p:nvSpPr>
          <p:cNvPr id="10" name="Shape 8"/>
          <p:cNvSpPr/>
          <p:nvPr/>
        </p:nvSpPr>
        <p:spPr>
          <a:xfrm>
            <a:off x="2423160" y="777240"/>
            <a:ext cx="1920240" cy="91440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11" name="Text 9"/>
          <p:cNvSpPr/>
          <p:nvPr/>
        </p:nvSpPr>
        <p:spPr>
          <a:xfrm>
            <a:off x="2423160" y="804672"/>
            <a:ext cx="19202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1,061</a:t>
            </a:r>
            <a:endParaRPr lang="en-US" sz="2200" dirty="0"/>
          </a:p>
        </p:txBody>
      </p:sp>
      <p:sp>
        <p:nvSpPr>
          <p:cNvPr id="12" name="Text 10"/>
          <p:cNvSpPr/>
          <p:nvPr/>
        </p:nvSpPr>
        <p:spPr>
          <a:xfrm>
            <a:off x="2423160" y="1280160"/>
            <a:ext cx="1920240" cy="320040"/>
          </a:xfrm>
          <a:prstGeom prst="rect">
            <a:avLst/>
          </a:prstGeom>
          <a:noFill/>
          <a:ln/>
        </p:spPr>
        <p:txBody>
          <a:bodyPr wrap="square" lIns="0" tIns="0" rIns="0" bIns="0" rtlCol="0" anchor="ctr"/>
          <a:lstStyle/>
          <a:p>
            <a:pPr marL="0" indent="0" algn="ctr">
              <a:buNone/>
            </a:pPr>
            <a:r>
              <a:rPr lang="en-US" sz="950" dirty="0">
                <a:solidFill>
                  <a:srgbClr val="E0F7FA"/>
                </a:solidFill>
                <a:latin typeface="Calibri" pitchFamily="34" charset="0"/>
                <a:ea typeface="Calibri" pitchFamily="34" charset="-122"/>
                <a:cs typeface="Calibri" pitchFamily="34" charset="-120"/>
              </a:rPr>
              <a:t>Unique Customers</a:t>
            </a:r>
            <a:endParaRPr lang="en-US" sz="950" dirty="0"/>
          </a:p>
        </p:txBody>
      </p:sp>
      <p:sp>
        <p:nvSpPr>
          <p:cNvPr id="13" name="Shape 11"/>
          <p:cNvSpPr/>
          <p:nvPr/>
        </p:nvSpPr>
        <p:spPr>
          <a:xfrm>
            <a:off x="4572000" y="777240"/>
            <a:ext cx="1920240" cy="91440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14" name="Text 12"/>
          <p:cNvSpPr/>
          <p:nvPr/>
        </p:nvSpPr>
        <p:spPr>
          <a:xfrm>
            <a:off x="4572000" y="804672"/>
            <a:ext cx="19202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2018–2021</a:t>
            </a:r>
            <a:endParaRPr lang="en-US" sz="2200" dirty="0"/>
          </a:p>
        </p:txBody>
      </p:sp>
      <p:sp>
        <p:nvSpPr>
          <p:cNvPr id="15" name="Text 13"/>
          <p:cNvSpPr/>
          <p:nvPr/>
        </p:nvSpPr>
        <p:spPr>
          <a:xfrm>
            <a:off x="4572000" y="1280160"/>
            <a:ext cx="1920240" cy="320040"/>
          </a:xfrm>
          <a:prstGeom prst="rect">
            <a:avLst/>
          </a:prstGeom>
          <a:noFill/>
          <a:ln/>
        </p:spPr>
        <p:txBody>
          <a:bodyPr wrap="square" lIns="0" tIns="0" rIns="0" bIns="0" rtlCol="0" anchor="ctr"/>
          <a:lstStyle/>
          <a:p>
            <a:pPr marL="0" indent="0" algn="ctr">
              <a:buNone/>
            </a:pPr>
            <a:r>
              <a:rPr lang="en-US" sz="950" dirty="0">
                <a:solidFill>
                  <a:srgbClr val="E0F7FA"/>
                </a:solidFill>
                <a:latin typeface="Calibri" pitchFamily="34" charset="0"/>
                <a:ea typeface="Calibri" pitchFamily="34" charset="-122"/>
                <a:cs typeface="Calibri" pitchFamily="34" charset="-120"/>
              </a:rPr>
              <a:t>Years Covered</a:t>
            </a:r>
            <a:endParaRPr lang="en-US" sz="950" dirty="0"/>
          </a:p>
        </p:txBody>
      </p:sp>
      <p:sp>
        <p:nvSpPr>
          <p:cNvPr id="16" name="Shape 14"/>
          <p:cNvSpPr/>
          <p:nvPr/>
        </p:nvSpPr>
        <p:spPr>
          <a:xfrm>
            <a:off x="6720840" y="777240"/>
            <a:ext cx="1920240" cy="91440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17" name="Text 15"/>
          <p:cNvSpPr/>
          <p:nvPr/>
        </p:nvSpPr>
        <p:spPr>
          <a:xfrm>
            <a:off x="6720840" y="804672"/>
            <a:ext cx="19202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$22.00</a:t>
            </a:r>
            <a:endParaRPr lang="en-US" sz="2200" dirty="0"/>
          </a:p>
        </p:txBody>
      </p:sp>
      <p:sp>
        <p:nvSpPr>
          <p:cNvPr id="18" name="Text 16"/>
          <p:cNvSpPr/>
          <p:nvPr/>
        </p:nvSpPr>
        <p:spPr>
          <a:xfrm>
            <a:off x="6720840" y="1280160"/>
            <a:ext cx="1920240" cy="320040"/>
          </a:xfrm>
          <a:prstGeom prst="rect">
            <a:avLst/>
          </a:prstGeom>
          <a:noFill/>
          <a:ln/>
        </p:spPr>
        <p:txBody>
          <a:bodyPr wrap="square" lIns="0" tIns="0" rIns="0" bIns="0" rtlCol="0" anchor="ctr"/>
          <a:lstStyle/>
          <a:p>
            <a:pPr marL="0" indent="0" algn="ctr">
              <a:buNone/>
            </a:pPr>
            <a:r>
              <a:rPr lang="en-US" sz="950" dirty="0">
                <a:solidFill>
                  <a:srgbClr val="E0F7FA"/>
                </a:solidFill>
                <a:latin typeface="Calibri" pitchFamily="34" charset="0"/>
                <a:ea typeface="Calibri" pitchFamily="34" charset="-122"/>
                <a:cs typeface="Calibri" pitchFamily="34" charset="-120"/>
              </a:rPr>
              <a:t>Base Parcel Price</a:t>
            </a:r>
            <a:endParaRPr lang="en-US" sz="950" dirty="0"/>
          </a:p>
        </p:txBody>
      </p:sp>
      <p:sp>
        <p:nvSpPr>
          <p:cNvPr id="19" name="Text 17"/>
          <p:cNvSpPr/>
          <p:nvPr/>
        </p:nvSpPr>
        <p:spPr>
          <a:xfrm>
            <a:off x="274320" y="1920240"/>
            <a:ext cx="8229600" cy="320040"/>
          </a:xfrm>
          <a:prstGeom prst="rect">
            <a:avLst/>
          </a:prstGeom>
          <a:noFill/>
          <a:ln/>
        </p:spPr>
        <p:txBody>
          <a:bodyPr wrap="square" lIns="0" tIns="0" rIns="0" bIns="0"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Customer Groups — Classified by 2019 Annual Volume</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74320" y="2286000"/>
          <a:ext cx="8046720" cy="2103120"/>
        </p:xfrm>
        <a:graphic>
          <a:graphicData uri="http://schemas.openxmlformats.org/drawingml/2006/table">
            <a:tbl>
              <a:tblPr/>
              <a:tblGrid>
                <a:gridCol w="16459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20624">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 Group</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213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2019 Volume Definition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213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Discount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213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Price/Parcel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213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 Customers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2137"/>
                    </a:solidFill>
                  </a:tcPr>
                </a:tc>
                <a:extLst>
                  <a:ext uri="{0D108BD9-81ED-4DB2-BD59-A6C34878D82A}">
                    <a16:rowId xmlns:a16="http://schemas.microsoft.com/office/drawing/2014/main" val="10000"/>
                  </a:ext>
                </a:extLst>
              </a:tr>
              <a:tr h="420624">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Enterprise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&gt; 500,000 pieces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$17.16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extLst>
                  <a:ext uri="{0D108BD9-81ED-4DB2-BD59-A6C34878D82A}">
                    <a16:rowId xmlns:a16="http://schemas.microsoft.com/office/drawing/2014/main" val="10001"/>
                  </a:ext>
                </a:extLst>
              </a:tr>
              <a:tr h="420624">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Large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200,000 – 500,000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$18.26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10,000 – 200,000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$19.80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174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6FA"/>
                    </a:solidFill>
                  </a:tcPr>
                </a:tc>
                <a:extLst>
                  <a:ext uri="{0D108BD9-81ED-4DB2-BD59-A6C34878D82A}">
                    <a16:rowId xmlns:a16="http://schemas.microsoft.com/office/drawing/2014/main" val="10003"/>
                  </a:ext>
                </a:extLst>
              </a:tr>
              <a:tr h="420624">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Small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1,000 – 10,000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$21.12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4155"/>
                          </a:solidFill>
                          <a:latin typeface="Calibri" pitchFamily="34" charset="0"/>
                          <a:ea typeface="Calibri" pitchFamily="34" charset="-122"/>
                          <a:cs typeface="Calibri" pitchFamily="34" charset="-120"/>
                        </a:rPr>
                        <a:t>860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1" name="Shape 18"/>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22" name="Shape 19"/>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23" name="Text 20"/>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We classify customers using their 2019 volume only — using 2020 figures would mix the classification with the impact we are trying to measure. Enterprise customers (12 in total) account for most of the volume despite being the smallest group in number.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59536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Customer Segmentation — 2019 vs 2020 Classification</a:t>
            </a:r>
            <a:endParaRPr lang="en-US" sz="2200" dirty="0"/>
          </a:p>
        </p:txBody>
      </p:sp>
      <p:graphicFrame>
        <p:nvGraphicFramePr>
          <p:cNvPr id="7" name="Chart 0"/>
          <p:cNvGraphicFramePr/>
          <p:nvPr/>
        </p:nvGraphicFramePr>
        <p:xfrm>
          <a:off x="274320" y="777240"/>
          <a:ext cx="85953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9" name="Shape 6"/>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10" name="Text 7"/>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Applying the same classification thresholds to 2020 volumes reveals that COVID pushed many customers into higher tiers. This has real implications — contracts signed pre-COVID may need renegotiation to reflect the new volume reality heading into 2021.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229600" cy="502920"/>
          </a:xfrm>
          <a:prstGeom prst="rect">
            <a:avLst/>
          </a:prstGeom>
          <a:noFill/>
          <a:ln/>
        </p:spPr>
        <p:txBody>
          <a:bodyPr wrap="square" lIns="0" tIns="0" rIns="0" bIns="0" rtlCol="0" anchor="ctr"/>
          <a:lstStyle/>
          <a:p>
            <a:pPr marL="0" indent="0">
              <a:buNone/>
            </a:pPr>
            <a:r>
              <a:rPr lang="en-US" sz="2600" b="1" dirty="0">
                <a:solidFill>
                  <a:srgbClr val="0D2137"/>
                </a:solidFill>
                <a:latin typeface="Calibri" pitchFamily="34" charset="0"/>
                <a:ea typeface="Calibri" pitchFamily="34" charset="-122"/>
                <a:cs typeface="Calibri" pitchFamily="34" charset="-120"/>
              </a:rPr>
              <a:t>Annual Volume: The 2020 Surge</a:t>
            </a:r>
            <a:endParaRPr lang="en-US" sz="2600" dirty="0"/>
          </a:p>
        </p:txBody>
      </p:sp>
      <p:graphicFrame>
        <p:nvGraphicFramePr>
          <p:cNvPr id="7" name="Chart 0"/>
          <p:cNvGraphicFramePr/>
          <p:nvPr/>
        </p:nvGraphicFramePr>
        <p:xfrm>
          <a:off x="274320" y="777240"/>
          <a:ext cx="56692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217920" y="914400"/>
            <a:ext cx="2651760" cy="960120"/>
          </a:xfrm>
          <a:prstGeom prst="rect">
            <a:avLst/>
          </a:prstGeom>
          <a:solidFill>
            <a:srgbClr val="64748B"/>
          </a:solidFill>
          <a:ln w="12700">
            <a:solidFill>
              <a:srgbClr val="64748B"/>
            </a:solidFill>
            <a:prstDash val="solid"/>
          </a:ln>
          <a:effectLst>
            <a:outerShdw blurRad="101600" dist="38100" dir="8100000" algn="bl" rotWithShape="0">
              <a:srgbClr val="000000">
                <a:alpha val="12000"/>
              </a:srgbClr>
            </a:outerShdw>
          </a:effectLst>
        </p:spPr>
        <p:txBody>
          <a:bodyPr/>
          <a:lstStyle/>
          <a:p>
            <a:endParaRPr lang="en-CA"/>
          </a:p>
        </p:txBody>
      </p:sp>
      <p:sp>
        <p:nvSpPr>
          <p:cNvPr id="9" name="Text 6"/>
          <p:cNvSpPr/>
          <p:nvPr/>
        </p:nvSpPr>
        <p:spPr>
          <a:xfrm>
            <a:off x="6217920" y="960120"/>
            <a:ext cx="265176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2019</a:t>
            </a:r>
            <a:endParaRPr lang="en-US" sz="1100" dirty="0"/>
          </a:p>
        </p:txBody>
      </p:sp>
      <p:sp>
        <p:nvSpPr>
          <p:cNvPr id="10" name="Text 7"/>
          <p:cNvSpPr/>
          <p:nvPr/>
        </p:nvSpPr>
        <p:spPr>
          <a:xfrm>
            <a:off x="6217920" y="1170432"/>
            <a:ext cx="2651760" cy="4114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52.8M</a:t>
            </a:r>
            <a:endParaRPr lang="en-US" sz="2600" dirty="0"/>
          </a:p>
        </p:txBody>
      </p:sp>
      <p:sp>
        <p:nvSpPr>
          <p:cNvPr id="11" name="Text 8"/>
          <p:cNvSpPr/>
          <p:nvPr/>
        </p:nvSpPr>
        <p:spPr>
          <a:xfrm>
            <a:off x="6217920" y="1609344"/>
            <a:ext cx="2651760" cy="201168"/>
          </a:xfrm>
          <a:prstGeom prst="rect">
            <a:avLst/>
          </a:prstGeom>
          <a:noFill/>
          <a:ln/>
        </p:spPr>
        <p:txBody>
          <a:bodyPr wrap="square" lIns="0" tIns="0" rIns="0" bIns="0" rtlCol="0" anchor="ctr"/>
          <a:lstStyle/>
          <a:p>
            <a:pPr marL="0" indent="0" algn="ctr">
              <a:buNone/>
            </a:pPr>
            <a:r>
              <a:rPr lang="en-US" sz="1000" dirty="0">
                <a:solidFill>
                  <a:srgbClr val="E0F7FA"/>
                </a:solidFill>
                <a:latin typeface="Calibri" pitchFamily="34" charset="0"/>
                <a:ea typeface="Calibri" pitchFamily="34" charset="-122"/>
                <a:cs typeface="Calibri" pitchFamily="34" charset="-120"/>
              </a:rPr>
              <a:t>+7.6% YoY</a:t>
            </a:r>
            <a:endParaRPr lang="en-US" sz="1000" dirty="0"/>
          </a:p>
        </p:txBody>
      </p:sp>
      <p:sp>
        <p:nvSpPr>
          <p:cNvPr id="12" name="Shape 9"/>
          <p:cNvSpPr/>
          <p:nvPr/>
        </p:nvSpPr>
        <p:spPr>
          <a:xfrm>
            <a:off x="6217920" y="2057400"/>
            <a:ext cx="2651760" cy="96012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13" name="Text 10"/>
          <p:cNvSpPr/>
          <p:nvPr/>
        </p:nvSpPr>
        <p:spPr>
          <a:xfrm>
            <a:off x="6217920" y="2103120"/>
            <a:ext cx="265176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2020</a:t>
            </a:r>
            <a:endParaRPr lang="en-US" sz="1100" dirty="0"/>
          </a:p>
        </p:txBody>
      </p:sp>
      <p:sp>
        <p:nvSpPr>
          <p:cNvPr id="14" name="Text 11"/>
          <p:cNvSpPr/>
          <p:nvPr/>
        </p:nvSpPr>
        <p:spPr>
          <a:xfrm>
            <a:off x="6217920" y="2313432"/>
            <a:ext cx="2651760" cy="4114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73.5M</a:t>
            </a:r>
            <a:endParaRPr lang="en-US" sz="2600" dirty="0"/>
          </a:p>
        </p:txBody>
      </p:sp>
      <p:sp>
        <p:nvSpPr>
          <p:cNvPr id="15" name="Text 12"/>
          <p:cNvSpPr/>
          <p:nvPr/>
        </p:nvSpPr>
        <p:spPr>
          <a:xfrm>
            <a:off x="6217920" y="2752344"/>
            <a:ext cx="2651760" cy="201168"/>
          </a:xfrm>
          <a:prstGeom prst="rect">
            <a:avLst/>
          </a:prstGeom>
          <a:noFill/>
          <a:ln/>
        </p:spPr>
        <p:txBody>
          <a:bodyPr wrap="square" lIns="0" tIns="0" rIns="0" bIns="0" rtlCol="0" anchor="ctr"/>
          <a:lstStyle/>
          <a:p>
            <a:pPr marL="0" indent="0" algn="ctr">
              <a:buNone/>
            </a:pPr>
            <a:r>
              <a:rPr lang="en-US" sz="1000" dirty="0">
                <a:solidFill>
                  <a:srgbClr val="E0F7FA"/>
                </a:solidFill>
                <a:latin typeface="Calibri" pitchFamily="34" charset="0"/>
                <a:ea typeface="Calibri" pitchFamily="34" charset="-122"/>
                <a:cs typeface="Calibri" pitchFamily="34" charset="-120"/>
              </a:rPr>
              <a:t>+39.1% YoY</a:t>
            </a:r>
            <a:endParaRPr lang="en-US" sz="1000" dirty="0"/>
          </a:p>
        </p:txBody>
      </p:sp>
      <p:sp>
        <p:nvSpPr>
          <p:cNvPr id="16" name="Shape 13"/>
          <p:cNvSpPr/>
          <p:nvPr/>
        </p:nvSpPr>
        <p:spPr>
          <a:xfrm>
            <a:off x="6217920" y="3200400"/>
            <a:ext cx="2651760" cy="960120"/>
          </a:xfrm>
          <a:prstGeom prst="rect">
            <a:avLst/>
          </a:prstGeom>
          <a:solidFill>
            <a:srgbClr val="94A3B8"/>
          </a:solidFill>
          <a:ln w="12700">
            <a:solidFill>
              <a:srgbClr val="94A3B8"/>
            </a:solidFill>
            <a:prstDash val="solid"/>
          </a:ln>
          <a:effectLst>
            <a:outerShdw blurRad="101600" dist="38100" dir="8100000" algn="bl" rotWithShape="0">
              <a:srgbClr val="000000">
                <a:alpha val="12000"/>
              </a:srgbClr>
            </a:outerShdw>
          </a:effectLst>
        </p:spPr>
        <p:txBody>
          <a:bodyPr/>
          <a:lstStyle/>
          <a:p>
            <a:endParaRPr lang="en-CA"/>
          </a:p>
        </p:txBody>
      </p:sp>
      <p:sp>
        <p:nvSpPr>
          <p:cNvPr id="17" name="Text 14"/>
          <p:cNvSpPr/>
          <p:nvPr/>
        </p:nvSpPr>
        <p:spPr>
          <a:xfrm>
            <a:off x="6217920" y="3246120"/>
            <a:ext cx="2651760" cy="22860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2021</a:t>
            </a:r>
            <a:endParaRPr lang="en-US" sz="1100" dirty="0"/>
          </a:p>
        </p:txBody>
      </p:sp>
      <p:sp>
        <p:nvSpPr>
          <p:cNvPr id="18" name="Text 15"/>
          <p:cNvSpPr/>
          <p:nvPr/>
        </p:nvSpPr>
        <p:spPr>
          <a:xfrm>
            <a:off x="6217920" y="3456432"/>
            <a:ext cx="2651760" cy="4114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48.7M</a:t>
            </a:r>
            <a:endParaRPr lang="en-US" sz="2600" dirty="0"/>
          </a:p>
        </p:txBody>
      </p:sp>
      <p:sp>
        <p:nvSpPr>
          <p:cNvPr id="19" name="Text 16"/>
          <p:cNvSpPr/>
          <p:nvPr/>
        </p:nvSpPr>
        <p:spPr>
          <a:xfrm>
            <a:off x="6217920" y="3895344"/>
            <a:ext cx="2651760" cy="201168"/>
          </a:xfrm>
          <a:prstGeom prst="rect">
            <a:avLst/>
          </a:prstGeom>
          <a:noFill/>
          <a:ln/>
        </p:spPr>
        <p:txBody>
          <a:bodyPr wrap="square" lIns="0" tIns="0" rIns="0" bIns="0" rtlCol="0" anchor="ctr"/>
          <a:lstStyle/>
          <a:p>
            <a:pPr marL="0" indent="0" algn="ctr">
              <a:buNone/>
            </a:pPr>
            <a:r>
              <a:rPr lang="en-US" sz="1000" dirty="0">
                <a:solidFill>
                  <a:srgbClr val="E0F7FA"/>
                </a:solidFill>
                <a:latin typeface="Calibri" pitchFamily="34" charset="0"/>
                <a:ea typeface="Calibri" pitchFamily="34" charset="-122"/>
                <a:cs typeface="Calibri" pitchFamily="34" charset="-120"/>
              </a:rPr>
              <a:t>-33.7% YoY</a:t>
            </a:r>
            <a:endParaRPr lang="en-US" sz="1000" dirty="0"/>
          </a:p>
        </p:txBody>
      </p:sp>
      <p:sp>
        <p:nvSpPr>
          <p:cNvPr id="20" name="Shape 17"/>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21" name="Shape 18"/>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22" name="Text 19"/>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2020 stands out immediately — a 39% jump in a single year is unprecedented. The drop in 2021 is not a decline in business health; it reflects volumes normalizing after the COVID-driven surge. The pre-COVID growth trend from 2018 to 2019 was a steady 7.6%.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229600" cy="502920"/>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When Did COVID Hit? Weekly Volume 2019 vs 2020</a:t>
            </a:r>
            <a:endParaRPr lang="en-US" sz="2400" dirty="0"/>
          </a:p>
        </p:txBody>
      </p:sp>
      <p:graphicFrame>
        <p:nvGraphicFramePr>
          <p:cNvPr id="7" name="Chart 0"/>
          <p:cNvGraphicFramePr/>
          <p:nvPr>
            <p:extLst>
              <p:ext uri="{D42A27DB-BD31-4B8C-83A1-F6EECF244321}">
                <p14:modId xmlns:p14="http://schemas.microsoft.com/office/powerpoint/2010/main" val="3904051303"/>
              </p:ext>
            </p:extLst>
          </p:nvPr>
        </p:nvGraphicFramePr>
        <p:xfrm>
          <a:off x="274320" y="777240"/>
          <a:ext cx="85953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2651759" y="736092"/>
            <a:ext cx="18000" cy="3035809"/>
          </a:xfrm>
          <a:prstGeom prst="rect">
            <a:avLst/>
          </a:prstGeom>
          <a:solidFill>
            <a:srgbClr val="EF4444"/>
          </a:solidFill>
          <a:ln w="9525">
            <a:solidFill>
              <a:srgbClr val="EF4444"/>
            </a:solidFill>
            <a:prstDash val="sysDot"/>
          </a:ln>
        </p:spPr>
        <p:txBody>
          <a:bodyPr/>
          <a:lstStyle/>
          <a:p>
            <a:endParaRPr lang="en-CA"/>
          </a:p>
        </p:txBody>
      </p:sp>
      <p:sp>
        <p:nvSpPr>
          <p:cNvPr id="9" name="Shape 6"/>
          <p:cNvSpPr/>
          <p:nvPr/>
        </p:nvSpPr>
        <p:spPr>
          <a:xfrm>
            <a:off x="2029968" y="914400"/>
            <a:ext cx="1280160" cy="274465"/>
          </a:xfrm>
          <a:prstGeom prst="rect">
            <a:avLst/>
          </a:prstGeom>
          <a:solidFill>
            <a:srgbClr val="EF4444"/>
          </a:solidFill>
          <a:ln w="12700">
            <a:solidFill>
              <a:srgbClr val="EF4444"/>
            </a:solidFill>
            <a:prstDash val="solid"/>
          </a:ln>
        </p:spPr>
        <p:txBody>
          <a:bodyPr/>
          <a:lstStyle/>
          <a:p>
            <a:endParaRPr lang="en-CA"/>
          </a:p>
        </p:txBody>
      </p:sp>
      <p:sp>
        <p:nvSpPr>
          <p:cNvPr id="10" name="Text 7"/>
          <p:cNvSpPr/>
          <p:nvPr/>
        </p:nvSpPr>
        <p:spPr>
          <a:xfrm>
            <a:off x="2029968" y="914400"/>
            <a:ext cx="1280160" cy="317965"/>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 W12: COVID</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Lockdowns Begin</a:t>
            </a:r>
            <a:endParaRPr lang="en-US" sz="800" dirty="0"/>
          </a:p>
        </p:txBody>
      </p:sp>
      <p:sp>
        <p:nvSpPr>
          <p:cNvPr id="11" name="Shape 8"/>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12" name="Shape 9"/>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13" name="Text 10"/>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The two lines track almost identically until Week 12. The divergence is sharp and immediate — by Week 16 we are at +128% YoY. This is not gradual; it is a structural shift. Notice also that 2020 never returns to 2019 levels for the rest of the year, confirming that e-commerce adoption was permanent, not temporary.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Text 2"/>
          <p:cNvSpPr/>
          <p:nvPr/>
        </p:nvSpPr>
        <p:spPr>
          <a:xfrm>
            <a:off x="274320" y="137160"/>
            <a:ext cx="8229600" cy="502920"/>
          </a:xfrm>
          <a:prstGeom prst="rect">
            <a:avLst/>
          </a:prstGeom>
          <a:noFill/>
          <a:ln/>
        </p:spPr>
        <p:txBody>
          <a:bodyPr wrap="square" lIns="0" tIns="0" rIns="0" bIns="0" rtlCol="0" anchor="ctr"/>
          <a:lstStyle/>
          <a:p>
            <a:pPr marL="0" indent="0">
              <a:buNone/>
            </a:pPr>
            <a:r>
              <a:rPr lang="en-US" sz="2600" b="1" dirty="0">
                <a:solidFill>
                  <a:srgbClr val="0D2137"/>
                </a:solidFill>
                <a:latin typeface="Calibri" pitchFamily="34" charset="0"/>
                <a:ea typeface="Calibri" pitchFamily="34" charset="-122"/>
                <a:cs typeface="Calibri" pitchFamily="34" charset="-120"/>
              </a:rPr>
              <a:t>Peak Season 2019 vs 2020</a:t>
            </a:r>
            <a:endParaRPr lang="en-US" sz="2600" dirty="0"/>
          </a:p>
        </p:txBody>
      </p:sp>
      <p:sp>
        <p:nvSpPr>
          <p:cNvPr id="5" name="Shape 3"/>
          <p:cNvSpPr/>
          <p:nvPr/>
        </p:nvSpPr>
        <p:spPr>
          <a:xfrm>
            <a:off x="457200" y="822960"/>
            <a:ext cx="3931920" cy="2286000"/>
          </a:xfrm>
          <a:prstGeom prst="rect">
            <a:avLst/>
          </a:prstGeom>
          <a:solidFill>
            <a:srgbClr val="64748B"/>
          </a:solidFill>
          <a:ln w="12700">
            <a:solidFill>
              <a:srgbClr val="64748B"/>
            </a:solidFill>
            <a:prstDash val="solid"/>
          </a:ln>
          <a:effectLst>
            <a:outerShdw blurRad="101600" dist="38100" dir="8100000" algn="bl" rotWithShape="0">
              <a:srgbClr val="000000">
                <a:alpha val="12000"/>
              </a:srgbClr>
            </a:outerShdw>
          </a:effectLst>
        </p:spPr>
        <p:txBody>
          <a:bodyPr/>
          <a:lstStyle/>
          <a:p>
            <a:endParaRPr lang="en-CA"/>
          </a:p>
        </p:txBody>
      </p:sp>
      <p:sp>
        <p:nvSpPr>
          <p:cNvPr id="6" name="Text 4"/>
          <p:cNvSpPr/>
          <p:nvPr/>
        </p:nvSpPr>
        <p:spPr>
          <a:xfrm>
            <a:off x="457200" y="868680"/>
            <a:ext cx="3931920" cy="594360"/>
          </a:xfrm>
          <a:prstGeom prst="rect">
            <a:avLst/>
          </a:prstGeom>
          <a:noFill/>
          <a:ln/>
        </p:spPr>
        <p:txBody>
          <a:bodyPr wrap="square" lIns="0" tIns="0" rIns="0" bIns="0" rtlCol="0" anchor="ctr"/>
          <a:lstStyle/>
          <a:p>
            <a:pPr marL="0" indent="0" algn="ctr">
              <a:buNone/>
            </a:pPr>
            <a:r>
              <a:rPr lang="en-US" sz="1200" dirty="0">
                <a:solidFill>
                  <a:srgbClr val="E0F7FA"/>
                </a:solidFill>
                <a:latin typeface="Calibri" pitchFamily="34" charset="0"/>
                <a:ea typeface="Calibri" pitchFamily="34" charset="-122"/>
                <a:cs typeface="Calibri" pitchFamily="34" charset="-120"/>
              </a:rPr>
              <a:t>2019 Peak Season</a:t>
            </a:r>
            <a:endParaRPr lang="en-US" sz="1200" dirty="0"/>
          </a:p>
          <a:p>
            <a:pPr marL="0" indent="0" algn="ctr">
              <a:buNone/>
            </a:pPr>
            <a:r>
              <a:rPr lang="en-US" sz="1200" dirty="0">
                <a:solidFill>
                  <a:srgbClr val="E0F7FA"/>
                </a:solidFill>
                <a:latin typeface="Calibri" pitchFamily="34" charset="0"/>
                <a:ea typeface="Calibri" pitchFamily="34" charset="-122"/>
                <a:cs typeface="Calibri" pitchFamily="34" charset="-120"/>
              </a:rPr>
              <a:t>(Nov 4, 2019 – Jan 20, 2020)</a:t>
            </a:r>
            <a:endParaRPr lang="en-US" sz="1200" dirty="0"/>
          </a:p>
        </p:txBody>
      </p:sp>
      <p:sp>
        <p:nvSpPr>
          <p:cNvPr id="7" name="Text 5"/>
          <p:cNvSpPr/>
          <p:nvPr/>
        </p:nvSpPr>
        <p:spPr>
          <a:xfrm>
            <a:off x="457200" y="1417320"/>
            <a:ext cx="3931920" cy="914400"/>
          </a:xfrm>
          <a:prstGeom prst="rect">
            <a:avLst/>
          </a:prstGeom>
          <a:noFill/>
          <a:ln/>
        </p:spPr>
        <p:txBody>
          <a:bodyPr wrap="square" lIns="0" tIns="0" rIns="0" bIns="0"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15.4M</a:t>
            </a:r>
            <a:endParaRPr lang="en-US" sz="5200" dirty="0"/>
          </a:p>
        </p:txBody>
      </p:sp>
      <p:sp>
        <p:nvSpPr>
          <p:cNvPr id="8" name="Text 6"/>
          <p:cNvSpPr/>
          <p:nvPr/>
        </p:nvSpPr>
        <p:spPr>
          <a:xfrm>
            <a:off x="457200" y="2377440"/>
            <a:ext cx="3931920" cy="365760"/>
          </a:xfrm>
          <a:prstGeom prst="rect">
            <a:avLst/>
          </a:prstGeom>
          <a:noFill/>
          <a:ln/>
        </p:spPr>
        <p:txBody>
          <a:bodyPr wrap="square" lIns="0" tIns="0" rIns="0" bIns="0" rtlCol="0" anchor="ctr"/>
          <a:lstStyle/>
          <a:p>
            <a:pPr marL="0" indent="0" algn="ctr">
              <a:buNone/>
            </a:pPr>
            <a:r>
              <a:rPr lang="en-US" sz="1200" dirty="0">
                <a:solidFill>
                  <a:srgbClr val="E0F7FA"/>
                </a:solidFill>
                <a:latin typeface="Calibri" pitchFamily="34" charset="0"/>
                <a:ea typeface="Calibri" pitchFamily="34" charset="-122"/>
                <a:cs typeface="Calibri" pitchFamily="34" charset="-120"/>
              </a:rPr>
              <a:t>Parcels Shipped</a:t>
            </a:r>
            <a:endParaRPr lang="en-US" sz="1200" dirty="0"/>
          </a:p>
        </p:txBody>
      </p:sp>
      <p:sp>
        <p:nvSpPr>
          <p:cNvPr id="9" name="Shape 7"/>
          <p:cNvSpPr/>
          <p:nvPr/>
        </p:nvSpPr>
        <p:spPr>
          <a:xfrm>
            <a:off x="4846320" y="822960"/>
            <a:ext cx="3931920" cy="2286000"/>
          </a:xfrm>
          <a:prstGeom prst="rect">
            <a:avLst/>
          </a:prstGeom>
          <a:solidFill>
            <a:srgbClr val="0891B2"/>
          </a:solidFill>
          <a:ln w="12700">
            <a:solidFill>
              <a:srgbClr val="0891B2"/>
            </a:solidFill>
            <a:prstDash val="solid"/>
          </a:ln>
          <a:effectLst>
            <a:outerShdw blurRad="101600" dist="38100" dir="8100000" algn="bl" rotWithShape="0">
              <a:srgbClr val="000000">
                <a:alpha val="12000"/>
              </a:srgbClr>
            </a:outerShdw>
          </a:effectLst>
        </p:spPr>
        <p:txBody>
          <a:bodyPr/>
          <a:lstStyle/>
          <a:p>
            <a:endParaRPr lang="en-CA"/>
          </a:p>
        </p:txBody>
      </p:sp>
      <p:sp>
        <p:nvSpPr>
          <p:cNvPr id="10" name="Text 8"/>
          <p:cNvSpPr/>
          <p:nvPr/>
        </p:nvSpPr>
        <p:spPr>
          <a:xfrm>
            <a:off x="4846320" y="868680"/>
            <a:ext cx="3931920" cy="594360"/>
          </a:xfrm>
          <a:prstGeom prst="rect">
            <a:avLst/>
          </a:prstGeom>
          <a:noFill/>
          <a:ln/>
        </p:spPr>
        <p:txBody>
          <a:bodyPr wrap="square" lIns="0" tIns="0" rIns="0" bIns="0" rtlCol="0" anchor="ctr"/>
          <a:lstStyle/>
          <a:p>
            <a:pPr marL="0" indent="0" algn="ctr">
              <a:buNone/>
            </a:pPr>
            <a:r>
              <a:rPr lang="en-US" sz="1200" dirty="0">
                <a:solidFill>
                  <a:srgbClr val="E0F7FA"/>
                </a:solidFill>
                <a:latin typeface="Calibri" pitchFamily="34" charset="0"/>
                <a:ea typeface="Calibri" pitchFamily="34" charset="-122"/>
                <a:cs typeface="Calibri" pitchFamily="34" charset="-120"/>
              </a:rPr>
              <a:t>2020 Peak Season</a:t>
            </a:r>
            <a:endParaRPr lang="en-US" sz="1200" dirty="0"/>
          </a:p>
          <a:p>
            <a:pPr marL="0" indent="0" algn="ctr">
              <a:buNone/>
            </a:pPr>
            <a:r>
              <a:rPr lang="en-US" sz="1200" dirty="0">
                <a:solidFill>
                  <a:srgbClr val="E0F7FA"/>
                </a:solidFill>
                <a:latin typeface="Calibri" pitchFamily="34" charset="0"/>
                <a:ea typeface="Calibri" pitchFamily="34" charset="-122"/>
                <a:cs typeface="Calibri" pitchFamily="34" charset="-120"/>
              </a:rPr>
              <a:t>(Nov 2, 2020 – Jan 17, 2021)</a:t>
            </a:r>
            <a:endParaRPr lang="en-US" sz="1200" dirty="0"/>
          </a:p>
        </p:txBody>
      </p:sp>
      <p:sp>
        <p:nvSpPr>
          <p:cNvPr id="11" name="Text 9"/>
          <p:cNvSpPr/>
          <p:nvPr/>
        </p:nvSpPr>
        <p:spPr>
          <a:xfrm>
            <a:off x="4846320" y="1417320"/>
            <a:ext cx="3931920" cy="914400"/>
          </a:xfrm>
          <a:prstGeom prst="rect">
            <a:avLst/>
          </a:prstGeom>
          <a:noFill/>
          <a:ln/>
        </p:spPr>
        <p:txBody>
          <a:bodyPr wrap="square" lIns="0" tIns="0" rIns="0" bIns="0"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19.4M</a:t>
            </a:r>
            <a:endParaRPr lang="en-US" sz="5200" dirty="0"/>
          </a:p>
        </p:txBody>
      </p:sp>
      <p:sp>
        <p:nvSpPr>
          <p:cNvPr id="12" name="Text 10"/>
          <p:cNvSpPr/>
          <p:nvPr/>
        </p:nvSpPr>
        <p:spPr>
          <a:xfrm>
            <a:off x="4846320" y="2377440"/>
            <a:ext cx="3931920" cy="365760"/>
          </a:xfrm>
          <a:prstGeom prst="rect">
            <a:avLst/>
          </a:prstGeom>
          <a:noFill/>
          <a:ln/>
        </p:spPr>
        <p:txBody>
          <a:bodyPr wrap="square" lIns="0" tIns="0" rIns="0" bIns="0" rtlCol="0" anchor="ctr"/>
          <a:lstStyle/>
          <a:p>
            <a:pPr marL="0" indent="0" algn="ctr">
              <a:buNone/>
            </a:pPr>
            <a:r>
              <a:rPr lang="en-US" sz="1200" dirty="0">
                <a:solidFill>
                  <a:srgbClr val="E0F7FA"/>
                </a:solidFill>
                <a:latin typeface="Calibri" pitchFamily="34" charset="0"/>
                <a:ea typeface="Calibri" pitchFamily="34" charset="-122"/>
                <a:cs typeface="Calibri" pitchFamily="34" charset="-120"/>
              </a:rPr>
              <a:t>Parcels Shipped</a:t>
            </a:r>
            <a:endParaRPr lang="en-US" sz="1200" dirty="0"/>
          </a:p>
        </p:txBody>
      </p:sp>
      <p:sp>
        <p:nvSpPr>
          <p:cNvPr id="13" name="Shape 11"/>
          <p:cNvSpPr/>
          <p:nvPr/>
        </p:nvSpPr>
        <p:spPr>
          <a:xfrm>
            <a:off x="4114800" y="1600200"/>
            <a:ext cx="914400" cy="457200"/>
          </a:xfrm>
          <a:prstGeom prst="rect">
            <a:avLst/>
          </a:prstGeom>
          <a:solidFill>
            <a:srgbClr val="10B981"/>
          </a:solidFill>
          <a:ln w="12700">
            <a:solidFill>
              <a:srgbClr val="10B981"/>
            </a:solidFill>
            <a:prstDash val="solid"/>
          </a:ln>
          <a:effectLst>
            <a:outerShdw blurRad="101600" dist="38100" dir="8100000" algn="bl" rotWithShape="0">
              <a:srgbClr val="000000">
                <a:alpha val="12000"/>
              </a:srgbClr>
            </a:outerShdw>
          </a:effectLst>
        </p:spPr>
        <p:txBody>
          <a:bodyPr/>
          <a:lstStyle/>
          <a:p>
            <a:endParaRPr lang="en-CA"/>
          </a:p>
        </p:txBody>
      </p:sp>
      <p:sp>
        <p:nvSpPr>
          <p:cNvPr id="14" name="Text 12"/>
          <p:cNvSpPr/>
          <p:nvPr/>
        </p:nvSpPr>
        <p:spPr>
          <a:xfrm>
            <a:off x="4114800" y="1600200"/>
            <a:ext cx="9144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+26.5%</a:t>
            </a:r>
            <a:endParaRPr lang="en-US" sz="1400" dirty="0"/>
          </a:p>
        </p:txBody>
      </p:sp>
      <p:graphicFrame>
        <p:nvGraphicFramePr>
          <p:cNvPr id="15" name="Chart 0"/>
          <p:cNvGraphicFramePr/>
          <p:nvPr>
            <p:extLst>
              <p:ext uri="{D42A27DB-BD31-4B8C-83A1-F6EECF244321}">
                <p14:modId xmlns:p14="http://schemas.microsoft.com/office/powerpoint/2010/main" val="922477951"/>
              </p:ext>
            </p:extLst>
          </p:nvPr>
        </p:nvGraphicFramePr>
        <p:xfrm>
          <a:off x="274320" y="3112658"/>
          <a:ext cx="8595360" cy="1481846"/>
        </p:xfrm>
        <a:graphic>
          <a:graphicData uri="http://schemas.openxmlformats.org/drawingml/2006/chart">
            <c:chart xmlns:c="http://schemas.openxmlformats.org/drawingml/2006/chart" xmlns:r="http://schemas.openxmlformats.org/officeDocument/2006/relationships" r:id="rId3"/>
          </a:graphicData>
        </a:graphic>
      </p:graphicFrame>
      <p:sp>
        <p:nvSpPr>
          <p:cNvPr id="16" name="Shape 13"/>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17" name="Text 14"/>
          <p:cNvSpPr/>
          <p:nvPr/>
        </p:nvSpPr>
        <p:spPr>
          <a:xfrm>
            <a:off x="274320" y="4727966"/>
            <a:ext cx="8229600" cy="278374"/>
          </a:xfrm>
          <a:prstGeom prst="rect">
            <a:avLst/>
          </a:prstGeom>
          <a:noFill/>
          <a:ln/>
        </p:spPr>
        <p:txBody>
          <a:bodyPr wrap="square" lIns="0" tIns="0" rIns="0" bIns="0" rtlCol="0" anchor="ctr"/>
          <a:lstStyle/>
          <a:p>
            <a:r>
              <a:rPr lang="en-US" sz="800" i="1" dirty="0">
                <a:solidFill>
                  <a:srgbClr val="334155"/>
                </a:solidFill>
                <a:latin typeface="Calibri" pitchFamily="34" charset="0"/>
                <a:ea typeface="Calibri" pitchFamily="34" charset="-122"/>
                <a:cs typeface="Calibri" pitchFamily="34" charset="-120"/>
              </a:rPr>
              <a:t>📌  Every single week of the 2020 peak season outpaced 2019. The biggest gap is at W49, nearly 3M parcels in a single week versus 2.5M the year before. This is the direct result of consumers shifting holiday shopping entirely online during lockdowns.</a:t>
            </a:r>
            <a:endParaRPr lang="en-US" sz="800" dirty="0"/>
          </a:p>
          <a:p>
            <a:pPr marL="0" indent="0" algn="l">
              <a:buNone/>
            </a:pP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229600" cy="502920"/>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Volume by Customer Segment: 2019 vs 2020</a:t>
            </a:r>
            <a:endParaRPr lang="en-US" sz="2400" dirty="0"/>
          </a:p>
        </p:txBody>
      </p:sp>
      <p:graphicFrame>
        <p:nvGraphicFramePr>
          <p:cNvPr id="7" name="Chart 0"/>
          <p:cNvGraphicFramePr/>
          <p:nvPr/>
        </p:nvGraphicFramePr>
        <p:xfrm>
          <a:off x="274320" y="777240"/>
          <a:ext cx="530352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
          <p:cNvGraphicFramePr/>
          <p:nvPr/>
        </p:nvGraphicFramePr>
        <p:xfrm>
          <a:off x="5577840" y="777240"/>
          <a:ext cx="3383280" cy="256032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5577840" y="3429000"/>
            <a:ext cx="1554480" cy="384048"/>
          </a:xfrm>
          <a:prstGeom prst="rect">
            <a:avLst/>
          </a:prstGeom>
          <a:solidFill>
            <a:srgbClr val="10B981"/>
          </a:solidFill>
          <a:ln w="12700">
            <a:solidFill>
              <a:srgbClr val="10B981"/>
            </a:solidFill>
            <a:prstDash val="solid"/>
          </a:ln>
        </p:spPr>
        <p:txBody>
          <a:bodyPr/>
          <a:lstStyle/>
          <a:p>
            <a:endParaRPr lang="en-CA"/>
          </a:p>
        </p:txBody>
      </p:sp>
      <p:sp>
        <p:nvSpPr>
          <p:cNvPr id="10" name="Text 6"/>
          <p:cNvSpPr/>
          <p:nvPr/>
        </p:nvSpPr>
        <p:spPr>
          <a:xfrm>
            <a:off x="5577840" y="3429000"/>
            <a:ext cx="155448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Enterprise: +38.3%</a:t>
            </a:r>
            <a:endParaRPr lang="en-US" sz="900" dirty="0"/>
          </a:p>
        </p:txBody>
      </p:sp>
      <p:sp>
        <p:nvSpPr>
          <p:cNvPr id="11" name="Shape 7"/>
          <p:cNvSpPr/>
          <p:nvPr/>
        </p:nvSpPr>
        <p:spPr>
          <a:xfrm>
            <a:off x="7269480" y="3429000"/>
            <a:ext cx="1554480" cy="384048"/>
          </a:xfrm>
          <a:prstGeom prst="rect">
            <a:avLst/>
          </a:prstGeom>
          <a:solidFill>
            <a:srgbClr val="10B981"/>
          </a:solidFill>
          <a:ln w="12700">
            <a:solidFill>
              <a:srgbClr val="10B981"/>
            </a:solidFill>
            <a:prstDash val="solid"/>
          </a:ln>
        </p:spPr>
        <p:txBody>
          <a:bodyPr/>
          <a:lstStyle/>
          <a:p>
            <a:endParaRPr lang="en-CA"/>
          </a:p>
        </p:txBody>
      </p:sp>
      <p:sp>
        <p:nvSpPr>
          <p:cNvPr id="12" name="Text 8"/>
          <p:cNvSpPr/>
          <p:nvPr/>
        </p:nvSpPr>
        <p:spPr>
          <a:xfrm>
            <a:off x="7269480" y="3429000"/>
            <a:ext cx="155448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Large: +34.2%</a:t>
            </a:r>
            <a:endParaRPr lang="en-US" sz="900" dirty="0"/>
          </a:p>
        </p:txBody>
      </p:sp>
      <p:sp>
        <p:nvSpPr>
          <p:cNvPr id="13" name="Shape 9"/>
          <p:cNvSpPr/>
          <p:nvPr/>
        </p:nvSpPr>
        <p:spPr>
          <a:xfrm>
            <a:off x="5577840" y="3904488"/>
            <a:ext cx="1554480" cy="384048"/>
          </a:xfrm>
          <a:prstGeom prst="rect">
            <a:avLst/>
          </a:prstGeom>
          <a:solidFill>
            <a:srgbClr val="10B981"/>
          </a:solidFill>
          <a:ln w="12700">
            <a:solidFill>
              <a:srgbClr val="10B981"/>
            </a:solidFill>
            <a:prstDash val="solid"/>
          </a:ln>
        </p:spPr>
        <p:txBody>
          <a:bodyPr/>
          <a:lstStyle/>
          <a:p>
            <a:endParaRPr lang="en-CA"/>
          </a:p>
        </p:txBody>
      </p:sp>
      <p:sp>
        <p:nvSpPr>
          <p:cNvPr id="14" name="Text 10"/>
          <p:cNvSpPr/>
          <p:nvPr/>
        </p:nvSpPr>
        <p:spPr>
          <a:xfrm>
            <a:off x="5577840" y="3904488"/>
            <a:ext cx="155448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 +41.8%</a:t>
            </a:r>
            <a:endParaRPr lang="en-US" sz="900" dirty="0"/>
          </a:p>
        </p:txBody>
      </p:sp>
      <p:sp>
        <p:nvSpPr>
          <p:cNvPr id="15" name="Shape 11"/>
          <p:cNvSpPr/>
          <p:nvPr/>
        </p:nvSpPr>
        <p:spPr>
          <a:xfrm>
            <a:off x="7269480" y="3904488"/>
            <a:ext cx="1554480" cy="384048"/>
          </a:xfrm>
          <a:prstGeom prst="rect">
            <a:avLst/>
          </a:prstGeom>
          <a:solidFill>
            <a:srgbClr val="10B981"/>
          </a:solidFill>
          <a:ln w="12700">
            <a:solidFill>
              <a:srgbClr val="10B981"/>
            </a:solidFill>
            <a:prstDash val="solid"/>
          </a:ln>
        </p:spPr>
        <p:txBody>
          <a:bodyPr/>
          <a:lstStyle/>
          <a:p>
            <a:endParaRPr lang="en-CA"/>
          </a:p>
        </p:txBody>
      </p:sp>
      <p:sp>
        <p:nvSpPr>
          <p:cNvPr id="16" name="Text 12"/>
          <p:cNvSpPr/>
          <p:nvPr/>
        </p:nvSpPr>
        <p:spPr>
          <a:xfrm>
            <a:off x="7269480" y="3904488"/>
            <a:ext cx="155448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Small: +51.9%</a:t>
            </a:r>
            <a:endParaRPr lang="en-US" sz="900" dirty="0"/>
          </a:p>
        </p:txBody>
      </p:sp>
      <p:sp>
        <p:nvSpPr>
          <p:cNvPr id="17" name="Text 13"/>
          <p:cNvSpPr/>
          <p:nvPr/>
        </p:nvSpPr>
        <p:spPr>
          <a:xfrm>
            <a:off x="5558060" y="3198114"/>
            <a:ext cx="3474720" cy="278892"/>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Full-year volume growth 2019 → 2020:</a:t>
            </a:r>
            <a:endParaRPr lang="en-US" sz="900" dirty="0"/>
          </a:p>
        </p:txBody>
      </p:sp>
      <p:sp>
        <p:nvSpPr>
          <p:cNvPr id="18" name="Shape 14"/>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19" name="Shape 15"/>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20" name="Text 16"/>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Enterprise customers ship 73% of all parcels despite being just 12 accounts. Small customers grew the fastest at +51.9% — a sign that many SMBs launched or expanded e-commerce for the first time during COVID. Every segment grew, confirming this was a market-wide shift, not an individual account effect.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229600" cy="502920"/>
          </a:xfrm>
          <a:prstGeom prst="rect">
            <a:avLst/>
          </a:prstGeom>
          <a:noFill/>
          <a:ln/>
        </p:spPr>
        <p:txBody>
          <a:bodyPr wrap="square" lIns="0" tIns="0" rIns="0" bIns="0" rtlCol="0" anchor="ctr"/>
          <a:lstStyle/>
          <a:p>
            <a:pPr marL="0" indent="0" algn="ctr">
              <a:buNone/>
            </a:pPr>
            <a:r>
              <a:rPr lang="en-US" sz="2400" b="1" dirty="0">
                <a:solidFill>
                  <a:srgbClr val="0D2137"/>
                </a:solidFill>
                <a:latin typeface="Calibri" pitchFamily="34" charset="0"/>
                <a:ea typeface="Calibri" pitchFamily="34" charset="-122"/>
                <a:cs typeface="Calibri" pitchFamily="34" charset="-120"/>
              </a:rPr>
              <a:t>Weekly Volume Trends by Segment</a:t>
            </a:r>
            <a:endParaRPr lang="en-US" sz="2400" dirty="0"/>
          </a:p>
        </p:txBody>
      </p:sp>
      <p:sp>
        <p:nvSpPr>
          <p:cNvPr id="11" name="Shape 5"/>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12" name="Shape 6"/>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13" name="Text 7"/>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Breaking down by segment reveals different surge profiles. Enterprise volumes spiked earliest and hardest. Small customers had a slower initial response but achieved the strongest sustained percentage gains — likely reflecting the time it took smaller businesses to stand up online operations.</a:t>
            </a:r>
            <a:endParaRPr lang="en-US" sz="900" dirty="0"/>
          </a:p>
        </p:txBody>
      </p:sp>
      <p:pic>
        <p:nvPicPr>
          <p:cNvPr id="15" name="Picture 14">
            <a:extLst>
              <a:ext uri="{FF2B5EF4-FFF2-40B4-BE49-F238E27FC236}">
                <a16:creationId xmlns:a16="http://schemas.microsoft.com/office/drawing/2014/main" id="{8D364D6E-DA6D-F231-BD05-1E44347FAE79}"/>
              </a:ext>
            </a:extLst>
          </p:cNvPr>
          <p:cNvPicPr>
            <a:picLocks noChangeAspect="1"/>
          </p:cNvPicPr>
          <p:nvPr/>
        </p:nvPicPr>
        <p:blipFill>
          <a:blip r:embed="rId3"/>
          <a:stretch>
            <a:fillRect/>
          </a:stretch>
        </p:blipFill>
        <p:spPr>
          <a:xfrm>
            <a:off x="274321" y="558043"/>
            <a:ext cx="8595360" cy="398652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685800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Customer Health During COVID Observation Period</a:t>
            </a:r>
            <a:endParaRPr lang="en-US" sz="2200" dirty="0"/>
          </a:p>
        </p:txBody>
      </p:sp>
      <p:sp>
        <p:nvSpPr>
          <p:cNvPr id="7" name="Shape 5"/>
          <p:cNvSpPr/>
          <p:nvPr/>
        </p:nvSpPr>
        <p:spPr>
          <a:xfrm>
            <a:off x="7040880" y="137160"/>
            <a:ext cx="1828800" cy="411480"/>
          </a:xfrm>
          <a:prstGeom prst="rect">
            <a:avLst/>
          </a:prstGeom>
          <a:solidFill>
            <a:srgbClr val="0D2137"/>
          </a:solidFill>
          <a:ln w="12700">
            <a:solidFill>
              <a:srgbClr val="0D2137"/>
            </a:solidFill>
            <a:prstDash val="solid"/>
          </a:ln>
        </p:spPr>
        <p:txBody>
          <a:bodyPr/>
          <a:lstStyle/>
          <a:p>
            <a:endParaRPr lang="en-CA"/>
          </a:p>
        </p:txBody>
      </p:sp>
      <p:sp>
        <p:nvSpPr>
          <p:cNvPr id="8" name="Text 6"/>
          <p:cNvSpPr/>
          <p:nvPr/>
        </p:nvSpPr>
        <p:spPr>
          <a:xfrm>
            <a:off x="7040880" y="137160"/>
            <a:ext cx="1828800" cy="411480"/>
          </a:xfrm>
          <a:prstGeom prst="rect">
            <a:avLst/>
          </a:prstGeom>
          <a:noFill/>
          <a:ln/>
        </p:spPr>
        <p:txBody>
          <a:bodyPr wrap="square" lIns="0" tIns="0" rIns="0" bIns="0"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ISGR: +11.4%</a:t>
            </a:r>
            <a:endParaRPr lang="en-US" sz="1100" dirty="0"/>
          </a:p>
        </p:txBody>
      </p:sp>
      <p:graphicFrame>
        <p:nvGraphicFramePr>
          <p:cNvPr id="9" name="Chart 0"/>
          <p:cNvGraphicFramePr/>
          <p:nvPr/>
        </p:nvGraphicFramePr>
        <p:xfrm>
          <a:off x="274320" y="777240"/>
          <a:ext cx="530352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1"/>
          <p:cNvGraphicFramePr/>
          <p:nvPr/>
        </p:nvGraphicFramePr>
        <p:xfrm>
          <a:off x="5669280" y="777240"/>
          <a:ext cx="320040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12" name="Shape 8"/>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13" name="Text 9"/>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The left chart shows proportions, the right shows actual numbers. Over half of every segment was High Growth — the pandemic was broadly positive for parcel volumes. The declining customers in Small and Medium (34–38%) are worth investigating: these are likely service-sector businesses such as restaurants or salons that saw demand collapse during lockdowns.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229600" cy="502920"/>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Customer Retention Analysis</a:t>
            </a:r>
            <a:endParaRPr lang="en-US" sz="2400" dirty="0"/>
          </a:p>
        </p:txBody>
      </p:sp>
      <p:graphicFrame>
        <p:nvGraphicFramePr>
          <p:cNvPr id="7" name="Chart 0"/>
          <p:cNvGraphicFramePr/>
          <p:nvPr/>
        </p:nvGraphicFramePr>
        <p:xfrm>
          <a:off x="274320" y="777240"/>
          <a:ext cx="54864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035040" y="777240"/>
            <a:ext cx="2834640" cy="71323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9" name="Shape 6"/>
          <p:cNvSpPr/>
          <p:nvPr/>
        </p:nvSpPr>
        <p:spPr>
          <a:xfrm>
            <a:off x="6035040" y="777240"/>
            <a:ext cx="64008" cy="713232"/>
          </a:xfrm>
          <a:prstGeom prst="rect">
            <a:avLst/>
          </a:prstGeom>
          <a:solidFill>
            <a:srgbClr val="0891B2"/>
          </a:solidFill>
          <a:ln w="12700">
            <a:solidFill>
              <a:srgbClr val="0891B2"/>
            </a:solidFill>
            <a:prstDash val="solid"/>
          </a:ln>
        </p:spPr>
        <p:txBody>
          <a:bodyPr/>
          <a:lstStyle/>
          <a:p>
            <a:endParaRPr lang="en-CA"/>
          </a:p>
        </p:txBody>
      </p:sp>
      <p:sp>
        <p:nvSpPr>
          <p:cNvPr id="10" name="Text 7"/>
          <p:cNvSpPr/>
          <p:nvPr/>
        </p:nvSpPr>
        <p:spPr>
          <a:xfrm>
            <a:off x="6172200" y="822960"/>
            <a:ext cx="1371600" cy="228600"/>
          </a:xfrm>
          <a:prstGeom prst="rect">
            <a:avLst/>
          </a:prstGeom>
          <a:noFill/>
          <a:ln/>
        </p:spPr>
        <p:txBody>
          <a:bodyPr wrap="square" lIns="0" tIns="0" rIns="0" bIns="0" rtlCol="0" anchor="ctr"/>
          <a:lstStyle/>
          <a:p>
            <a:pPr marL="0" indent="0">
              <a:buNone/>
            </a:pPr>
            <a:r>
              <a:rPr lang="en-US" sz="1000" b="1" dirty="0">
                <a:solidFill>
                  <a:srgbClr val="0D2137"/>
                </a:solidFill>
                <a:latin typeface="Calibri" pitchFamily="34" charset="0"/>
                <a:ea typeface="Calibri" pitchFamily="34" charset="-122"/>
                <a:cs typeface="Calibri" pitchFamily="34" charset="-120"/>
              </a:rPr>
              <a:t>Enterprise</a:t>
            </a:r>
            <a:endParaRPr lang="en-US" sz="1000" dirty="0"/>
          </a:p>
        </p:txBody>
      </p:sp>
      <p:sp>
        <p:nvSpPr>
          <p:cNvPr id="11" name="Text 8"/>
          <p:cNvSpPr/>
          <p:nvPr/>
        </p:nvSpPr>
        <p:spPr>
          <a:xfrm>
            <a:off x="6172200" y="1051560"/>
            <a:ext cx="1463040" cy="228600"/>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100% retained</a:t>
            </a:r>
            <a:endParaRPr lang="en-US" sz="1000" dirty="0"/>
          </a:p>
        </p:txBody>
      </p:sp>
      <p:sp>
        <p:nvSpPr>
          <p:cNvPr id="12" name="Text 9"/>
          <p:cNvSpPr/>
          <p:nvPr/>
        </p:nvSpPr>
        <p:spPr>
          <a:xfrm>
            <a:off x="6172200" y="1252728"/>
            <a:ext cx="1645920" cy="1828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12 kept · 0 lost</a:t>
            </a:r>
            <a:endParaRPr lang="en-US" sz="900" dirty="0"/>
          </a:p>
        </p:txBody>
      </p:sp>
      <p:sp>
        <p:nvSpPr>
          <p:cNvPr id="13" name="Shape 10"/>
          <p:cNvSpPr/>
          <p:nvPr/>
        </p:nvSpPr>
        <p:spPr>
          <a:xfrm>
            <a:off x="6035040" y="1581912"/>
            <a:ext cx="2834640" cy="71323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14" name="Shape 11"/>
          <p:cNvSpPr/>
          <p:nvPr/>
        </p:nvSpPr>
        <p:spPr>
          <a:xfrm>
            <a:off x="6035040" y="1581912"/>
            <a:ext cx="64008" cy="713232"/>
          </a:xfrm>
          <a:prstGeom prst="rect">
            <a:avLst/>
          </a:prstGeom>
          <a:solidFill>
            <a:srgbClr val="0891B2"/>
          </a:solidFill>
          <a:ln w="12700">
            <a:solidFill>
              <a:srgbClr val="0891B2"/>
            </a:solidFill>
            <a:prstDash val="solid"/>
          </a:ln>
        </p:spPr>
        <p:txBody>
          <a:bodyPr/>
          <a:lstStyle/>
          <a:p>
            <a:endParaRPr lang="en-CA"/>
          </a:p>
        </p:txBody>
      </p:sp>
      <p:sp>
        <p:nvSpPr>
          <p:cNvPr id="15" name="Text 12"/>
          <p:cNvSpPr/>
          <p:nvPr/>
        </p:nvSpPr>
        <p:spPr>
          <a:xfrm>
            <a:off x="6172200" y="1627632"/>
            <a:ext cx="1371600" cy="228600"/>
          </a:xfrm>
          <a:prstGeom prst="rect">
            <a:avLst/>
          </a:prstGeom>
          <a:noFill/>
          <a:ln/>
        </p:spPr>
        <p:txBody>
          <a:bodyPr wrap="square" lIns="0" tIns="0" rIns="0" bIns="0" rtlCol="0" anchor="ctr"/>
          <a:lstStyle/>
          <a:p>
            <a:pPr marL="0" indent="0">
              <a:buNone/>
            </a:pPr>
            <a:r>
              <a:rPr lang="en-US" sz="1000" b="1" dirty="0">
                <a:solidFill>
                  <a:srgbClr val="0D2137"/>
                </a:solidFill>
                <a:latin typeface="Calibri" pitchFamily="34" charset="0"/>
                <a:ea typeface="Calibri" pitchFamily="34" charset="-122"/>
                <a:cs typeface="Calibri" pitchFamily="34" charset="-120"/>
              </a:rPr>
              <a:t>Large</a:t>
            </a:r>
            <a:endParaRPr lang="en-US" sz="1000" dirty="0"/>
          </a:p>
        </p:txBody>
      </p:sp>
      <p:sp>
        <p:nvSpPr>
          <p:cNvPr id="16" name="Text 13"/>
          <p:cNvSpPr/>
          <p:nvPr/>
        </p:nvSpPr>
        <p:spPr>
          <a:xfrm>
            <a:off x="6172200" y="1856232"/>
            <a:ext cx="1463040" cy="228600"/>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100% retained</a:t>
            </a:r>
            <a:endParaRPr lang="en-US" sz="1000" dirty="0"/>
          </a:p>
        </p:txBody>
      </p:sp>
      <p:sp>
        <p:nvSpPr>
          <p:cNvPr id="17" name="Text 14"/>
          <p:cNvSpPr/>
          <p:nvPr/>
        </p:nvSpPr>
        <p:spPr>
          <a:xfrm>
            <a:off x="6172200" y="2057400"/>
            <a:ext cx="1645920" cy="1828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15 kept · 0 lost</a:t>
            </a:r>
            <a:endParaRPr lang="en-US" sz="900" dirty="0"/>
          </a:p>
        </p:txBody>
      </p:sp>
      <p:sp>
        <p:nvSpPr>
          <p:cNvPr id="18" name="Shape 15"/>
          <p:cNvSpPr/>
          <p:nvPr/>
        </p:nvSpPr>
        <p:spPr>
          <a:xfrm>
            <a:off x="6035040" y="2386584"/>
            <a:ext cx="2834640" cy="71323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19" name="Shape 16"/>
          <p:cNvSpPr/>
          <p:nvPr/>
        </p:nvSpPr>
        <p:spPr>
          <a:xfrm>
            <a:off x="6035040" y="2386584"/>
            <a:ext cx="64008" cy="713232"/>
          </a:xfrm>
          <a:prstGeom prst="rect">
            <a:avLst/>
          </a:prstGeom>
          <a:solidFill>
            <a:srgbClr val="0891B2"/>
          </a:solidFill>
          <a:ln w="12700">
            <a:solidFill>
              <a:srgbClr val="0891B2"/>
            </a:solidFill>
            <a:prstDash val="solid"/>
          </a:ln>
        </p:spPr>
        <p:txBody>
          <a:bodyPr/>
          <a:lstStyle/>
          <a:p>
            <a:endParaRPr lang="en-CA"/>
          </a:p>
        </p:txBody>
      </p:sp>
      <p:sp>
        <p:nvSpPr>
          <p:cNvPr id="20" name="Text 17"/>
          <p:cNvSpPr/>
          <p:nvPr/>
        </p:nvSpPr>
        <p:spPr>
          <a:xfrm>
            <a:off x="6172200" y="2432304"/>
            <a:ext cx="1371600" cy="228600"/>
          </a:xfrm>
          <a:prstGeom prst="rect">
            <a:avLst/>
          </a:prstGeom>
          <a:noFill/>
          <a:ln/>
        </p:spPr>
        <p:txBody>
          <a:bodyPr wrap="square" lIns="0" tIns="0" rIns="0" bIns="0" rtlCol="0" anchor="ctr"/>
          <a:lstStyle/>
          <a:p>
            <a:pPr marL="0" indent="0">
              <a:buNone/>
            </a:pPr>
            <a:r>
              <a:rPr lang="en-US" sz="1000" b="1" dirty="0">
                <a:solidFill>
                  <a:srgbClr val="0D2137"/>
                </a:solidFill>
                <a:latin typeface="Calibri" pitchFamily="34" charset="0"/>
                <a:ea typeface="Calibri" pitchFamily="34" charset="-122"/>
                <a:cs typeface="Calibri" pitchFamily="34" charset="-120"/>
              </a:rPr>
              <a:t>Medium</a:t>
            </a:r>
            <a:endParaRPr lang="en-US" sz="1000" dirty="0"/>
          </a:p>
        </p:txBody>
      </p:sp>
      <p:sp>
        <p:nvSpPr>
          <p:cNvPr id="21" name="Text 18"/>
          <p:cNvSpPr/>
          <p:nvPr/>
        </p:nvSpPr>
        <p:spPr>
          <a:xfrm>
            <a:off x="6172200" y="2660904"/>
            <a:ext cx="1463040" cy="228600"/>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99.4% retained</a:t>
            </a:r>
            <a:endParaRPr lang="en-US" sz="1000" dirty="0"/>
          </a:p>
        </p:txBody>
      </p:sp>
      <p:sp>
        <p:nvSpPr>
          <p:cNvPr id="22" name="Text 19"/>
          <p:cNvSpPr/>
          <p:nvPr/>
        </p:nvSpPr>
        <p:spPr>
          <a:xfrm>
            <a:off x="6172200" y="2862072"/>
            <a:ext cx="1645920" cy="1828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173 kept · 1 lost</a:t>
            </a:r>
            <a:endParaRPr lang="en-US" sz="900" dirty="0"/>
          </a:p>
        </p:txBody>
      </p:sp>
      <p:sp>
        <p:nvSpPr>
          <p:cNvPr id="23" name="Shape 20"/>
          <p:cNvSpPr/>
          <p:nvPr/>
        </p:nvSpPr>
        <p:spPr>
          <a:xfrm>
            <a:off x="6035040" y="3191256"/>
            <a:ext cx="2834640" cy="71323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CA"/>
          </a:p>
        </p:txBody>
      </p:sp>
      <p:sp>
        <p:nvSpPr>
          <p:cNvPr id="24" name="Shape 21"/>
          <p:cNvSpPr/>
          <p:nvPr/>
        </p:nvSpPr>
        <p:spPr>
          <a:xfrm>
            <a:off x="6035040" y="3191256"/>
            <a:ext cx="64008" cy="713232"/>
          </a:xfrm>
          <a:prstGeom prst="rect">
            <a:avLst/>
          </a:prstGeom>
          <a:solidFill>
            <a:srgbClr val="0891B2"/>
          </a:solidFill>
          <a:ln w="12700">
            <a:solidFill>
              <a:srgbClr val="0891B2"/>
            </a:solidFill>
            <a:prstDash val="solid"/>
          </a:ln>
        </p:spPr>
        <p:txBody>
          <a:bodyPr/>
          <a:lstStyle/>
          <a:p>
            <a:endParaRPr lang="en-CA"/>
          </a:p>
        </p:txBody>
      </p:sp>
      <p:sp>
        <p:nvSpPr>
          <p:cNvPr id="25" name="Text 22"/>
          <p:cNvSpPr/>
          <p:nvPr/>
        </p:nvSpPr>
        <p:spPr>
          <a:xfrm>
            <a:off x="6172200" y="3236976"/>
            <a:ext cx="1371600" cy="228600"/>
          </a:xfrm>
          <a:prstGeom prst="rect">
            <a:avLst/>
          </a:prstGeom>
          <a:noFill/>
          <a:ln/>
        </p:spPr>
        <p:txBody>
          <a:bodyPr wrap="square" lIns="0" tIns="0" rIns="0" bIns="0" rtlCol="0" anchor="ctr"/>
          <a:lstStyle/>
          <a:p>
            <a:pPr marL="0" indent="0">
              <a:buNone/>
            </a:pPr>
            <a:r>
              <a:rPr lang="en-US" sz="1000" b="1" dirty="0">
                <a:solidFill>
                  <a:srgbClr val="0D2137"/>
                </a:solidFill>
                <a:latin typeface="Calibri" pitchFamily="34" charset="0"/>
                <a:ea typeface="Calibri" pitchFamily="34" charset="-122"/>
                <a:cs typeface="Calibri" pitchFamily="34" charset="-120"/>
              </a:rPr>
              <a:t>Small</a:t>
            </a:r>
            <a:endParaRPr lang="en-US" sz="1000" dirty="0"/>
          </a:p>
        </p:txBody>
      </p:sp>
      <p:sp>
        <p:nvSpPr>
          <p:cNvPr id="26" name="Text 23"/>
          <p:cNvSpPr/>
          <p:nvPr/>
        </p:nvSpPr>
        <p:spPr>
          <a:xfrm>
            <a:off x="6172200" y="3465576"/>
            <a:ext cx="1463040" cy="228600"/>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97.1% retained</a:t>
            </a:r>
            <a:endParaRPr lang="en-US" sz="1000" dirty="0"/>
          </a:p>
        </p:txBody>
      </p:sp>
      <p:sp>
        <p:nvSpPr>
          <p:cNvPr id="27" name="Text 24"/>
          <p:cNvSpPr/>
          <p:nvPr/>
        </p:nvSpPr>
        <p:spPr>
          <a:xfrm>
            <a:off x="6172200" y="3666744"/>
            <a:ext cx="1645920" cy="18288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835 kept · 25 lost</a:t>
            </a:r>
            <a:endParaRPr lang="en-US" sz="900" dirty="0"/>
          </a:p>
        </p:txBody>
      </p:sp>
      <p:sp>
        <p:nvSpPr>
          <p:cNvPr id="28" name="Shape 25"/>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29" name="Shape 26"/>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30" name="Text 27"/>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Enterprise and Large had perfect retention — not a single account was lost. Even Small customers, our most at-risk segment, retained 97.1% of their 2019 base. This tells us that while some customers declined in volume, very few stopped shipping entirely. ABC Company's client relationships held up well through the pandemic.</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1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0" y="54864"/>
            <a:ext cx="91440" cy="5088636"/>
          </a:xfrm>
          <a:prstGeom prst="rect">
            <a:avLst/>
          </a:prstGeom>
          <a:solidFill>
            <a:srgbClr val="0891B2"/>
          </a:solidFill>
          <a:ln w="12700">
            <a:solidFill>
              <a:srgbClr val="0891B2"/>
            </a:solidFill>
            <a:prstDash val="solid"/>
          </a:ln>
        </p:spPr>
        <p:txBody>
          <a:bodyPr/>
          <a:lstStyle/>
          <a:p>
            <a:endParaRPr lang="en-CA"/>
          </a:p>
        </p:txBody>
      </p:sp>
      <p:sp>
        <p:nvSpPr>
          <p:cNvPr id="4" name="Shape 2"/>
          <p:cNvSpPr/>
          <p:nvPr/>
        </p:nvSpPr>
        <p:spPr>
          <a:xfrm>
            <a:off x="0" y="5097780"/>
            <a:ext cx="9144000" cy="45720"/>
          </a:xfrm>
          <a:prstGeom prst="rect">
            <a:avLst/>
          </a:prstGeom>
          <a:solidFill>
            <a:srgbClr val="0D2137"/>
          </a:solidFill>
          <a:ln w="12700">
            <a:solidFill>
              <a:srgbClr val="0D2137"/>
            </a:solidFill>
            <a:prstDash val="solid"/>
          </a:ln>
        </p:spPr>
        <p:txBody>
          <a:bodyPr/>
          <a:lstStyle/>
          <a:p>
            <a:endParaRPr lang="en-CA"/>
          </a:p>
        </p:txBody>
      </p:sp>
      <p:sp>
        <p:nvSpPr>
          <p:cNvPr id="5" name="Text 3"/>
          <p:cNvSpPr/>
          <p:nvPr/>
        </p:nvSpPr>
        <p:spPr>
          <a:xfrm>
            <a:off x="274320" y="4919472"/>
            <a:ext cx="8229600" cy="182880"/>
          </a:xfrm>
          <a:prstGeom prst="rect">
            <a:avLst/>
          </a:prstGeom>
          <a:noFill/>
          <a:ln/>
        </p:spPr>
        <p:txBody>
          <a:bodyPr wrap="square" lIns="0" tIns="0" rIns="0" bIns="0" rtlCol="0" anchor="ctr"/>
          <a:lstStyle/>
          <a:p>
            <a:pPr marL="0" indent="0" algn="l">
              <a:buNone/>
            </a:pPr>
            <a:r>
              <a:rPr lang="en-US" sz="800" dirty="0">
                <a:solidFill>
                  <a:srgbClr val="64748B"/>
                </a:solidFill>
                <a:latin typeface="Calibri" pitchFamily="34" charset="0"/>
                <a:ea typeface="Calibri" pitchFamily="34" charset="-122"/>
                <a:cs typeface="Calibri" pitchFamily="34" charset="-120"/>
              </a:rPr>
              <a:t>ABC Company Parcel Business Analysis</a:t>
            </a:r>
            <a:endParaRPr lang="en-US" sz="800" dirty="0"/>
          </a:p>
        </p:txBody>
      </p:sp>
      <p:sp>
        <p:nvSpPr>
          <p:cNvPr id="6" name="Text 4"/>
          <p:cNvSpPr/>
          <p:nvPr/>
        </p:nvSpPr>
        <p:spPr>
          <a:xfrm>
            <a:off x="274320" y="137160"/>
            <a:ext cx="8229600" cy="502920"/>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Revenue Impact by Customer Group (COVID Period)</a:t>
            </a:r>
            <a:endParaRPr lang="en-US" sz="2400" dirty="0"/>
          </a:p>
        </p:txBody>
      </p:sp>
      <p:graphicFrame>
        <p:nvGraphicFramePr>
          <p:cNvPr id="7" name="Chart 0"/>
          <p:cNvGraphicFramePr/>
          <p:nvPr/>
        </p:nvGraphicFramePr>
        <p:xfrm>
          <a:off x="274320" y="777240"/>
          <a:ext cx="54864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943600" y="777240"/>
            <a:ext cx="2926080" cy="1508760"/>
          </a:xfrm>
          <a:prstGeom prst="rect">
            <a:avLst/>
          </a:prstGeom>
          <a:solidFill>
            <a:srgbClr val="0D2137"/>
          </a:solidFill>
          <a:ln w="12700">
            <a:solidFill>
              <a:srgbClr val="0D2137"/>
            </a:solidFill>
            <a:prstDash val="solid"/>
          </a:ln>
          <a:effectLst>
            <a:outerShdw blurRad="101600" dist="38100" dir="8100000" algn="bl" rotWithShape="0">
              <a:srgbClr val="000000">
                <a:alpha val="12000"/>
              </a:srgbClr>
            </a:outerShdw>
          </a:effectLst>
        </p:spPr>
        <p:txBody>
          <a:bodyPr/>
          <a:lstStyle/>
          <a:p>
            <a:endParaRPr lang="en-CA"/>
          </a:p>
        </p:txBody>
      </p:sp>
      <p:sp>
        <p:nvSpPr>
          <p:cNvPr id="9" name="Text 6"/>
          <p:cNvSpPr/>
          <p:nvPr/>
        </p:nvSpPr>
        <p:spPr>
          <a:xfrm>
            <a:off x="5943600" y="804672"/>
            <a:ext cx="2926080" cy="502920"/>
          </a:xfrm>
          <a:prstGeom prst="rect">
            <a:avLst/>
          </a:prstGeom>
          <a:noFill/>
          <a:ln/>
        </p:spPr>
        <p:txBody>
          <a:bodyPr wrap="square" lIns="0" tIns="0" rIns="0" bIns="0" rtlCol="0" anchor="ctr"/>
          <a:lstStyle/>
          <a:p>
            <a:pPr marL="0" indent="0" algn="ctr">
              <a:buNone/>
            </a:pPr>
            <a:r>
              <a:rPr lang="en-US" sz="1100" dirty="0">
                <a:solidFill>
                  <a:srgbClr val="E0F7FA"/>
                </a:solidFill>
                <a:latin typeface="Calibri" pitchFamily="34" charset="0"/>
                <a:ea typeface="Calibri" pitchFamily="34" charset="-122"/>
                <a:cs typeface="Calibri" pitchFamily="34" charset="-120"/>
              </a:rPr>
              <a:t>Total Revenue</a:t>
            </a:r>
            <a:endParaRPr lang="en-US" sz="1100" dirty="0"/>
          </a:p>
          <a:p>
            <a:pPr marL="0" indent="0" algn="ctr">
              <a:buNone/>
            </a:pPr>
            <a:r>
              <a:rPr lang="en-US" sz="1100" dirty="0">
                <a:solidFill>
                  <a:srgbClr val="E0F7FA"/>
                </a:solidFill>
                <a:latin typeface="Calibri" pitchFamily="34" charset="0"/>
                <a:ea typeface="Calibri" pitchFamily="34" charset="-122"/>
                <a:cs typeface="Calibri" pitchFamily="34" charset="-120"/>
              </a:rPr>
              <a:t>(COVID Period)</a:t>
            </a:r>
            <a:endParaRPr lang="en-US" sz="1100" dirty="0"/>
          </a:p>
        </p:txBody>
      </p:sp>
      <p:sp>
        <p:nvSpPr>
          <p:cNvPr id="10" name="Text 7"/>
          <p:cNvSpPr/>
          <p:nvPr/>
        </p:nvSpPr>
        <p:spPr>
          <a:xfrm>
            <a:off x="5943600" y="1261872"/>
            <a:ext cx="292608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$1.135B</a:t>
            </a:r>
            <a:endParaRPr lang="en-US" sz="3000" dirty="0"/>
          </a:p>
        </p:txBody>
      </p:sp>
      <p:sp>
        <p:nvSpPr>
          <p:cNvPr id="11" name="Text 8"/>
          <p:cNvSpPr/>
          <p:nvPr/>
        </p:nvSpPr>
        <p:spPr>
          <a:xfrm>
            <a:off x="5943600" y="1920240"/>
            <a:ext cx="2926080" cy="274320"/>
          </a:xfrm>
          <a:prstGeom prst="rect">
            <a:avLst/>
          </a:prstGeom>
          <a:noFill/>
          <a:ln/>
        </p:spPr>
        <p:txBody>
          <a:bodyPr wrap="square" lIns="0" tIns="0" rIns="0" bIns="0" rtlCol="0" anchor="ctr"/>
          <a:lstStyle/>
          <a:p>
            <a:pPr marL="0" indent="0" algn="ctr">
              <a:buNone/>
            </a:pPr>
            <a:r>
              <a:rPr lang="en-US" sz="1000" dirty="0">
                <a:solidFill>
                  <a:srgbClr val="10B981"/>
                </a:solidFill>
                <a:latin typeface="Calibri" pitchFamily="34" charset="0"/>
                <a:ea typeface="Calibri" pitchFamily="34" charset="-122"/>
                <a:cs typeface="Calibri" pitchFamily="34" charset="-120"/>
              </a:rPr>
              <a:t>vs $767M in 2019  (+48.0%)</a:t>
            </a:r>
            <a:endParaRPr lang="en-US" sz="1000" dirty="0"/>
          </a:p>
        </p:txBody>
      </p:sp>
      <p:sp>
        <p:nvSpPr>
          <p:cNvPr id="12" name="Shape 9"/>
          <p:cNvSpPr/>
          <p:nvPr/>
        </p:nvSpPr>
        <p:spPr>
          <a:xfrm>
            <a:off x="5943600" y="2377440"/>
            <a:ext cx="2926080" cy="457200"/>
          </a:xfrm>
          <a:prstGeom prst="rect">
            <a:avLst/>
          </a:prstGeom>
          <a:solidFill>
            <a:srgbClr val="FFFFFF"/>
          </a:solidFill>
          <a:ln w="12700">
            <a:solidFill>
              <a:srgbClr val="E2E8F0"/>
            </a:solidFill>
            <a:prstDash val="solid"/>
          </a:ln>
        </p:spPr>
        <p:txBody>
          <a:bodyPr/>
          <a:lstStyle/>
          <a:p>
            <a:endParaRPr lang="en-CA"/>
          </a:p>
        </p:txBody>
      </p:sp>
      <p:sp>
        <p:nvSpPr>
          <p:cNvPr id="13" name="Shape 10"/>
          <p:cNvSpPr/>
          <p:nvPr/>
        </p:nvSpPr>
        <p:spPr>
          <a:xfrm>
            <a:off x="5943600" y="2377440"/>
            <a:ext cx="64008" cy="457200"/>
          </a:xfrm>
          <a:prstGeom prst="rect">
            <a:avLst/>
          </a:prstGeom>
          <a:solidFill>
            <a:srgbClr val="0891B2"/>
          </a:solidFill>
          <a:ln w="12700">
            <a:solidFill>
              <a:srgbClr val="0891B2"/>
            </a:solidFill>
            <a:prstDash val="solid"/>
          </a:ln>
        </p:spPr>
        <p:txBody>
          <a:bodyPr/>
          <a:lstStyle/>
          <a:p>
            <a:endParaRPr lang="en-CA"/>
          </a:p>
        </p:txBody>
      </p:sp>
      <p:sp>
        <p:nvSpPr>
          <p:cNvPr id="14" name="Text 11"/>
          <p:cNvSpPr/>
          <p:nvPr/>
        </p:nvSpPr>
        <p:spPr>
          <a:xfrm>
            <a:off x="6080760" y="2395728"/>
            <a:ext cx="1097280" cy="201168"/>
          </a:xfrm>
          <a:prstGeom prst="rect">
            <a:avLst/>
          </a:prstGeom>
          <a:noFill/>
          <a:ln/>
        </p:spPr>
        <p:txBody>
          <a:bodyPr wrap="square" lIns="0" tIns="0" rIns="0" bIns="0" rtlCol="0" anchor="ctr"/>
          <a:lstStyle/>
          <a:p>
            <a:pPr marL="0" indent="0">
              <a:buNone/>
            </a:pPr>
            <a:r>
              <a:rPr lang="en-US" sz="900" b="1" dirty="0">
                <a:solidFill>
                  <a:srgbClr val="0D2137"/>
                </a:solidFill>
                <a:latin typeface="Calibri" pitchFamily="34" charset="0"/>
                <a:ea typeface="Calibri" pitchFamily="34" charset="-122"/>
                <a:cs typeface="Calibri" pitchFamily="34" charset="-120"/>
              </a:rPr>
              <a:t>Enterprise</a:t>
            </a:r>
            <a:endParaRPr lang="en-US" sz="900" dirty="0"/>
          </a:p>
        </p:txBody>
      </p:sp>
      <p:sp>
        <p:nvSpPr>
          <p:cNvPr id="15" name="Text 12"/>
          <p:cNvSpPr/>
          <p:nvPr/>
        </p:nvSpPr>
        <p:spPr>
          <a:xfrm>
            <a:off x="6080760" y="2615184"/>
            <a:ext cx="1463040" cy="164592"/>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$548.8M → $805.5M</a:t>
            </a:r>
            <a:endParaRPr lang="en-US" sz="800" dirty="0"/>
          </a:p>
        </p:txBody>
      </p:sp>
      <p:sp>
        <p:nvSpPr>
          <p:cNvPr id="16" name="Text 13"/>
          <p:cNvSpPr/>
          <p:nvPr/>
        </p:nvSpPr>
        <p:spPr>
          <a:xfrm>
            <a:off x="7955280" y="2423160"/>
            <a:ext cx="822960" cy="320040"/>
          </a:xfrm>
          <a:prstGeom prst="rect">
            <a:avLst/>
          </a:prstGeom>
          <a:noFill/>
          <a:ln/>
        </p:spPr>
        <p:txBody>
          <a:bodyPr wrap="square" lIns="0" tIns="0" rIns="0" bIns="0"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+46.8%</a:t>
            </a:r>
            <a:endParaRPr lang="en-US" sz="1200" dirty="0"/>
          </a:p>
        </p:txBody>
      </p:sp>
      <p:sp>
        <p:nvSpPr>
          <p:cNvPr id="17" name="Shape 14"/>
          <p:cNvSpPr/>
          <p:nvPr/>
        </p:nvSpPr>
        <p:spPr>
          <a:xfrm>
            <a:off x="5943600" y="2926080"/>
            <a:ext cx="2926080" cy="457200"/>
          </a:xfrm>
          <a:prstGeom prst="rect">
            <a:avLst/>
          </a:prstGeom>
          <a:solidFill>
            <a:srgbClr val="FFFFFF"/>
          </a:solidFill>
          <a:ln w="12700">
            <a:solidFill>
              <a:srgbClr val="E2E8F0"/>
            </a:solidFill>
            <a:prstDash val="solid"/>
          </a:ln>
        </p:spPr>
        <p:txBody>
          <a:bodyPr/>
          <a:lstStyle/>
          <a:p>
            <a:endParaRPr lang="en-CA"/>
          </a:p>
        </p:txBody>
      </p:sp>
      <p:sp>
        <p:nvSpPr>
          <p:cNvPr id="18" name="Shape 15"/>
          <p:cNvSpPr/>
          <p:nvPr/>
        </p:nvSpPr>
        <p:spPr>
          <a:xfrm>
            <a:off x="5943600" y="2926080"/>
            <a:ext cx="64008" cy="457200"/>
          </a:xfrm>
          <a:prstGeom prst="rect">
            <a:avLst/>
          </a:prstGeom>
          <a:solidFill>
            <a:srgbClr val="0891B2"/>
          </a:solidFill>
          <a:ln w="12700">
            <a:solidFill>
              <a:srgbClr val="0891B2"/>
            </a:solidFill>
            <a:prstDash val="solid"/>
          </a:ln>
        </p:spPr>
        <p:txBody>
          <a:bodyPr/>
          <a:lstStyle/>
          <a:p>
            <a:endParaRPr lang="en-CA"/>
          </a:p>
        </p:txBody>
      </p:sp>
      <p:sp>
        <p:nvSpPr>
          <p:cNvPr id="19" name="Text 16"/>
          <p:cNvSpPr/>
          <p:nvPr/>
        </p:nvSpPr>
        <p:spPr>
          <a:xfrm>
            <a:off x="6080760" y="2944368"/>
            <a:ext cx="1097280" cy="201168"/>
          </a:xfrm>
          <a:prstGeom prst="rect">
            <a:avLst/>
          </a:prstGeom>
          <a:noFill/>
          <a:ln/>
        </p:spPr>
        <p:txBody>
          <a:bodyPr wrap="square" lIns="0" tIns="0" rIns="0" bIns="0" rtlCol="0" anchor="ctr"/>
          <a:lstStyle/>
          <a:p>
            <a:pPr marL="0" indent="0">
              <a:buNone/>
            </a:pPr>
            <a:r>
              <a:rPr lang="en-US" sz="900" b="1" dirty="0">
                <a:solidFill>
                  <a:srgbClr val="0D2137"/>
                </a:solidFill>
                <a:latin typeface="Calibri" pitchFamily="34" charset="0"/>
                <a:ea typeface="Calibri" pitchFamily="34" charset="-122"/>
                <a:cs typeface="Calibri" pitchFamily="34" charset="-120"/>
              </a:rPr>
              <a:t>Large</a:t>
            </a:r>
            <a:endParaRPr lang="en-US" sz="900" dirty="0"/>
          </a:p>
        </p:txBody>
      </p:sp>
      <p:sp>
        <p:nvSpPr>
          <p:cNvPr id="20" name="Text 17"/>
          <p:cNvSpPr/>
          <p:nvPr/>
        </p:nvSpPr>
        <p:spPr>
          <a:xfrm>
            <a:off x="6080760" y="3163824"/>
            <a:ext cx="1463040" cy="164592"/>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$60.6M → $88.6M</a:t>
            </a:r>
            <a:endParaRPr lang="en-US" sz="800" dirty="0"/>
          </a:p>
        </p:txBody>
      </p:sp>
      <p:sp>
        <p:nvSpPr>
          <p:cNvPr id="21" name="Text 18"/>
          <p:cNvSpPr/>
          <p:nvPr/>
        </p:nvSpPr>
        <p:spPr>
          <a:xfrm>
            <a:off x="7955280" y="2971800"/>
            <a:ext cx="822960" cy="320040"/>
          </a:xfrm>
          <a:prstGeom prst="rect">
            <a:avLst/>
          </a:prstGeom>
          <a:noFill/>
          <a:ln/>
        </p:spPr>
        <p:txBody>
          <a:bodyPr wrap="square" lIns="0" tIns="0" rIns="0" bIns="0"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+46.2%</a:t>
            </a:r>
            <a:endParaRPr lang="en-US" sz="1200" dirty="0"/>
          </a:p>
        </p:txBody>
      </p:sp>
      <p:sp>
        <p:nvSpPr>
          <p:cNvPr id="22" name="Shape 19"/>
          <p:cNvSpPr/>
          <p:nvPr/>
        </p:nvSpPr>
        <p:spPr>
          <a:xfrm>
            <a:off x="5943600" y="3474720"/>
            <a:ext cx="2926080" cy="457200"/>
          </a:xfrm>
          <a:prstGeom prst="rect">
            <a:avLst/>
          </a:prstGeom>
          <a:solidFill>
            <a:srgbClr val="FFFFFF"/>
          </a:solidFill>
          <a:ln w="12700">
            <a:solidFill>
              <a:srgbClr val="E2E8F0"/>
            </a:solidFill>
            <a:prstDash val="solid"/>
          </a:ln>
        </p:spPr>
        <p:txBody>
          <a:bodyPr/>
          <a:lstStyle/>
          <a:p>
            <a:endParaRPr lang="en-CA"/>
          </a:p>
        </p:txBody>
      </p:sp>
      <p:sp>
        <p:nvSpPr>
          <p:cNvPr id="23" name="Shape 20"/>
          <p:cNvSpPr/>
          <p:nvPr/>
        </p:nvSpPr>
        <p:spPr>
          <a:xfrm>
            <a:off x="5943600" y="3474720"/>
            <a:ext cx="64008" cy="457200"/>
          </a:xfrm>
          <a:prstGeom prst="rect">
            <a:avLst/>
          </a:prstGeom>
          <a:solidFill>
            <a:srgbClr val="0891B2"/>
          </a:solidFill>
          <a:ln w="12700">
            <a:solidFill>
              <a:srgbClr val="0891B2"/>
            </a:solidFill>
            <a:prstDash val="solid"/>
          </a:ln>
        </p:spPr>
        <p:txBody>
          <a:bodyPr/>
          <a:lstStyle/>
          <a:p>
            <a:endParaRPr lang="en-CA"/>
          </a:p>
        </p:txBody>
      </p:sp>
      <p:sp>
        <p:nvSpPr>
          <p:cNvPr id="24" name="Text 21"/>
          <p:cNvSpPr/>
          <p:nvPr/>
        </p:nvSpPr>
        <p:spPr>
          <a:xfrm>
            <a:off x="6080760" y="3493008"/>
            <a:ext cx="1097280" cy="201168"/>
          </a:xfrm>
          <a:prstGeom prst="rect">
            <a:avLst/>
          </a:prstGeom>
          <a:noFill/>
          <a:ln/>
        </p:spPr>
        <p:txBody>
          <a:bodyPr wrap="square" lIns="0" tIns="0" rIns="0" bIns="0" rtlCol="0" anchor="ctr"/>
          <a:lstStyle/>
          <a:p>
            <a:pPr marL="0" indent="0">
              <a:buNone/>
            </a:pPr>
            <a:r>
              <a:rPr lang="en-US" sz="900" b="1" dirty="0">
                <a:solidFill>
                  <a:srgbClr val="0D2137"/>
                </a:solidFill>
                <a:latin typeface="Calibri" pitchFamily="34" charset="0"/>
                <a:ea typeface="Calibri" pitchFamily="34" charset="-122"/>
                <a:cs typeface="Calibri" pitchFamily="34" charset="-120"/>
              </a:rPr>
              <a:t>Medium</a:t>
            </a:r>
            <a:endParaRPr lang="en-US" sz="900" dirty="0"/>
          </a:p>
        </p:txBody>
      </p:sp>
      <p:sp>
        <p:nvSpPr>
          <p:cNvPr id="25" name="Text 22"/>
          <p:cNvSpPr/>
          <p:nvPr/>
        </p:nvSpPr>
        <p:spPr>
          <a:xfrm>
            <a:off x="6080760" y="3712464"/>
            <a:ext cx="1463040" cy="164592"/>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$111.5M → $166.4M</a:t>
            </a:r>
            <a:endParaRPr lang="en-US" sz="800" dirty="0"/>
          </a:p>
        </p:txBody>
      </p:sp>
      <p:sp>
        <p:nvSpPr>
          <p:cNvPr id="26" name="Text 23"/>
          <p:cNvSpPr/>
          <p:nvPr/>
        </p:nvSpPr>
        <p:spPr>
          <a:xfrm>
            <a:off x="7955280" y="3520440"/>
            <a:ext cx="822960" cy="320040"/>
          </a:xfrm>
          <a:prstGeom prst="rect">
            <a:avLst/>
          </a:prstGeom>
          <a:noFill/>
          <a:ln/>
        </p:spPr>
        <p:txBody>
          <a:bodyPr wrap="square" lIns="0" tIns="0" rIns="0" bIns="0"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+49.2%</a:t>
            </a:r>
            <a:endParaRPr lang="en-US" sz="1200" dirty="0"/>
          </a:p>
        </p:txBody>
      </p:sp>
      <p:sp>
        <p:nvSpPr>
          <p:cNvPr id="27" name="Shape 24"/>
          <p:cNvSpPr/>
          <p:nvPr/>
        </p:nvSpPr>
        <p:spPr>
          <a:xfrm>
            <a:off x="5943600" y="4023360"/>
            <a:ext cx="2926080" cy="457200"/>
          </a:xfrm>
          <a:prstGeom prst="rect">
            <a:avLst/>
          </a:prstGeom>
          <a:solidFill>
            <a:srgbClr val="FFFFFF"/>
          </a:solidFill>
          <a:ln w="12700">
            <a:solidFill>
              <a:srgbClr val="E2E8F0"/>
            </a:solidFill>
            <a:prstDash val="solid"/>
          </a:ln>
        </p:spPr>
        <p:txBody>
          <a:bodyPr/>
          <a:lstStyle/>
          <a:p>
            <a:endParaRPr lang="en-CA"/>
          </a:p>
        </p:txBody>
      </p:sp>
      <p:sp>
        <p:nvSpPr>
          <p:cNvPr id="28" name="Shape 25"/>
          <p:cNvSpPr/>
          <p:nvPr/>
        </p:nvSpPr>
        <p:spPr>
          <a:xfrm>
            <a:off x="5943600" y="4023360"/>
            <a:ext cx="64008" cy="457200"/>
          </a:xfrm>
          <a:prstGeom prst="rect">
            <a:avLst/>
          </a:prstGeom>
          <a:solidFill>
            <a:srgbClr val="0891B2"/>
          </a:solidFill>
          <a:ln w="12700">
            <a:solidFill>
              <a:srgbClr val="0891B2"/>
            </a:solidFill>
            <a:prstDash val="solid"/>
          </a:ln>
        </p:spPr>
        <p:txBody>
          <a:bodyPr/>
          <a:lstStyle/>
          <a:p>
            <a:endParaRPr lang="en-CA"/>
          </a:p>
        </p:txBody>
      </p:sp>
      <p:sp>
        <p:nvSpPr>
          <p:cNvPr id="29" name="Text 26"/>
          <p:cNvSpPr/>
          <p:nvPr/>
        </p:nvSpPr>
        <p:spPr>
          <a:xfrm>
            <a:off x="6080760" y="4041648"/>
            <a:ext cx="1097280" cy="201168"/>
          </a:xfrm>
          <a:prstGeom prst="rect">
            <a:avLst/>
          </a:prstGeom>
          <a:noFill/>
          <a:ln/>
        </p:spPr>
        <p:txBody>
          <a:bodyPr wrap="square" lIns="0" tIns="0" rIns="0" bIns="0" rtlCol="0" anchor="ctr"/>
          <a:lstStyle/>
          <a:p>
            <a:pPr marL="0" indent="0">
              <a:buNone/>
            </a:pPr>
            <a:r>
              <a:rPr lang="en-US" sz="900" b="1" dirty="0">
                <a:solidFill>
                  <a:srgbClr val="0D2137"/>
                </a:solidFill>
                <a:latin typeface="Calibri" pitchFamily="34" charset="0"/>
                <a:ea typeface="Calibri" pitchFamily="34" charset="-122"/>
                <a:cs typeface="Calibri" pitchFamily="34" charset="-120"/>
              </a:rPr>
              <a:t>Small</a:t>
            </a:r>
            <a:endParaRPr lang="en-US" sz="900" dirty="0"/>
          </a:p>
        </p:txBody>
      </p:sp>
      <p:sp>
        <p:nvSpPr>
          <p:cNvPr id="30" name="Text 27"/>
          <p:cNvSpPr/>
          <p:nvPr/>
        </p:nvSpPr>
        <p:spPr>
          <a:xfrm>
            <a:off x="6080760" y="4261104"/>
            <a:ext cx="1463040" cy="164592"/>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$46.1M → $74.8M</a:t>
            </a:r>
            <a:endParaRPr lang="en-US" sz="800" dirty="0"/>
          </a:p>
        </p:txBody>
      </p:sp>
      <p:sp>
        <p:nvSpPr>
          <p:cNvPr id="31" name="Text 28"/>
          <p:cNvSpPr/>
          <p:nvPr/>
        </p:nvSpPr>
        <p:spPr>
          <a:xfrm>
            <a:off x="7955280" y="4069080"/>
            <a:ext cx="822960" cy="320040"/>
          </a:xfrm>
          <a:prstGeom prst="rect">
            <a:avLst/>
          </a:prstGeom>
          <a:noFill/>
          <a:ln/>
        </p:spPr>
        <p:txBody>
          <a:bodyPr wrap="square" lIns="0" tIns="0" rIns="0" bIns="0"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+62.3%</a:t>
            </a:r>
            <a:endParaRPr lang="en-US" sz="1200" dirty="0"/>
          </a:p>
        </p:txBody>
      </p:sp>
      <p:sp>
        <p:nvSpPr>
          <p:cNvPr id="32" name="Shape 29"/>
          <p:cNvSpPr/>
          <p:nvPr/>
        </p:nvSpPr>
        <p:spPr>
          <a:xfrm>
            <a:off x="274320" y="4526280"/>
            <a:ext cx="8595360" cy="502920"/>
          </a:xfrm>
          <a:prstGeom prst="rect">
            <a:avLst/>
          </a:prstGeom>
          <a:solidFill>
            <a:srgbClr val="EFF6FF"/>
          </a:solidFill>
          <a:ln w="12700">
            <a:solidFill>
              <a:srgbClr val="BFDBFE"/>
            </a:solidFill>
            <a:prstDash val="solid"/>
          </a:ln>
        </p:spPr>
        <p:txBody>
          <a:bodyPr/>
          <a:lstStyle/>
          <a:p>
            <a:endParaRPr lang="en-CA"/>
          </a:p>
        </p:txBody>
      </p:sp>
      <p:sp>
        <p:nvSpPr>
          <p:cNvPr id="33" name="Shape 30"/>
          <p:cNvSpPr/>
          <p:nvPr/>
        </p:nvSpPr>
        <p:spPr>
          <a:xfrm>
            <a:off x="274320" y="4526280"/>
            <a:ext cx="64008" cy="502920"/>
          </a:xfrm>
          <a:prstGeom prst="rect">
            <a:avLst/>
          </a:prstGeom>
          <a:solidFill>
            <a:srgbClr val="0891B2"/>
          </a:solidFill>
          <a:ln w="12700">
            <a:solidFill>
              <a:srgbClr val="0891B2"/>
            </a:solidFill>
            <a:prstDash val="solid"/>
          </a:ln>
        </p:spPr>
        <p:txBody>
          <a:bodyPr/>
          <a:lstStyle/>
          <a:p>
            <a:endParaRPr lang="en-CA"/>
          </a:p>
        </p:txBody>
      </p:sp>
      <p:sp>
        <p:nvSpPr>
          <p:cNvPr id="34" name="Text 31"/>
          <p:cNvSpPr/>
          <p:nvPr/>
        </p:nvSpPr>
        <p:spPr>
          <a:xfrm>
            <a:off x="411480" y="4544568"/>
            <a:ext cx="8321040" cy="457200"/>
          </a:xfrm>
          <a:prstGeom prst="rect">
            <a:avLst/>
          </a:prstGeom>
          <a:noFill/>
          <a:ln/>
        </p:spPr>
        <p:txBody>
          <a:bodyPr wrap="square" lIns="0" tIns="0" rIns="0" bIns="0" rtlCol="0" anchor="ctr"/>
          <a:lstStyle/>
          <a:p>
            <a:pPr marL="0" indent="0">
              <a:buNone/>
            </a:pPr>
            <a:r>
              <a:rPr lang="en-US" sz="900" i="1" dirty="0">
                <a:solidFill>
                  <a:srgbClr val="334155"/>
                </a:solidFill>
                <a:latin typeface="Calibri" pitchFamily="34" charset="0"/>
                <a:ea typeface="Calibri" pitchFamily="34" charset="-122"/>
                <a:cs typeface="Calibri" pitchFamily="34" charset="-120"/>
              </a:rPr>
              <a:t>📌  Total revenue grew by $368M — a 48% increase — in the COVID period alone. Small customers showed the highest growth rate at +62.3%, but in dollar terms Enterprise still accounts for the vast majority of that gain. This concentration means ABC's revenue is closely tied to the health of its 12 Enterprise accounts.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w="12700">
            <a:solidFill>
              <a:srgbClr val="0891B2"/>
            </a:solidFill>
            <a:prstDash val="solid"/>
          </a:ln>
        </p:spPr>
        <p:txBody>
          <a:bodyPr/>
          <a:lstStyle/>
          <a:p>
            <a:endParaRPr lang="en-CA"/>
          </a:p>
        </p:txBody>
      </p:sp>
      <p:sp>
        <p:nvSpPr>
          <p:cNvPr id="3" name="Shape 1"/>
          <p:cNvSpPr/>
          <p:nvPr/>
        </p:nvSpPr>
        <p:spPr>
          <a:xfrm>
            <a:off x="6400800" y="3200400"/>
            <a:ext cx="3657600" cy="3657600"/>
          </a:xfrm>
          <a:prstGeom prst="ellipse">
            <a:avLst/>
          </a:prstGeom>
          <a:solidFill>
            <a:srgbClr val="0891B2">
              <a:alpha val="10000"/>
            </a:srgbClr>
          </a:solidFill>
          <a:ln w="12700">
            <a:solidFill>
              <a:srgbClr val="0891B2">
                <a:alpha val="20000"/>
              </a:srgbClr>
            </a:solidFill>
            <a:prstDash val="solid"/>
          </a:ln>
        </p:spPr>
        <p:txBody>
          <a:bodyPr/>
          <a:lstStyle/>
          <a:p>
            <a:endParaRPr lang="en-CA"/>
          </a:p>
        </p:txBody>
      </p:sp>
      <p:sp>
        <p:nvSpPr>
          <p:cNvPr id="4" name="Text 2"/>
          <p:cNvSpPr/>
          <p:nvPr/>
        </p:nvSpPr>
        <p:spPr>
          <a:xfrm>
            <a:off x="365760" y="91440"/>
            <a:ext cx="841248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Conclusions &amp; Recommendations</a:t>
            </a:r>
            <a:endParaRPr lang="en-US" sz="2600" dirty="0"/>
          </a:p>
        </p:txBody>
      </p:sp>
      <p:sp>
        <p:nvSpPr>
          <p:cNvPr id="5" name="Shape 3"/>
          <p:cNvSpPr/>
          <p:nvPr/>
        </p:nvSpPr>
        <p:spPr>
          <a:xfrm>
            <a:off x="365760" y="777240"/>
            <a:ext cx="4114800" cy="1600200"/>
          </a:xfrm>
          <a:prstGeom prst="rect">
            <a:avLst/>
          </a:prstGeom>
          <a:solidFill>
            <a:srgbClr val="112233"/>
          </a:solidFill>
          <a:ln w="19050">
            <a:solidFill>
              <a:srgbClr val="0891B2"/>
            </a:solidFill>
            <a:prstDash val="solid"/>
          </a:ln>
        </p:spPr>
        <p:txBody>
          <a:bodyPr/>
          <a:lstStyle/>
          <a:p>
            <a:endParaRPr lang="en-CA"/>
          </a:p>
        </p:txBody>
      </p:sp>
      <p:sp>
        <p:nvSpPr>
          <p:cNvPr id="6" name="Shape 4"/>
          <p:cNvSpPr/>
          <p:nvPr/>
        </p:nvSpPr>
        <p:spPr>
          <a:xfrm>
            <a:off x="365760" y="777240"/>
            <a:ext cx="64008" cy="1600200"/>
          </a:xfrm>
          <a:prstGeom prst="rect">
            <a:avLst/>
          </a:prstGeom>
          <a:solidFill>
            <a:srgbClr val="0891B2"/>
          </a:solidFill>
          <a:ln w="12700">
            <a:solidFill>
              <a:srgbClr val="0891B2"/>
            </a:solidFill>
            <a:prstDash val="solid"/>
          </a:ln>
        </p:spPr>
        <p:txBody>
          <a:bodyPr/>
          <a:lstStyle/>
          <a:p>
            <a:endParaRPr lang="en-CA"/>
          </a:p>
        </p:txBody>
      </p:sp>
      <p:sp>
        <p:nvSpPr>
          <p:cNvPr id="7" name="Text 5"/>
          <p:cNvSpPr/>
          <p:nvPr/>
        </p:nvSpPr>
        <p:spPr>
          <a:xfrm>
            <a:off x="530352" y="822960"/>
            <a:ext cx="548640" cy="365760"/>
          </a:xfrm>
          <a:prstGeom prst="rect">
            <a:avLst/>
          </a:prstGeom>
          <a:noFill/>
          <a:ln/>
        </p:spPr>
        <p:txBody>
          <a:bodyPr wrap="square" lIns="0" tIns="0" rIns="0" bIns="0" rtlCol="0" anchor="ctr"/>
          <a:lstStyle/>
          <a:p>
            <a:pPr marL="0" indent="0">
              <a:buNone/>
            </a:pPr>
            <a:r>
              <a:rPr lang="en-US" sz="2200" b="1" dirty="0">
                <a:solidFill>
                  <a:srgbClr val="0891B2"/>
                </a:solidFill>
                <a:latin typeface="Calibri" pitchFamily="34" charset="0"/>
                <a:ea typeface="Calibri" pitchFamily="34" charset="-122"/>
                <a:cs typeface="Calibri" pitchFamily="34" charset="-120"/>
              </a:rPr>
              <a:t>01</a:t>
            </a:r>
            <a:endParaRPr lang="en-US" sz="2200" dirty="0"/>
          </a:p>
        </p:txBody>
      </p:sp>
      <p:sp>
        <p:nvSpPr>
          <p:cNvPr id="8" name="Text 6"/>
          <p:cNvSpPr/>
          <p:nvPr/>
        </p:nvSpPr>
        <p:spPr>
          <a:xfrm>
            <a:off x="530352" y="1161288"/>
            <a:ext cx="3749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COVID Accelerated E-Commerce</a:t>
            </a:r>
            <a:endParaRPr lang="en-US" sz="1200" dirty="0"/>
          </a:p>
        </p:txBody>
      </p:sp>
      <p:sp>
        <p:nvSpPr>
          <p:cNvPr id="9" name="Text 7"/>
          <p:cNvSpPr/>
          <p:nvPr/>
        </p:nvSpPr>
        <p:spPr>
          <a:xfrm>
            <a:off x="530352" y="1472184"/>
            <a:ext cx="3749040" cy="822960"/>
          </a:xfrm>
          <a:prstGeom prst="rect">
            <a:avLst/>
          </a:prstGeom>
          <a:noFill/>
          <a:ln/>
        </p:spPr>
        <p:txBody>
          <a:bodyPr wrap="square" lIns="0" tIns="0" rIns="0" bIns="0" rtlCol="0" anchor="ctr"/>
          <a:lstStyle/>
          <a:p>
            <a:pPr marL="0" indent="0">
              <a:buNone/>
            </a:pPr>
            <a:r>
              <a:rPr lang="en-US" sz="1000" dirty="0">
                <a:solidFill>
                  <a:srgbClr val="B0C4D8"/>
                </a:solidFill>
                <a:latin typeface="Calibri" pitchFamily="34" charset="0"/>
                <a:ea typeface="Calibri" pitchFamily="34" charset="-122"/>
                <a:cs typeface="Calibri" pitchFamily="34" charset="-120"/>
              </a:rPr>
              <a:t>2020 total volume surged +39% to 73.5M parcels. The surge began Week 12.</a:t>
            </a:r>
            <a:endParaRPr lang="en-US" sz="1000" dirty="0"/>
          </a:p>
        </p:txBody>
      </p:sp>
      <p:sp>
        <p:nvSpPr>
          <p:cNvPr id="10" name="Shape 8"/>
          <p:cNvSpPr/>
          <p:nvPr/>
        </p:nvSpPr>
        <p:spPr>
          <a:xfrm>
            <a:off x="4754880" y="777240"/>
            <a:ext cx="4114800" cy="1600200"/>
          </a:xfrm>
          <a:prstGeom prst="rect">
            <a:avLst/>
          </a:prstGeom>
          <a:solidFill>
            <a:srgbClr val="112233"/>
          </a:solidFill>
          <a:ln w="19050">
            <a:solidFill>
              <a:srgbClr val="0891B2"/>
            </a:solidFill>
            <a:prstDash val="solid"/>
          </a:ln>
        </p:spPr>
        <p:txBody>
          <a:bodyPr/>
          <a:lstStyle/>
          <a:p>
            <a:endParaRPr lang="en-CA"/>
          </a:p>
        </p:txBody>
      </p:sp>
      <p:sp>
        <p:nvSpPr>
          <p:cNvPr id="11" name="Shape 9"/>
          <p:cNvSpPr/>
          <p:nvPr/>
        </p:nvSpPr>
        <p:spPr>
          <a:xfrm>
            <a:off x="4754880" y="777240"/>
            <a:ext cx="64008" cy="1600200"/>
          </a:xfrm>
          <a:prstGeom prst="rect">
            <a:avLst/>
          </a:prstGeom>
          <a:solidFill>
            <a:srgbClr val="0891B2"/>
          </a:solidFill>
          <a:ln w="12700">
            <a:solidFill>
              <a:srgbClr val="0891B2"/>
            </a:solidFill>
            <a:prstDash val="solid"/>
          </a:ln>
        </p:spPr>
        <p:txBody>
          <a:bodyPr/>
          <a:lstStyle/>
          <a:p>
            <a:endParaRPr lang="en-CA"/>
          </a:p>
        </p:txBody>
      </p:sp>
      <p:sp>
        <p:nvSpPr>
          <p:cNvPr id="12" name="Text 10"/>
          <p:cNvSpPr/>
          <p:nvPr/>
        </p:nvSpPr>
        <p:spPr>
          <a:xfrm>
            <a:off x="4919472" y="822960"/>
            <a:ext cx="548640" cy="365760"/>
          </a:xfrm>
          <a:prstGeom prst="rect">
            <a:avLst/>
          </a:prstGeom>
          <a:noFill/>
          <a:ln/>
        </p:spPr>
        <p:txBody>
          <a:bodyPr wrap="square" lIns="0" tIns="0" rIns="0" bIns="0" rtlCol="0" anchor="ctr"/>
          <a:lstStyle/>
          <a:p>
            <a:pPr marL="0" indent="0">
              <a:buNone/>
            </a:pPr>
            <a:r>
              <a:rPr lang="en-US" sz="2200" b="1" dirty="0">
                <a:solidFill>
                  <a:srgbClr val="0891B2"/>
                </a:solidFill>
                <a:latin typeface="Calibri" pitchFamily="34" charset="0"/>
                <a:ea typeface="Calibri" pitchFamily="34" charset="-122"/>
                <a:cs typeface="Calibri" pitchFamily="34" charset="-120"/>
              </a:rPr>
              <a:t>02</a:t>
            </a:r>
            <a:endParaRPr lang="en-US" sz="2200" dirty="0"/>
          </a:p>
        </p:txBody>
      </p:sp>
      <p:sp>
        <p:nvSpPr>
          <p:cNvPr id="13" name="Text 11"/>
          <p:cNvSpPr/>
          <p:nvPr/>
        </p:nvSpPr>
        <p:spPr>
          <a:xfrm>
            <a:off x="4919472" y="1161288"/>
            <a:ext cx="3749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Record-Breaking Peak Season</a:t>
            </a:r>
            <a:endParaRPr lang="en-US" sz="1200" dirty="0"/>
          </a:p>
        </p:txBody>
      </p:sp>
      <p:sp>
        <p:nvSpPr>
          <p:cNvPr id="14" name="Text 12"/>
          <p:cNvSpPr/>
          <p:nvPr/>
        </p:nvSpPr>
        <p:spPr>
          <a:xfrm>
            <a:off x="4919472" y="1472184"/>
            <a:ext cx="3749040" cy="822960"/>
          </a:xfrm>
          <a:prstGeom prst="rect">
            <a:avLst/>
          </a:prstGeom>
          <a:noFill/>
          <a:ln/>
        </p:spPr>
        <p:txBody>
          <a:bodyPr wrap="square" lIns="0" tIns="0" rIns="0" bIns="0" rtlCol="0" anchor="ctr"/>
          <a:lstStyle/>
          <a:p>
            <a:pPr marL="0" indent="0">
              <a:buNone/>
            </a:pPr>
            <a:r>
              <a:rPr lang="en-US" sz="1000" dirty="0">
                <a:solidFill>
                  <a:srgbClr val="B0C4D8"/>
                </a:solidFill>
                <a:latin typeface="Calibri" pitchFamily="34" charset="0"/>
                <a:ea typeface="Calibri" pitchFamily="34" charset="-122"/>
                <a:cs typeface="Calibri" pitchFamily="34" charset="-120"/>
              </a:rPr>
              <a:t>2020 peak season delivered 19.4M parcels — a +26.5% increase over 2019's 15.4M. Every week outpaced the prior year.</a:t>
            </a:r>
            <a:endParaRPr lang="en-US" sz="1000" dirty="0"/>
          </a:p>
        </p:txBody>
      </p:sp>
      <p:sp>
        <p:nvSpPr>
          <p:cNvPr id="15" name="Shape 13"/>
          <p:cNvSpPr/>
          <p:nvPr/>
        </p:nvSpPr>
        <p:spPr>
          <a:xfrm>
            <a:off x="365760" y="2606040"/>
            <a:ext cx="4114800" cy="1600200"/>
          </a:xfrm>
          <a:prstGeom prst="rect">
            <a:avLst/>
          </a:prstGeom>
          <a:solidFill>
            <a:srgbClr val="112233"/>
          </a:solidFill>
          <a:ln w="19050">
            <a:solidFill>
              <a:srgbClr val="0891B2"/>
            </a:solidFill>
            <a:prstDash val="solid"/>
          </a:ln>
        </p:spPr>
        <p:txBody>
          <a:bodyPr/>
          <a:lstStyle/>
          <a:p>
            <a:endParaRPr lang="en-CA"/>
          </a:p>
        </p:txBody>
      </p:sp>
      <p:sp>
        <p:nvSpPr>
          <p:cNvPr id="16" name="Shape 14"/>
          <p:cNvSpPr/>
          <p:nvPr/>
        </p:nvSpPr>
        <p:spPr>
          <a:xfrm>
            <a:off x="365760" y="2606040"/>
            <a:ext cx="64008" cy="1600200"/>
          </a:xfrm>
          <a:prstGeom prst="rect">
            <a:avLst/>
          </a:prstGeom>
          <a:solidFill>
            <a:srgbClr val="0891B2"/>
          </a:solidFill>
          <a:ln w="12700">
            <a:solidFill>
              <a:srgbClr val="0891B2"/>
            </a:solidFill>
            <a:prstDash val="solid"/>
          </a:ln>
        </p:spPr>
        <p:txBody>
          <a:bodyPr/>
          <a:lstStyle/>
          <a:p>
            <a:endParaRPr lang="en-CA"/>
          </a:p>
        </p:txBody>
      </p:sp>
      <p:sp>
        <p:nvSpPr>
          <p:cNvPr id="17" name="Text 15"/>
          <p:cNvSpPr/>
          <p:nvPr/>
        </p:nvSpPr>
        <p:spPr>
          <a:xfrm>
            <a:off x="530352" y="2651760"/>
            <a:ext cx="548640" cy="365760"/>
          </a:xfrm>
          <a:prstGeom prst="rect">
            <a:avLst/>
          </a:prstGeom>
          <a:noFill/>
          <a:ln/>
        </p:spPr>
        <p:txBody>
          <a:bodyPr wrap="square" lIns="0" tIns="0" rIns="0" bIns="0" rtlCol="0" anchor="ctr"/>
          <a:lstStyle/>
          <a:p>
            <a:pPr marL="0" indent="0">
              <a:buNone/>
            </a:pPr>
            <a:r>
              <a:rPr lang="en-US" sz="2200" b="1" dirty="0">
                <a:solidFill>
                  <a:srgbClr val="0891B2"/>
                </a:solidFill>
                <a:latin typeface="Calibri" pitchFamily="34" charset="0"/>
                <a:ea typeface="Calibri" pitchFamily="34" charset="-122"/>
                <a:cs typeface="Calibri" pitchFamily="34" charset="-120"/>
              </a:rPr>
              <a:t>03</a:t>
            </a:r>
            <a:endParaRPr lang="en-US" sz="2200" dirty="0"/>
          </a:p>
        </p:txBody>
      </p:sp>
      <p:sp>
        <p:nvSpPr>
          <p:cNvPr id="18" name="Text 16"/>
          <p:cNvSpPr/>
          <p:nvPr/>
        </p:nvSpPr>
        <p:spPr>
          <a:xfrm>
            <a:off x="530352" y="2990088"/>
            <a:ext cx="3749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Strong Revenue Growth</a:t>
            </a:r>
            <a:endParaRPr lang="en-US" sz="1200" dirty="0"/>
          </a:p>
        </p:txBody>
      </p:sp>
      <p:sp>
        <p:nvSpPr>
          <p:cNvPr id="19" name="Text 17"/>
          <p:cNvSpPr/>
          <p:nvPr/>
        </p:nvSpPr>
        <p:spPr>
          <a:xfrm>
            <a:off x="530352" y="3300984"/>
            <a:ext cx="3749040" cy="822960"/>
          </a:xfrm>
          <a:prstGeom prst="rect">
            <a:avLst/>
          </a:prstGeom>
          <a:noFill/>
          <a:ln/>
        </p:spPr>
        <p:txBody>
          <a:bodyPr wrap="square" lIns="0" tIns="0" rIns="0" bIns="0" rtlCol="0" anchor="ctr"/>
          <a:lstStyle/>
          <a:p>
            <a:pPr marL="0" indent="0">
              <a:buNone/>
            </a:pPr>
            <a:r>
              <a:rPr lang="en-US" sz="1000" dirty="0">
                <a:solidFill>
                  <a:srgbClr val="B0C4D8"/>
                </a:solidFill>
                <a:latin typeface="Calibri" pitchFamily="34" charset="0"/>
                <a:ea typeface="Calibri" pitchFamily="34" charset="-122"/>
                <a:cs typeface="Calibri" pitchFamily="34" charset="-120"/>
              </a:rPr>
              <a:t>Total COVID-period revenue reached $1.135B — up +48% vs the same 2019 period. </a:t>
            </a:r>
            <a:endParaRPr lang="en-US" sz="1000" dirty="0"/>
          </a:p>
        </p:txBody>
      </p:sp>
      <p:sp>
        <p:nvSpPr>
          <p:cNvPr id="20" name="Shape 18"/>
          <p:cNvSpPr/>
          <p:nvPr/>
        </p:nvSpPr>
        <p:spPr>
          <a:xfrm>
            <a:off x="4754880" y="2606040"/>
            <a:ext cx="4114800" cy="1600200"/>
          </a:xfrm>
          <a:prstGeom prst="rect">
            <a:avLst/>
          </a:prstGeom>
          <a:solidFill>
            <a:srgbClr val="112233"/>
          </a:solidFill>
          <a:ln w="19050">
            <a:solidFill>
              <a:srgbClr val="0891B2"/>
            </a:solidFill>
            <a:prstDash val="solid"/>
          </a:ln>
        </p:spPr>
        <p:txBody>
          <a:bodyPr/>
          <a:lstStyle/>
          <a:p>
            <a:endParaRPr lang="en-CA"/>
          </a:p>
        </p:txBody>
      </p:sp>
      <p:sp>
        <p:nvSpPr>
          <p:cNvPr id="21" name="Shape 19"/>
          <p:cNvSpPr/>
          <p:nvPr/>
        </p:nvSpPr>
        <p:spPr>
          <a:xfrm>
            <a:off x="4754880" y="2606040"/>
            <a:ext cx="64008" cy="1600200"/>
          </a:xfrm>
          <a:prstGeom prst="rect">
            <a:avLst/>
          </a:prstGeom>
          <a:solidFill>
            <a:srgbClr val="0891B2"/>
          </a:solidFill>
          <a:ln w="12700">
            <a:solidFill>
              <a:srgbClr val="0891B2"/>
            </a:solidFill>
            <a:prstDash val="solid"/>
          </a:ln>
        </p:spPr>
        <p:txBody>
          <a:bodyPr/>
          <a:lstStyle/>
          <a:p>
            <a:endParaRPr lang="en-CA"/>
          </a:p>
        </p:txBody>
      </p:sp>
      <p:sp>
        <p:nvSpPr>
          <p:cNvPr id="22" name="Text 20"/>
          <p:cNvSpPr/>
          <p:nvPr/>
        </p:nvSpPr>
        <p:spPr>
          <a:xfrm>
            <a:off x="4919472" y="2651760"/>
            <a:ext cx="548640" cy="365760"/>
          </a:xfrm>
          <a:prstGeom prst="rect">
            <a:avLst/>
          </a:prstGeom>
          <a:noFill/>
          <a:ln/>
        </p:spPr>
        <p:txBody>
          <a:bodyPr wrap="square" lIns="0" tIns="0" rIns="0" bIns="0" rtlCol="0" anchor="ctr"/>
          <a:lstStyle/>
          <a:p>
            <a:pPr marL="0" indent="0">
              <a:buNone/>
            </a:pPr>
            <a:r>
              <a:rPr lang="en-US" sz="2200" b="1" dirty="0">
                <a:solidFill>
                  <a:srgbClr val="0891B2"/>
                </a:solidFill>
                <a:latin typeface="Calibri" pitchFamily="34" charset="0"/>
                <a:ea typeface="Calibri" pitchFamily="34" charset="-122"/>
                <a:cs typeface="Calibri" pitchFamily="34" charset="-120"/>
              </a:rPr>
              <a:t>04</a:t>
            </a:r>
            <a:endParaRPr lang="en-US" sz="2200" dirty="0"/>
          </a:p>
        </p:txBody>
      </p:sp>
      <p:sp>
        <p:nvSpPr>
          <p:cNvPr id="23" name="Text 21"/>
          <p:cNvSpPr/>
          <p:nvPr/>
        </p:nvSpPr>
        <p:spPr>
          <a:xfrm>
            <a:off x="4919472" y="2990088"/>
            <a:ext cx="374904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Most Customers Thrived</a:t>
            </a:r>
            <a:endParaRPr lang="en-US" sz="1200" dirty="0"/>
          </a:p>
        </p:txBody>
      </p:sp>
      <p:sp>
        <p:nvSpPr>
          <p:cNvPr id="24" name="Text 22"/>
          <p:cNvSpPr/>
          <p:nvPr/>
        </p:nvSpPr>
        <p:spPr>
          <a:xfrm>
            <a:off x="4919472" y="3300984"/>
            <a:ext cx="3749040" cy="822960"/>
          </a:xfrm>
          <a:prstGeom prst="rect">
            <a:avLst/>
          </a:prstGeom>
          <a:noFill/>
          <a:ln/>
        </p:spPr>
        <p:txBody>
          <a:bodyPr wrap="square" lIns="0" tIns="0" rIns="0" bIns="0" rtlCol="0" anchor="ctr"/>
          <a:lstStyle/>
          <a:p>
            <a:pPr marL="0" indent="0">
              <a:buNone/>
            </a:pPr>
            <a:r>
              <a:rPr lang="en-US" sz="1000" dirty="0">
                <a:solidFill>
                  <a:srgbClr val="B0C4D8"/>
                </a:solidFill>
                <a:latin typeface="Calibri" pitchFamily="34" charset="0"/>
                <a:ea typeface="Calibri" pitchFamily="34" charset="-122"/>
                <a:cs typeface="Calibri" pitchFamily="34" charset="-120"/>
              </a:rPr>
              <a:t>50–67% of customers in all segments were High Growth. </a:t>
            </a:r>
            <a:endParaRPr lang="en-US" sz="1000" dirty="0"/>
          </a:p>
        </p:txBody>
      </p:sp>
      <p:sp>
        <p:nvSpPr>
          <p:cNvPr id="25" name="Shape 23"/>
          <p:cNvSpPr/>
          <p:nvPr/>
        </p:nvSpPr>
        <p:spPr>
          <a:xfrm>
            <a:off x="365760" y="4462272"/>
            <a:ext cx="8412480" cy="502920"/>
          </a:xfrm>
          <a:prstGeom prst="rect">
            <a:avLst/>
          </a:prstGeom>
          <a:solidFill>
            <a:srgbClr val="0891B2"/>
          </a:solidFill>
          <a:ln w="12700">
            <a:solidFill>
              <a:srgbClr val="0891B2"/>
            </a:solidFill>
            <a:prstDash val="solid"/>
          </a:ln>
        </p:spPr>
        <p:txBody>
          <a:bodyPr/>
          <a:lstStyle/>
          <a:p>
            <a:endParaRPr lang="en-CA"/>
          </a:p>
        </p:txBody>
      </p:sp>
      <p:sp>
        <p:nvSpPr>
          <p:cNvPr id="26" name="Text 24"/>
          <p:cNvSpPr/>
          <p:nvPr/>
        </p:nvSpPr>
        <p:spPr>
          <a:xfrm>
            <a:off x="365760" y="4462272"/>
            <a:ext cx="8412480" cy="502920"/>
          </a:xfrm>
          <a:prstGeom prst="rect">
            <a:avLst/>
          </a:prstGeom>
          <a:noFill/>
          <a:ln/>
        </p:spPr>
        <p:txBody>
          <a:bodyPr wrap="square" lIns="50800" tIns="50800" rIns="50800" bIns="50800" rtlCol="0" anchor="ctr"/>
          <a:lstStyle/>
          <a:p>
            <a:r>
              <a:rPr lang="en-US" sz="900" b="1">
                <a:solidFill>
                  <a:srgbClr val="FFFFFF"/>
                </a:solidFill>
                <a:latin typeface="Calibri"/>
                <a:ea typeface="Calibri"/>
                <a:cs typeface="Calibri"/>
              </a:rPr>
              <a:t>Recommendations:  </a:t>
            </a:r>
            <a:r>
              <a:rPr lang="en-US" sz="900">
                <a:solidFill>
                  <a:srgbClr val="FFFFFF"/>
                </a:solidFill>
                <a:latin typeface="Calibri"/>
                <a:ea typeface="Calibri"/>
                <a:cs typeface="Calibri"/>
              </a:rPr>
              <a:t>① </a:t>
            </a:r>
            <a:r>
              <a:rPr lang="en-US" sz="900">
                <a:solidFill>
                  <a:srgbClr val="FFFFFF"/>
                </a:solidFill>
                <a:ea typeface="+mn-lt"/>
                <a:cs typeface="+mn-lt"/>
              </a:rPr>
              <a:t>Increase capacity to support higher post-COVID volumes</a:t>
            </a:r>
            <a:r>
              <a:rPr lang="en-US" sz="900">
                <a:solidFill>
                  <a:srgbClr val="FFFFFF"/>
                </a:solidFill>
                <a:latin typeface="Calibri"/>
                <a:ea typeface="Calibri"/>
                <a:cs typeface="Calibri"/>
              </a:rPr>
              <a:t>.  ②  Retention programs for declining Small/Medium clients  ③ </a:t>
            </a:r>
            <a:r>
              <a:rPr lang="en-US" sz="900">
                <a:solidFill>
                  <a:srgbClr val="FFFFFF"/>
                </a:solidFill>
                <a:ea typeface="+mn-lt"/>
                <a:cs typeface="+mn-lt"/>
              </a:rPr>
              <a:t>Continue monitoring 2021 trends as volumes normalized.</a:t>
            </a:r>
            <a:endParaRPr lang="en-US" sz="900">
              <a:solidFill>
                <a:srgbClr val="FFFFFF"/>
              </a:solidFill>
              <a:ea typeface="Calibri" panose="020F0502020204030204"/>
              <a:cs typeface="Calibri" panose="020F0502020204030204"/>
            </a:endParaRPr>
          </a:p>
        </p:txBody>
      </p:sp>
      <p:sp>
        <p:nvSpPr>
          <p:cNvPr id="27" name="Shape 25"/>
          <p:cNvSpPr/>
          <p:nvPr/>
        </p:nvSpPr>
        <p:spPr>
          <a:xfrm>
            <a:off x="0" y="5097780"/>
            <a:ext cx="9144000" cy="45720"/>
          </a:xfrm>
          <a:prstGeom prst="rect">
            <a:avLst/>
          </a:prstGeom>
          <a:solidFill>
            <a:srgbClr val="0891B2"/>
          </a:solidFill>
          <a:ln w="12700">
            <a:solidFill>
              <a:srgbClr val="0891B2"/>
            </a:solidFill>
            <a:prstDash val="solid"/>
          </a:ln>
        </p:spPr>
        <p:txBody>
          <a:bodyPr/>
          <a:lstStyle/>
          <a:p>
            <a:endParaRPr lang="en-CA"/>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767</TotalTime>
  <Words>1173</Words>
  <Application>Microsoft Office PowerPoint</Application>
  <PresentationFormat>On-screen Show (16:9)</PresentationFormat>
  <Paragraphs>172</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COVID-19 on ABC Company Parcel Business</dc:title>
  <dc:subject>PptxGenJS Presentation</dc:subject>
  <dc:creator>PptxGenJS</dc:creator>
  <cp:lastModifiedBy>James Tampanga</cp:lastModifiedBy>
  <cp:revision>3</cp:revision>
  <dcterms:created xsi:type="dcterms:W3CDTF">2026-04-21T18:44:22Z</dcterms:created>
  <dcterms:modified xsi:type="dcterms:W3CDTF">2026-04-24T05:02:29Z</dcterms:modified>
</cp:coreProperties>
</file>